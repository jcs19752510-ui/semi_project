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8" r:id="rId3"/>
    <p:sldId id="282" r:id="rId4"/>
    <p:sldId id="274" r:id="rId5"/>
    <p:sldId id="281" r:id="rId6"/>
    <p:sldId id="280" r:id="rId7"/>
    <p:sldId id="279" r:id="rId8"/>
    <p:sldId id="275" r:id="rId9"/>
    <p:sldId id="276" r:id="rId10"/>
    <p:sldId id="277" r:id="rId11"/>
    <p:sldId id="271" r:id="rId12"/>
    <p:sldId id="272" r:id="rId13"/>
    <p:sldId id="273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3" autoAdjust="0"/>
    <p:restoredTop sz="94660"/>
  </p:normalViewPr>
  <p:slideViewPr>
    <p:cSldViewPr snapToGrid="0">
      <p:cViewPr varScale="1">
        <p:scale>
          <a:sx n="58" d="100"/>
          <a:sy n="58" d="100"/>
        </p:scale>
        <p:origin x="1028" y="3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6083BB-EB72-0EFF-F20E-EA1DE2182F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35578C8-1967-C5FA-363C-458EE8DEE4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EC257D-D720-A605-421E-E5473E13E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211C6-2E39-4FDE-B087-FF7A0DD30F85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C36CF2-623B-20D3-3EEF-148F1A82A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D7A06A-32F3-819A-4FDD-BAECDD336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1B7E5-11E9-491D-B127-A361006B73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4873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56B35C-E1B6-3D59-6E05-7BEF95112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5C5720-8FB8-C991-FFCB-09B164DCC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8A2914-EC6E-7016-1BE2-6B0613255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211C6-2E39-4FDE-B087-FF7A0DD30F85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664314-1DD1-6CD7-9301-AF6D2AF4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D13B30-09B4-2D8A-4D7F-C7F1D3538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1B7E5-11E9-491D-B127-A361006B73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792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A8ABB9-96A5-197C-3647-82F598FE5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F7EA72-FE37-4B78-3D8D-B8AB800D8B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EC3047-E753-154D-1D83-7899ABCD4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211C6-2E39-4FDE-B087-FF7A0DD30F85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0728E6-BE87-91CA-652B-B433D72D0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400978-BAB6-4DCB-B6C5-8451CD04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1B7E5-11E9-491D-B127-A361006B73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1678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0FE54B-A861-6275-6A60-F9709FDD1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30AAC8-1CB0-B2E5-A45F-26F31CEB09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3D0C085-426D-B51F-2680-1C9E30DC14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0548C54-BA6D-5BA6-76EE-75171E0C5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211C6-2E39-4FDE-B087-FF7A0DD30F85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5C64CA1-4C6A-924F-BD98-C87E2E009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9779C29-2957-2C81-089B-693677DCA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1B7E5-11E9-491D-B127-A361006B73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8645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9A15F-574C-4957-D2C9-E12C8067D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8DA64AF-73F2-8F7C-B50B-42D45B0FEA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BADA0C6-A96F-0BA2-BDED-9CF21784B1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AF1304D-0478-0AFA-A3D5-5AF3A7D4EC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294D763-2C90-D8DF-C3C0-B34B1F2E30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FAB0B4E-08EB-1DC5-AF46-9792E33DB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211C6-2E39-4FDE-B087-FF7A0DD30F85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31F53A7-972E-9A9A-6986-A2BA56864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F45B694-FF4B-7395-EC93-0AEC3C1DF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1B7E5-11E9-491D-B127-A361006B73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9531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BD2566-FD75-B61F-5272-179EB3F0A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DFA415E-3833-7CDD-9A8F-C650C2850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211C6-2E39-4FDE-B087-FF7A0DD30F85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9864165-7D55-6067-73F4-B5D41B371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C4C8854-0770-B2D4-20A1-1A0D9135F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1B7E5-11E9-491D-B127-A361006B73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019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4846AC2-880B-094D-F5F7-1F685C79A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211C6-2E39-4FDE-B087-FF7A0DD30F85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493CAF0-05C3-1FFC-4E52-36E91B7B7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E99C01-E1FF-3C1C-90F0-79B99D461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1B7E5-11E9-491D-B127-A361006B73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1319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E45085-3A92-1416-71BC-3F30E0690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C1568B-310B-BFA6-75B4-7304DB036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3B1953B-88B7-D534-AC99-E0CCC2C75F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09A6B9-645E-37E6-D288-71E67BE16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211C6-2E39-4FDE-B087-FF7A0DD30F85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FC1AF-28E4-5857-74B1-4AF033139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3078CB6-BB31-03AF-B34C-9D2D3DE09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1B7E5-11E9-491D-B127-A361006B73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0812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620FFD-EDDA-A9C0-B87C-177DEEC3B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8D88C27-9048-B055-0496-D3B6A5908D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DA9B7E3-6CCA-C08F-9C78-4D8A09D047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24F8991-5171-19E4-8614-7EB8F8940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211C6-2E39-4FDE-B087-FF7A0DD30F85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9B6CD88-0348-1894-3CB7-8C1C5107E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CF41FCB-8A69-F12E-3E69-C5FC29163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1B7E5-11E9-491D-B127-A361006B73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5531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05D20F-2F46-CA09-C6B4-784F8A733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875336A-A46E-7237-3E60-EE158E5597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857D9E-0CE4-0CB1-1707-FCCD3EC15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211C6-2E39-4FDE-B087-FF7A0DD30F85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D1DA9D-B027-CF90-A612-7997AFB83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43F7EC-2C5A-316D-6ECD-8B953F2A5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1B7E5-11E9-491D-B127-A361006B73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7987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0BE0783-34DA-5E5F-8373-6C41512B88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62CEF85-7F21-8BC6-3059-FA21F55D87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3E5827-41A9-BA6B-E35E-D35F4A43A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211C6-2E39-4FDE-B087-FF7A0DD30F85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9F2B4C-5A5D-A0D3-4917-73A26B979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01CA52-DF61-0624-D062-FD46ECFD7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1B7E5-11E9-491D-B127-A361006B73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0044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389D9BC-AECA-A67C-C48C-17EFFF5E3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C263AC-532F-A4F7-3DD2-BB5B7A90D8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AEBFB9-685C-D0AD-AED0-58A443D635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C211C6-2E39-4FDE-B087-FF7A0DD30F85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0CE3F0-61B3-1C67-86F5-A78295CB43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9D25B2-74FB-2EDB-30FB-9A233BD77A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81B7E5-11E9-491D-B127-A361006B73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7322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>
            <a:extLst>
              <a:ext uri="{FF2B5EF4-FFF2-40B4-BE49-F238E27FC236}">
                <a16:creationId xmlns:a16="http://schemas.microsoft.com/office/drawing/2014/main" id="{94080B85-1B9C-D6A2-0265-863FE7C23CF7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171" y="2302524"/>
            <a:ext cx="3070737" cy="1663929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5610A49B-B5F2-F67A-2CF8-655B6A73C106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7943" y="2151347"/>
            <a:ext cx="2884410" cy="2024272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939A2B39-7FC5-6CD6-71F7-CD18FBB593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538" y="508616"/>
            <a:ext cx="1009791" cy="39058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9C9DB116-8AF6-A961-EFB3-434F837E65A6}"/>
              </a:ext>
            </a:extLst>
          </p:cNvPr>
          <p:cNvSpPr txBox="1"/>
          <p:nvPr/>
        </p:nvSpPr>
        <p:spPr>
          <a:xfrm>
            <a:off x="524181" y="139284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업무명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D05ADD8-C033-25F4-6820-35751CA41C3C}"/>
              </a:ext>
            </a:extLst>
          </p:cNvPr>
          <p:cNvSpPr txBox="1"/>
          <p:nvPr/>
        </p:nvSpPr>
        <p:spPr>
          <a:xfrm>
            <a:off x="584538" y="926199"/>
            <a:ext cx="122180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1.</a:t>
            </a:r>
            <a:r>
              <a:rPr lang="ko-KR" altLang="en-US" sz="1400" dirty="0" err="1"/>
              <a:t>산탄데르</a:t>
            </a:r>
            <a:endParaRPr lang="en-US" altLang="ko-KR" sz="1400" dirty="0"/>
          </a:p>
          <a:p>
            <a:r>
              <a:rPr lang="en-US" altLang="ko-KR" sz="1400" dirty="0"/>
              <a:t>2.</a:t>
            </a:r>
            <a:r>
              <a:rPr lang="ko-KR" altLang="en-US" sz="1400" dirty="0"/>
              <a:t>카드</a:t>
            </a:r>
            <a:endParaRPr lang="en-US" altLang="ko-KR" sz="1400" dirty="0"/>
          </a:p>
          <a:p>
            <a:r>
              <a:rPr lang="en-US" altLang="ko-KR" sz="1400" dirty="0"/>
              <a:t>3.</a:t>
            </a:r>
            <a:r>
              <a:rPr lang="ko-KR" altLang="en-US" sz="1400" dirty="0"/>
              <a:t>텍스트분석</a:t>
            </a:r>
            <a:endParaRPr lang="en-US" altLang="ko-KR" sz="1400" dirty="0"/>
          </a:p>
          <a:p>
            <a:r>
              <a:rPr lang="en-US" altLang="ko-KR" sz="1400" dirty="0"/>
              <a:t>4.</a:t>
            </a:r>
            <a:r>
              <a:rPr lang="ko-KR" altLang="en-US" sz="1400" dirty="0"/>
              <a:t>분류분석</a:t>
            </a: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7F9B7621-AEA9-BB0C-2C41-A97F90E15A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0326" y="497200"/>
            <a:ext cx="1009791" cy="39058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A53C1DA6-F0BA-A522-71FE-4F6328422D00}"/>
              </a:ext>
            </a:extLst>
          </p:cNvPr>
          <p:cNvSpPr txBox="1"/>
          <p:nvPr/>
        </p:nvSpPr>
        <p:spPr>
          <a:xfrm>
            <a:off x="3479969" y="127868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모델명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266F0E5-FFC7-3593-F70E-94954F5C0880}"/>
              </a:ext>
            </a:extLst>
          </p:cNvPr>
          <p:cNvSpPr txBox="1"/>
          <p:nvPr/>
        </p:nvSpPr>
        <p:spPr>
          <a:xfrm>
            <a:off x="3540326" y="914783"/>
            <a:ext cx="1503938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1.lightBGM</a:t>
            </a:r>
          </a:p>
          <a:p>
            <a:r>
              <a:rPr lang="en-US" altLang="ko-KR" sz="1400" dirty="0"/>
              <a:t>2.xgb</a:t>
            </a:r>
          </a:p>
          <a:p>
            <a:r>
              <a:rPr lang="en-US" altLang="ko-KR" sz="1400" dirty="0"/>
              <a:t>3.logistic</a:t>
            </a:r>
          </a:p>
          <a:p>
            <a:r>
              <a:rPr lang="en-US" altLang="ko-KR" sz="1400" dirty="0"/>
              <a:t>4.RF</a:t>
            </a:r>
          </a:p>
          <a:p>
            <a:r>
              <a:rPr lang="ko-KR" altLang="en-US" sz="1400" dirty="0"/>
              <a:t>전체항목은 없음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4157E2B-CFE0-A0F7-5BAB-488FF4093099}"/>
              </a:ext>
            </a:extLst>
          </p:cNvPr>
          <p:cNvSpPr txBox="1"/>
          <p:nvPr/>
        </p:nvSpPr>
        <p:spPr>
          <a:xfrm>
            <a:off x="5182212" y="433440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전처리조회</a:t>
            </a:r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566DA7B8-3D54-E286-423C-2518E8529AD0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691" y="4170482"/>
            <a:ext cx="2884409" cy="2395540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A8E63523-D8F1-EBA1-5E37-501097DD0988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7132" y="4437229"/>
            <a:ext cx="2615221" cy="2041557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A4E1DF07-AC34-7E47-3905-B78947626840}"/>
              </a:ext>
            </a:extLst>
          </p:cNvPr>
          <p:cNvSpPr txBox="1"/>
          <p:nvPr/>
        </p:nvSpPr>
        <p:spPr>
          <a:xfrm>
            <a:off x="9195337" y="1586099"/>
            <a:ext cx="13244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모델 수행결과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378CB5F-CEBD-A106-CD8B-626C0EE12C4A}"/>
              </a:ext>
            </a:extLst>
          </p:cNvPr>
          <p:cNvSpPr txBox="1"/>
          <p:nvPr/>
        </p:nvSpPr>
        <p:spPr>
          <a:xfrm>
            <a:off x="5107239" y="1514947"/>
            <a:ext cx="21050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/>
              <a:t>전처리</a:t>
            </a:r>
            <a:r>
              <a:rPr lang="ko-KR" altLang="en-US" sz="1400" dirty="0"/>
              <a:t> 데이터 검증결과</a:t>
            </a:r>
          </a:p>
        </p:txBody>
      </p:sp>
      <p:pic>
        <p:nvPicPr>
          <p:cNvPr id="60" name="그림 59">
            <a:extLst>
              <a:ext uri="{FF2B5EF4-FFF2-40B4-BE49-F238E27FC236}">
                <a16:creationId xmlns:a16="http://schemas.microsoft.com/office/drawing/2014/main" id="{97F2BE61-6FF6-49BE-2AFA-F2FD46EA286A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7696" y="2591211"/>
            <a:ext cx="4085364" cy="3692036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6C7E6E74-1AF7-072C-A53A-A60745B4BF80}"/>
              </a:ext>
            </a:extLst>
          </p:cNvPr>
          <p:cNvSpPr txBox="1"/>
          <p:nvPr/>
        </p:nvSpPr>
        <p:spPr>
          <a:xfrm>
            <a:off x="7763735" y="317500"/>
            <a:ext cx="13244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/>
              <a:t>산탄데르</a:t>
            </a:r>
            <a:r>
              <a:rPr lang="ko-KR" altLang="en-US" sz="1400" dirty="0"/>
              <a:t> 기준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5E898E9-A803-CBF5-6E22-1BEF4608EDAB}"/>
              </a:ext>
            </a:extLst>
          </p:cNvPr>
          <p:cNvSpPr txBox="1"/>
          <p:nvPr/>
        </p:nvSpPr>
        <p:spPr>
          <a:xfrm>
            <a:off x="9455696" y="2151347"/>
            <a:ext cx="4803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Roc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998762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>
            <a:extLst>
              <a:ext uri="{FF2B5EF4-FFF2-40B4-BE49-F238E27FC236}">
                <a16:creationId xmlns:a16="http://schemas.microsoft.com/office/drawing/2014/main" id="{94080B85-1B9C-D6A2-0265-863FE7C23CF7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171" y="2302524"/>
            <a:ext cx="3070737" cy="1663929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5610A49B-B5F2-F67A-2CF8-655B6A73C106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7943" y="2151347"/>
            <a:ext cx="2884410" cy="2024272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939A2B39-7FC5-6CD6-71F7-CD18FBB593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538" y="508616"/>
            <a:ext cx="1009791" cy="39058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9C9DB116-8AF6-A961-EFB3-434F837E65A6}"/>
              </a:ext>
            </a:extLst>
          </p:cNvPr>
          <p:cNvSpPr txBox="1"/>
          <p:nvPr/>
        </p:nvSpPr>
        <p:spPr>
          <a:xfrm>
            <a:off x="524181" y="139284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업무명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D05ADD8-C033-25F4-6820-35751CA41C3C}"/>
              </a:ext>
            </a:extLst>
          </p:cNvPr>
          <p:cNvSpPr txBox="1"/>
          <p:nvPr/>
        </p:nvSpPr>
        <p:spPr>
          <a:xfrm>
            <a:off x="584538" y="926199"/>
            <a:ext cx="122180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1.</a:t>
            </a:r>
            <a:r>
              <a:rPr lang="ko-KR" altLang="en-US" sz="1400" dirty="0" err="1"/>
              <a:t>산탄데르</a:t>
            </a:r>
            <a:endParaRPr lang="en-US" altLang="ko-KR" sz="1400" dirty="0"/>
          </a:p>
          <a:p>
            <a:r>
              <a:rPr lang="en-US" altLang="ko-KR" sz="1400" dirty="0"/>
              <a:t>2.</a:t>
            </a:r>
            <a:r>
              <a:rPr lang="ko-KR" altLang="en-US" sz="1400" dirty="0"/>
              <a:t>카드</a:t>
            </a:r>
            <a:endParaRPr lang="en-US" altLang="ko-KR" sz="1400" dirty="0"/>
          </a:p>
          <a:p>
            <a:r>
              <a:rPr lang="en-US" altLang="ko-KR" sz="1400" dirty="0"/>
              <a:t>3.</a:t>
            </a:r>
            <a:r>
              <a:rPr lang="ko-KR" altLang="en-US" sz="1400" dirty="0"/>
              <a:t>텍스트분석</a:t>
            </a:r>
            <a:endParaRPr lang="en-US" altLang="ko-KR" sz="1400" dirty="0"/>
          </a:p>
          <a:p>
            <a:r>
              <a:rPr lang="en-US" altLang="ko-KR" sz="1400" dirty="0"/>
              <a:t>4.</a:t>
            </a:r>
            <a:r>
              <a:rPr lang="ko-KR" altLang="en-US" sz="1400" dirty="0"/>
              <a:t>분류분석</a:t>
            </a: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7F9B7621-AEA9-BB0C-2C41-A97F90E15A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0326" y="497200"/>
            <a:ext cx="1009791" cy="39058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A53C1DA6-F0BA-A522-71FE-4F6328422D00}"/>
              </a:ext>
            </a:extLst>
          </p:cNvPr>
          <p:cNvSpPr txBox="1"/>
          <p:nvPr/>
        </p:nvSpPr>
        <p:spPr>
          <a:xfrm>
            <a:off x="3479969" y="127868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모델명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266F0E5-FFC7-3593-F70E-94954F5C0880}"/>
              </a:ext>
            </a:extLst>
          </p:cNvPr>
          <p:cNvSpPr txBox="1"/>
          <p:nvPr/>
        </p:nvSpPr>
        <p:spPr>
          <a:xfrm>
            <a:off x="3540326" y="914783"/>
            <a:ext cx="1503938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1.lightBGM</a:t>
            </a:r>
          </a:p>
          <a:p>
            <a:r>
              <a:rPr lang="en-US" altLang="ko-KR" sz="1400" dirty="0"/>
              <a:t>2.xgb</a:t>
            </a:r>
          </a:p>
          <a:p>
            <a:r>
              <a:rPr lang="en-US" altLang="ko-KR" sz="1400" dirty="0"/>
              <a:t>3.logistic</a:t>
            </a:r>
          </a:p>
          <a:p>
            <a:r>
              <a:rPr lang="en-US" altLang="ko-KR" sz="1400" dirty="0"/>
              <a:t>4.RF</a:t>
            </a:r>
          </a:p>
          <a:p>
            <a:r>
              <a:rPr lang="ko-KR" altLang="en-US" sz="1400" dirty="0"/>
              <a:t>전체항목은 없음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4157E2B-CFE0-A0F7-5BAB-488FF4093099}"/>
              </a:ext>
            </a:extLst>
          </p:cNvPr>
          <p:cNvSpPr txBox="1"/>
          <p:nvPr/>
        </p:nvSpPr>
        <p:spPr>
          <a:xfrm>
            <a:off x="5182212" y="433440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전처리조회</a:t>
            </a:r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566DA7B8-3D54-E286-423C-2518E8529AD0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691" y="4170482"/>
            <a:ext cx="2884409" cy="2395540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A8E63523-D8F1-EBA1-5E37-501097DD0988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7132" y="4437229"/>
            <a:ext cx="2615221" cy="2041557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A4E1DF07-AC34-7E47-3905-B78947626840}"/>
              </a:ext>
            </a:extLst>
          </p:cNvPr>
          <p:cNvSpPr txBox="1"/>
          <p:nvPr/>
        </p:nvSpPr>
        <p:spPr>
          <a:xfrm>
            <a:off x="9195337" y="1586099"/>
            <a:ext cx="13244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모델 수행결과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378CB5F-CEBD-A106-CD8B-626C0EE12C4A}"/>
              </a:ext>
            </a:extLst>
          </p:cNvPr>
          <p:cNvSpPr txBox="1"/>
          <p:nvPr/>
        </p:nvSpPr>
        <p:spPr>
          <a:xfrm>
            <a:off x="5107239" y="1514947"/>
            <a:ext cx="21050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/>
              <a:t>전처리</a:t>
            </a:r>
            <a:r>
              <a:rPr lang="ko-KR" altLang="en-US" sz="1400" dirty="0"/>
              <a:t> 데이터 검증결과</a:t>
            </a:r>
          </a:p>
        </p:txBody>
      </p:sp>
      <p:pic>
        <p:nvPicPr>
          <p:cNvPr id="60" name="그림 59">
            <a:extLst>
              <a:ext uri="{FF2B5EF4-FFF2-40B4-BE49-F238E27FC236}">
                <a16:creationId xmlns:a16="http://schemas.microsoft.com/office/drawing/2014/main" id="{97F2BE61-6FF6-49BE-2AFA-F2FD46EA286A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7696" y="2591211"/>
            <a:ext cx="4085364" cy="3692036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6C7E6E74-1AF7-072C-A53A-A60745B4BF80}"/>
              </a:ext>
            </a:extLst>
          </p:cNvPr>
          <p:cNvSpPr txBox="1"/>
          <p:nvPr/>
        </p:nvSpPr>
        <p:spPr>
          <a:xfrm>
            <a:off x="7763735" y="317500"/>
            <a:ext cx="13244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/>
              <a:t>산탄데르</a:t>
            </a:r>
            <a:r>
              <a:rPr lang="ko-KR" altLang="en-US" sz="1400" dirty="0"/>
              <a:t> 기준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5E898E9-A803-CBF5-6E22-1BEF4608EDAB}"/>
              </a:ext>
            </a:extLst>
          </p:cNvPr>
          <p:cNvSpPr txBox="1"/>
          <p:nvPr/>
        </p:nvSpPr>
        <p:spPr>
          <a:xfrm>
            <a:off x="9455696" y="2151347"/>
            <a:ext cx="4803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Roc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945496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1B226-C314-3CD6-9455-19768773A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>
            <a:extLst>
              <a:ext uri="{FF2B5EF4-FFF2-40B4-BE49-F238E27FC236}">
                <a16:creationId xmlns:a16="http://schemas.microsoft.com/office/drawing/2014/main" id="{0CA7AF1B-6E0D-6E51-C575-5CC00506798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691" y="2642346"/>
            <a:ext cx="2884409" cy="1882120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E4821260-5B77-4153-C580-29CAE4A155DB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7945" y="2722936"/>
            <a:ext cx="2884410" cy="1611922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F5B93140-26CC-E46C-069D-B2A4296C0C9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691" y="4524466"/>
            <a:ext cx="2884409" cy="2041556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D894951B-7CBB-41EF-CBF7-DCB3B6D8D234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7132" y="4437229"/>
            <a:ext cx="2615221" cy="2041557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85298108-A6C6-5D43-A38E-8B7FE49EA6C8}"/>
              </a:ext>
            </a:extLst>
          </p:cNvPr>
          <p:cNvSpPr txBox="1"/>
          <p:nvPr/>
        </p:nvSpPr>
        <p:spPr>
          <a:xfrm>
            <a:off x="8701446" y="1482862"/>
            <a:ext cx="18133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/>
              <a:t>모델 수행결과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1757298-2DC2-4EC0-063C-6B155978B008}"/>
              </a:ext>
            </a:extLst>
          </p:cNvPr>
          <p:cNvSpPr txBox="1"/>
          <p:nvPr/>
        </p:nvSpPr>
        <p:spPr>
          <a:xfrm>
            <a:off x="9455696" y="2151347"/>
            <a:ext cx="565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Roc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5F90F59-0FDF-C94E-8704-2404EE4AC01A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6495" y="2916452"/>
            <a:ext cx="3763220" cy="3216028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A4A60C99-450C-1E15-46B8-28D2C8BB8B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4538" y="508616"/>
            <a:ext cx="1009791" cy="39058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1542BDD-814B-6A18-44CA-89C5E0FF3BA5}"/>
              </a:ext>
            </a:extLst>
          </p:cNvPr>
          <p:cNvSpPr txBox="1"/>
          <p:nvPr/>
        </p:nvSpPr>
        <p:spPr>
          <a:xfrm>
            <a:off x="524181" y="139284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/>
              <a:t>업무명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F4A0AA-0F79-46DD-043F-3239F1F8AB77}"/>
              </a:ext>
            </a:extLst>
          </p:cNvPr>
          <p:cNvSpPr txBox="1"/>
          <p:nvPr/>
        </p:nvSpPr>
        <p:spPr>
          <a:xfrm>
            <a:off x="584538" y="926199"/>
            <a:ext cx="14077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1.</a:t>
            </a:r>
            <a:r>
              <a:rPr lang="ko-KR" altLang="en-US" sz="2000" dirty="0" err="1"/>
              <a:t>산탄데르</a:t>
            </a:r>
            <a:endParaRPr lang="en-US" altLang="ko-KR" sz="2000" dirty="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416DAC52-2FA2-D0E0-6EC2-E2CFED6E76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40326" y="497200"/>
            <a:ext cx="1009791" cy="39058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2B54C19-809E-9639-A23C-64A998CC0628}"/>
              </a:ext>
            </a:extLst>
          </p:cNvPr>
          <p:cNvSpPr txBox="1"/>
          <p:nvPr/>
        </p:nvSpPr>
        <p:spPr>
          <a:xfrm>
            <a:off x="3479969" y="127868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/>
              <a:t>모델명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23AEF0E-29FE-9124-DCE3-5D7072039A93}"/>
              </a:ext>
            </a:extLst>
          </p:cNvPr>
          <p:cNvSpPr txBox="1"/>
          <p:nvPr/>
        </p:nvSpPr>
        <p:spPr>
          <a:xfrm>
            <a:off x="3540326" y="914783"/>
            <a:ext cx="14622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/>
              <a:t>1.lightBGM</a:t>
            </a:r>
            <a:endParaRPr lang="en-US" altLang="ko-KR" sz="2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7DDCC3-D96C-F96B-A7D0-6BE605513722}"/>
              </a:ext>
            </a:extLst>
          </p:cNvPr>
          <p:cNvSpPr txBox="1"/>
          <p:nvPr/>
        </p:nvSpPr>
        <p:spPr>
          <a:xfrm>
            <a:off x="5953392" y="487670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/>
              <a:t>전처리조회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14D1BD-D56C-FF5D-B4F0-FF3CD227E8B3}"/>
              </a:ext>
            </a:extLst>
          </p:cNvPr>
          <p:cNvSpPr txBox="1"/>
          <p:nvPr/>
        </p:nvSpPr>
        <p:spPr>
          <a:xfrm>
            <a:off x="4271456" y="1448087"/>
            <a:ext cx="29290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 err="1"/>
              <a:t>전처리</a:t>
            </a:r>
            <a:r>
              <a:rPr lang="ko-KR" altLang="en-US" sz="2000" dirty="0"/>
              <a:t> 데이터 검증결과</a:t>
            </a:r>
          </a:p>
        </p:txBody>
      </p:sp>
    </p:spTree>
    <p:extLst>
      <p:ext uri="{BB962C8B-B14F-4D97-AF65-F5344CB8AC3E}">
        <p14:creationId xmlns:p14="http://schemas.microsoft.com/office/powerpoint/2010/main" val="1037591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52466-1F5F-7810-500F-F787CFF7F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그림 40">
            <a:extLst>
              <a:ext uri="{FF2B5EF4-FFF2-40B4-BE49-F238E27FC236}">
                <a16:creationId xmlns:a16="http://schemas.microsoft.com/office/drawing/2014/main" id="{A4A60C99-450C-1E15-46B8-28D2C8BB8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538" y="508616"/>
            <a:ext cx="1009791" cy="39058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91542BDD-814B-6A18-44CA-89C5E0FF3BA5}"/>
              </a:ext>
            </a:extLst>
          </p:cNvPr>
          <p:cNvSpPr txBox="1"/>
          <p:nvPr/>
        </p:nvSpPr>
        <p:spPr>
          <a:xfrm>
            <a:off x="524181" y="139284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/>
              <a:t>업무명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5F4A0AA-0F79-46DD-043F-3239F1F8AB77}"/>
              </a:ext>
            </a:extLst>
          </p:cNvPr>
          <p:cNvSpPr txBox="1"/>
          <p:nvPr/>
        </p:nvSpPr>
        <p:spPr>
          <a:xfrm>
            <a:off x="584538" y="926199"/>
            <a:ext cx="14077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1.</a:t>
            </a:r>
            <a:r>
              <a:rPr lang="ko-KR" altLang="en-US" sz="2000" dirty="0" err="1"/>
              <a:t>산탄데르</a:t>
            </a:r>
            <a:endParaRPr lang="en-US" altLang="ko-KR" sz="2000" dirty="0"/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416DAC52-2FA2-D0E0-6EC2-E2CFED6E7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0326" y="497200"/>
            <a:ext cx="1009791" cy="39058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12B54C19-809E-9639-A23C-64A998CC0628}"/>
              </a:ext>
            </a:extLst>
          </p:cNvPr>
          <p:cNvSpPr txBox="1"/>
          <p:nvPr/>
        </p:nvSpPr>
        <p:spPr>
          <a:xfrm>
            <a:off x="3479969" y="127868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/>
              <a:t>모델명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23AEF0E-29FE-9124-DCE3-5D7072039A93}"/>
              </a:ext>
            </a:extLst>
          </p:cNvPr>
          <p:cNvSpPr txBox="1"/>
          <p:nvPr/>
        </p:nvSpPr>
        <p:spPr>
          <a:xfrm>
            <a:off x="3540326" y="914783"/>
            <a:ext cx="14622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/>
              <a:t>1.lightBGM</a:t>
            </a:r>
            <a:endParaRPr lang="en-US" altLang="ko-KR" sz="20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47DDCC3-D96C-F96B-A7D0-6BE605513722}"/>
              </a:ext>
            </a:extLst>
          </p:cNvPr>
          <p:cNvSpPr txBox="1"/>
          <p:nvPr/>
        </p:nvSpPr>
        <p:spPr>
          <a:xfrm>
            <a:off x="5953392" y="487670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/>
              <a:t>전처리조회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614D1BD-D56C-FF5D-B4F0-FF3CD227E8B3}"/>
              </a:ext>
            </a:extLst>
          </p:cNvPr>
          <p:cNvSpPr txBox="1"/>
          <p:nvPr/>
        </p:nvSpPr>
        <p:spPr>
          <a:xfrm>
            <a:off x="4271456" y="1725936"/>
            <a:ext cx="29290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 err="1"/>
              <a:t>전처리</a:t>
            </a:r>
            <a:r>
              <a:rPr lang="ko-KR" altLang="en-US" sz="2000" dirty="0"/>
              <a:t> 데이터 검증결과</a:t>
            </a:r>
          </a:p>
        </p:txBody>
      </p:sp>
    </p:spTree>
    <p:extLst>
      <p:ext uri="{BB962C8B-B14F-4D97-AF65-F5344CB8AC3E}">
        <p14:creationId xmlns:p14="http://schemas.microsoft.com/office/powerpoint/2010/main" val="2399930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52466-1F5F-7810-500F-F787CFF7F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>
            <a:extLst>
              <a:ext uri="{FF2B5EF4-FFF2-40B4-BE49-F238E27FC236}">
                <a16:creationId xmlns:a16="http://schemas.microsoft.com/office/drawing/2014/main" id="{60ED49AB-E10D-2F91-8764-DDDA0F0F789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728" y="88135"/>
            <a:ext cx="5962786" cy="6555036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0E0B1D4C-9217-16E3-7A40-A4D6D3D8EDE7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480" y="0"/>
            <a:ext cx="5905040" cy="6643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939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52466-1F5F-7810-500F-F787CFF7F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그림 52">
            <a:extLst>
              <a:ext uri="{FF2B5EF4-FFF2-40B4-BE49-F238E27FC236}">
                <a16:creationId xmlns:a16="http://schemas.microsoft.com/office/drawing/2014/main" id="{CCCA38D7-0008-2CD6-3CBF-45A6C80FFD7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253" y="216870"/>
            <a:ext cx="5894024" cy="6514436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D4571169-D003-2B75-45B5-F60DB83E4ADF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6564" y="316920"/>
            <a:ext cx="5816906" cy="6326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318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52466-1F5F-7810-500F-F787CFF7F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Box 56">
            <a:extLst>
              <a:ext uri="{FF2B5EF4-FFF2-40B4-BE49-F238E27FC236}">
                <a16:creationId xmlns:a16="http://schemas.microsoft.com/office/drawing/2014/main" id="{A7648BD4-B737-44BE-E221-5837F9C0EDBA}"/>
              </a:ext>
            </a:extLst>
          </p:cNvPr>
          <p:cNvSpPr txBox="1"/>
          <p:nvPr/>
        </p:nvSpPr>
        <p:spPr>
          <a:xfrm>
            <a:off x="5605195" y="210966"/>
            <a:ext cx="9989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모델 수행결과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117A6CA-EA65-56BD-D782-D439614D1096}"/>
              </a:ext>
            </a:extLst>
          </p:cNvPr>
          <p:cNvSpPr txBox="1"/>
          <p:nvPr/>
        </p:nvSpPr>
        <p:spPr>
          <a:xfrm>
            <a:off x="7173588" y="159325"/>
            <a:ext cx="565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Roc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F02FEA4-FD62-3258-7048-1F53A7D27B48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995" y="528658"/>
            <a:ext cx="11388749" cy="5839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525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7F251-A566-0339-ECF0-DFB3237B2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>
            <a:extLst>
              <a:ext uri="{FF2B5EF4-FFF2-40B4-BE49-F238E27FC236}">
                <a16:creationId xmlns:a16="http://schemas.microsoft.com/office/drawing/2014/main" id="{E82E8EDF-57A6-2A7C-B066-133F6B2E5AA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691" y="2642346"/>
            <a:ext cx="2884409" cy="1882120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2B7ACAF9-8043-1FE6-17E5-34FD36A1E0DB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7945" y="2722936"/>
            <a:ext cx="2884410" cy="1611922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F09F2C3F-6765-8532-1EAE-3D140162DF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538" y="508616"/>
            <a:ext cx="1009791" cy="39058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D2E1788E-51D2-3C12-66A7-2CB9F1B2EAA7}"/>
              </a:ext>
            </a:extLst>
          </p:cNvPr>
          <p:cNvSpPr txBox="1"/>
          <p:nvPr/>
        </p:nvSpPr>
        <p:spPr>
          <a:xfrm>
            <a:off x="524181" y="13928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업무명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0CAA561-9A31-2D58-91BD-ADA14A06B74A}"/>
              </a:ext>
            </a:extLst>
          </p:cNvPr>
          <p:cNvSpPr txBox="1"/>
          <p:nvPr/>
        </p:nvSpPr>
        <p:spPr>
          <a:xfrm>
            <a:off x="584538" y="926199"/>
            <a:ext cx="1285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</a:t>
            </a:r>
            <a:r>
              <a:rPr lang="ko-KR" altLang="en-US" dirty="0" err="1"/>
              <a:t>산탄데르</a:t>
            </a:r>
            <a:endParaRPr lang="en-US" altLang="ko-KR" dirty="0"/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7668947E-F5BA-8B58-7F50-A717C1B0D6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0326" y="497200"/>
            <a:ext cx="1009791" cy="39058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E5ED7D16-BE15-3A26-95E6-406D8FA3D579}"/>
              </a:ext>
            </a:extLst>
          </p:cNvPr>
          <p:cNvSpPr txBox="1"/>
          <p:nvPr/>
        </p:nvSpPr>
        <p:spPr>
          <a:xfrm>
            <a:off x="3479969" y="12786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모델명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C114926-BD86-2B94-51A1-0A857C1C8640}"/>
              </a:ext>
            </a:extLst>
          </p:cNvPr>
          <p:cNvSpPr txBox="1"/>
          <p:nvPr/>
        </p:nvSpPr>
        <p:spPr>
          <a:xfrm>
            <a:off x="3540326" y="914783"/>
            <a:ext cx="18822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2.xgb</a:t>
            </a:r>
          </a:p>
          <a:p>
            <a:r>
              <a:rPr lang="ko-KR" altLang="en-US" dirty="0"/>
              <a:t>전체항목은 없음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E0ED0BE-901A-CCDB-AF89-5D719A3B04D4}"/>
              </a:ext>
            </a:extLst>
          </p:cNvPr>
          <p:cNvSpPr txBox="1"/>
          <p:nvPr/>
        </p:nvSpPr>
        <p:spPr>
          <a:xfrm>
            <a:off x="5182212" y="43344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전처리조회</a:t>
            </a:r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0430AE09-925F-BB8F-4DBD-CF8454433FE6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691" y="4524466"/>
            <a:ext cx="2884409" cy="2041556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3060AB6E-10DD-076F-17F4-F5990E531FAC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7132" y="4437229"/>
            <a:ext cx="2615221" cy="2041557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9DE082F4-2962-F53C-85DF-40E0ED285634}"/>
              </a:ext>
            </a:extLst>
          </p:cNvPr>
          <p:cNvSpPr txBox="1"/>
          <p:nvPr/>
        </p:nvSpPr>
        <p:spPr>
          <a:xfrm>
            <a:off x="9195337" y="1586099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모델 수행결과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7D667DD-BCFA-96BE-A354-600FF5857993}"/>
              </a:ext>
            </a:extLst>
          </p:cNvPr>
          <p:cNvSpPr txBox="1"/>
          <p:nvPr/>
        </p:nvSpPr>
        <p:spPr>
          <a:xfrm>
            <a:off x="5107239" y="1514947"/>
            <a:ext cx="2656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전처리</a:t>
            </a:r>
            <a:r>
              <a:rPr lang="ko-KR" altLang="en-US" dirty="0"/>
              <a:t> 데이터 검증결과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03A4D5A-1AF2-AD46-1192-5D5E91DFB9D3}"/>
              </a:ext>
            </a:extLst>
          </p:cNvPr>
          <p:cNvSpPr txBox="1"/>
          <p:nvPr/>
        </p:nvSpPr>
        <p:spPr>
          <a:xfrm>
            <a:off x="7763735" y="317500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산탄데르</a:t>
            </a:r>
            <a:r>
              <a:rPr lang="ko-KR" altLang="en-US" dirty="0"/>
              <a:t> 기준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2700DC6-1CFB-E6EB-5B10-823EBDF70D79}"/>
              </a:ext>
            </a:extLst>
          </p:cNvPr>
          <p:cNvSpPr txBox="1"/>
          <p:nvPr/>
        </p:nvSpPr>
        <p:spPr>
          <a:xfrm>
            <a:off x="9455696" y="2151347"/>
            <a:ext cx="565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Roc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485186B-BABE-13C4-40F1-346DF9EC3ACE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4935" y="2938752"/>
            <a:ext cx="3506870" cy="2996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062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4F271-7582-8919-8AC6-961463628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>
            <a:extLst>
              <a:ext uri="{FF2B5EF4-FFF2-40B4-BE49-F238E27FC236}">
                <a16:creationId xmlns:a16="http://schemas.microsoft.com/office/drawing/2014/main" id="{8E0833ED-F80D-D915-95DF-583E2F13FBA8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691" y="2642346"/>
            <a:ext cx="2884409" cy="1882120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5763A6A2-8447-75F2-98C3-5DB851967872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7945" y="2722936"/>
            <a:ext cx="2884410" cy="1611922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5533033C-5FC2-E060-0E93-D88DFCC424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538" y="508616"/>
            <a:ext cx="1009791" cy="39058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9187E734-381F-3885-952A-2945A155CC69}"/>
              </a:ext>
            </a:extLst>
          </p:cNvPr>
          <p:cNvSpPr txBox="1"/>
          <p:nvPr/>
        </p:nvSpPr>
        <p:spPr>
          <a:xfrm>
            <a:off x="524181" y="13928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업무명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75A767E-BC15-3269-DEDE-0EE24622301C}"/>
              </a:ext>
            </a:extLst>
          </p:cNvPr>
          <p:cNvSpPr txBox="1"/>
          <p:nvPr/>
        </p:nvSpPr>
        <p:spPr>
          <a:xfrm>
            <a:off x="584538" y="926199"/>
            <a:ext cx="1285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</a:t>
            </a:r>
            <a:r>
              <a:rPr lang="ko-KR" altLang="en-US" dirty="0" err="1"/>
              <a:t>산탄데르</a:t>
            </a:r>
            <a:endParaRPr lang="en-US" altLang="ko-KR" dirty="0"/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501F4FC1-0893-43AA-A4CF-4F0C11BE4E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0326" y="497200"/>
            <a:ext cx="1009791" cy="39058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A5E2554D-45DC-C676-3F26-EB0D975ABC82}"/>
              </a:ext>
            </a:extLst>
          </p:cNvPr>
          <p:cNvSpPr txBox="1"/>
          <p:nvPr/>
        </p:nvSpPr>
        <p:spPr>
          <a:xfrm>
            <a:off x="3479969" y="12786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모델명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2571246-C727-1056-3117-1B0893FAC3AC}"/>
              </a:ext>
            </a:extLst>
          </p:cNvPr>
          <p:cNvSpPr txBox="1"/>
          <p:nvPr/>
        </p:nvSpPr>
        <p:spPr>
          <a:xfrm>
            <a:off x="3540326" y="914783"/>
            <a:ext cx="18822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3.logistic</a:t>
            </a:r>
          </a:p>
          <a:p>
            <a:r>
              <a:rPr lang="ko-KR" altLang="en-US" dirty="0"/>
              <a:t>전체항목은 없음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A9D7363-9D88-9043-1057-22EFF7884BFE}"/>
              </a:ext>
            </a:extLst>
          </p:cNvPr>
          <p:cNvSpPr txBox="1"/>
          <p:nvPr/>
        </p:nvSpPr>
        <p:spPr>
          <a:xfrm>
            <a:off x="5182212" y="43344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전처리조회</a:t>
            </a:r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76D22478-0A37-6E0E-FDB0-1D12CE8C5923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691" y="4524466"/>
            <a:ext cx="2884409" cy="2041556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90B73451-AF46-D2FE-6883-3262CBD36AFF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7132" y="4437229"/>
            <a:ext cx="2615221" cy="2041557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5EC2BB76-3CD0-0B89-CE22-89E78025A2B6}"/>
              </a:ext>
            </a:extLst>
          </p:cNvPr>
          <p:cNvSpPr txBox="1"/>
          <p:nvPr/>
        </p:nvSpPr>
        <p:spPr>
          <a:xfrm>
            <a:off x="9195337" y="1586099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모델 수행결과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442C7A6-3C58-9179-D398-1B4B1AA0690B}"/>
              </a:ext>
            </a:extLst>
          </p:cNvPr>
          <p:cNvSpPr txBox="1"/>
          <p:nvPr/>
        </p:nvSpPr>
        <p:spPr>
          <a:xfrm>
            <a:off x="5107239" y="1514947"/>
            <a:ext cx="2656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전처리</a:t>
            </a:r>
            <a:r>
              <a:rPr lang="ko-KR" altLang="en-US" dirty="0"/>
              <a:t> 데이터 검증결과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AFB3FF3-6FB1-DC59-C683-1BD7DB5B2E63}"/>
              </a:ext>
            </a:extLst>
          </p:cNvPr>
          <p:cNvSpPr txBox="1"/>
          <p:nvPr/>
        </p:nvSpPr>
        <p:spPr>
          <a:xfrm>
            <a:off x="7763735" y="317500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산탄데르</a:t>
            </a:r>
            <a:r>
              <a:rPr lang="ko-KR" altLang="en-US" dirty="0"/>
              <a:t> 기준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BC950E6-E79A-21A4-777D-88D1FA23CA5F}"/>
              </a:ext>
            </a:extLst>
          </p:cNvPr>
          <p:cNvSpPr txBox="1"/>
          <p:nvPr/>
        </p:nvSpPr>
        <p:spPr>
          <a:xfrm>
            <a:off x="9455696" y="2151347"/>
            <a:ext cx="565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Roc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53A6642-41E1-4508-C661-94329D626A23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5157" y="2722945"/>
            <a:ext cx="4011921" cy="3428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374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1B226-C314-3CD6-9455-19768773A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>
            <a:extLst>
              <a:ext uri="{FF2B5EF4-FFF2-40B4-BE49-F238E27FC236}">
                <a16:creationId xmlns:a16="http://schemas.microsoft.com/office/drawing/2014/main" id="{0CA7AF1B-6E0D-6E51-C575-5CC00506798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691" y="2642346"/>
            <a:ext cx="2884409" cy="1882120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E4821260-5B77-4153-C580-29CAE4A155DB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7945" y="2722936"/>
            <a:ext cx="2884410" cy="1611922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553CF7CE-FE1D-FD0F-C7D8-FABE61A840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538" y="508616"/>
            <a:ext cx="1009791" cy="39058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C797A200-B448-42CC-2514-178A945092F5}"/>
              </a:ext>
            </a:extLst>
          </p:cNvPr>
          <p:cNvSpPr txBox="1"/>
          <p:nvPr/>
        </p:nvSpPr>
        <p:spPr>
          <a:xfrm>
            <a:off x="524181" y="13928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업무명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77054CC-A724-9A4C-19DC-8191C3A1B09C}"/>
              </a:ext>
            </a:extLst>
          </p:cNvPr>
          <p:cNvSpPr txBox="1"/>
          <p:nvPr/>
        </p:nvSpPr>
        <p:spPr>
          <a:xfrm>
            <a:off x="584538" y="926199"/>
            <a:ext cx="1285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</a:t>
            </a:r>
            <a:r>
              <a:rPr lang="ko-KR" altLang="en-US" dirty="0" err="1"/>
              <a:t>산탄데르</a:t>
            </a:r>
            <a:endParaRPr lang="en-US" altLang="ko-KR" dirty="0"/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AC2C9352-5603-1B0C-5C91-04900C0EB8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0326" y="497200"/>
            <a:ext cx="1009791" cy="39058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051FE3CC-36AF-ACD1-D9F3-4CBAD71688E1}"/>
              </a:ext>
            </a:extLst>
          </p:cNvPr>
          <p:cNvSpPr txBox="1"/>
          <p:nvPr/>
        </p:nvSpPr>
        <p:spPr>
          <a:xfrm>
            <a:off x="3479969" y="12786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모델명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A52A276-9A44-7532-F2E7-25F933F78367}"/>
              </a:ext>
            </a:extLst>
          </p:cNvPr>
          <p:cNvSpPr txBox="1"/>
          <p:nvPr/>
        </p:nvSpPr>
        <p:spPr>
          <a:xfrm>
            <a:off x="3540326" y="914783"/>
            <a:ext cx="18822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4.RF</a:t>
            </a:r>
          </a:p>
          <a:p>
            <a:r>
              <a:rPr lang="ko-KR" altLang="en-US" dirty="0"/>
              <a:t>전체항목은 없음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7CCE424-E54B-6A7F-F15A-31D643370069}"/>
              </a:ext>
            </a:extLst>
          </p:cNvPr>
          <p:cNvSpPr txBox="1"/>
          <p:nvPr/>
        </p:nvSpPr>
        <p:spPr>
          <a:xfrm>
            <a:off x="5182212" y="43344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전처리조회</a:t>
            </a:r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F5B93140-26CC-E46C-069D-B2A4296C0C9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691" y="4524466"/>
            <a:ext cx="2884409" cy="2041556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D894951B-7CBB-41EF-CBF7-DCB3B6D8D23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7132" y="4437229"/>
            <a:ext cx="2615221" cy="2041557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85298108-A6C6-5D43-A38E-8B7FE49EA6C8}"/>
              </a:ext>
            </a:extLst>
          </p:cNvPr>
          <p:cNvSpPr txBox="1"/>
          <p:nvPr/>
        </p:nvSpPr>
        <p:spPr>
          <a:xfrm>
            <a:off x="9195337" y="1586099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모델 수행결과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5797828-7CAC-06E0-B61A-B8FEFDC7E499}"/>
              </a:ext>
            </a:extLst>
          </p:cNvPr>
          <p:cNvSpPr txBox="1"/>
          <p:nvPr/>
        </p:nvSpPr>
        <p:spPr>
          <a:xfrm>
            <a:off x="5107239" y="1514947"/>
            <a:ext cx="2656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전처리</a:t>
            </a:r>
            <a:r>
              <a:rPr lang="ko-KR" altLang="en-US" dirty="0"/>
              <a:t> 데이터 검증결과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D0F40CA-E4E4-F919-0D50-94CC73B67A8E}"/>
              </a:ext>
            </a:extLst>
          </p:cNvPr>
          <p:cNvSpPr txBox="1"/>
          <p:nvPr/>
        </p:nvSpPr>
        <p:spPr>
          <a:xfrm>
            <a:off x="7763735" y="317500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산탄데르</a:t>
            </a:r>
            <a:r>
              <a:rPr lang="ko-KR" altLang="en-US" dirty="0"/>
              <a:t> 기준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1757298-2DC2-4EC0-063C-6B155978B008}"/>
              </a:ext>
            </a:extLst>
          </p:cNvPr>
          <p:cNvSpPr txBox="1"/>
          <p:nvPr/>
        </p:nvSpPr>
        <p:spPr>
          <a:xfrm>
            <a:off x="9455696" y="2151347"/>
            <a:ext cx="565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Roc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5F90F59-0FDF-C94E-8704-2404EE4AC01A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6495" y="2916452"/>
            <a:ext cx="3763220" cy="321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182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5EA96-DE43-B71E-A4CF-BEF0A6BD3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>
            <a:extLst>
              <a:ext uri="{FF2B5EF4-FFF2-40B4-BE49-F238E27FC236}">
                <a16:creationId xmlns:a16="http://schemas.microsoft.com/office/drawing/2014/main" id="{AF79AC0E-594B-4F1F-8C45-7E09EA2BEE7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691" y="2642346"/>
            <a:ext cx="2884409" cy="1882120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A5B963FE-22C8-3B24-23EC-12F8B1D44E4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7945" y="2722936"/>
            <a:ext cx="2884410" cy="1611922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694A50B4-B84C-79EB-8318-5AA85F6AF6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538" y="508616"/>
            <a:ext cx="1009791" cy="39058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1DF9592A-0F16-ACBD-962A-F6B985F1DA1C}"/>
              </a:ext>
            </a:extLst>
          </p:cNvPr>
          <p:cNvSpPr txBox="1"/>
          <p:nvPr/>
        </p:nvSpPr>
        <p:spPr>
          <a:xfrm>
            <a:off x="524181" y="13928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업무명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925D3D4-8852-3C4B-8907-4AEDC88C3161}"/>
              </a:ext>
            </a:extLst>
          </p:cNvPr>
          <p:cNvSpPr txBox="1"/>
          <p:nvPr/>
        </p:nvSpPr>
        <p:spPr>
          <a:xfrm>
            <a:off x="584538" y="926199"/>
            <a:ext cx="151676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</a:t>
            </a:r>
            <a:r>
              <a:rPr lang="ko-KR" altLang="en-US" dirty="0" err="1"/>
              <a:t>산탄데르</a:t>
            </a:r>
            <a:endParaRPr lang="en-US" altLang="ko-KR" dirty="0"/>
          </a:p>
          <a:p>
            <a:r>
              <a:rPr lang="en-US" altLang="ko-KR" dirty="0"/>
              <a:t>2.</a:t>
            </a:r>
            <a:r>
              <a:rPr lang="ko-KR" altLang="en-US" dirty="0"/>
              <a:t>카드</a:t>
            </a:r>
            <a:endParaRPr lang="en-US" altLang="ko-KR" dirty="0"/>
          </a:p>
          <a:p>
            <a:r>
              <a:rPr lang="en-US" altLang="ko-KR" dirty="0"/>
              <a:t>3.</a:t>
            </a:r>
            <a:r>
              <a:rPr lang="ko-KR" altLang="en-US" dirty="0"/>
              <a:t>텍스트분석</a:t>
            </a:r>
            <a:endParaRPr lang="en-US" altLang="ko-KR" dirty="0"/>
          </a:p>
          <a:p>
            <a:r>
              <a:rPr lang="en-US" altLang="ko-KR" dirty="0"/>
              <a:t>4.</a:t>
            </a:r>
            <a:r>
              <a:rPr lang="ko-KR" altLang="en-US" dirty="0"/>
              <a:t>분류분석</a:t>
            </a: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E69899C6-6D6E-1077-D343-CEF8DBE47B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0326" y="497200"/>
            <a:ext cx="1009791" cy="39058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6B02DDDC-76A1-0EEB-0D67-2B6087C066D5}"/>
              </a:ext>
            </a:extLst>
          </p:cNvPr>
          <p:cNvSpPr txBox="1"/>
          <p:nvPr/>
        </p:nvSpPr>
        <p:spPr>
          <a:xfrm>
            <a:off x="3479969" y="12786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모델명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5FBAF52-F67C-D4C7-45E5-E59037189B74}"/>
              </a:ext>
            </a:extLst>
          </p:cNvPr>
          <p:cNvSpPr txBox="1"/>
          <p:nvPr/>
        </p:nvSpPr>
        <p:spPr>
          <a:xfrm>
            <a:off x="3540326" y="914783"/>
            <a:ext cx="188224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1.lightBGM</a:t>
            </a:r>
          </a:p>
          <a:p>
            <a:r>
              <a:rPr lang="en-US" altLang="ko-KR" dirty="0"/>
              <a:t>2.xgb</a:t>
            </a:r>
          </a:p>
          <a:p>
            <a:r>
              <a:rPr lang="en-US" altLang="ko-KR" dirty="0"/>
              <a:t>3.X</a:t>
            </a:r>
          </a:p>
          <a:p>
            <a:r>
              <a:rPr lang="en-US" altLang="ko-KR" dirty="0"/>
              <a:t>4.Zzz</a:t>
            </a:r>
          </a:p>
          <a:p>
            <a:r>
              <a:rPr lang="ko-KR" altLang="en-US" dirty="0"/>
              <a:t>전체항목은 없음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CDB3816-BDE6-DDDD-4336-5586D9A1D50A}"/>
              </a:ext>
            </a:extLst>
          </p:cNvPr>
          <p:cNvSpPr txBox="1"/>
          <p:nvPr/>
        </p:nvSpPr>
        <p:spPr>
          <a:xfrm>
            <a:off x="5182212" y="43344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전처리조회</a:t>
            </a:r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3A04F5EA-62DC-B288-2C79-77F930118F66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691" y="4524466"/>
            <a:ext cx="2884409" cy="2041556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543EACC9-C26C-B74B-5A53-6AF876BC4B25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7132" y="4437229"/>
            <a:ext cx="2615221" cy="2041557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55D6595D-8CD6-78B0-945C-EE3BD04C48B8}"/>
              </a:ext>
            </a:extLst>
          </p:cNvPr>
          <p:cNvSpPr txBox="1"/>
          <p:nvPr/>
        </p:nvSpPr>
        <p:spPr>
          <a:xfrm>
            <a:off x="9195337" y="1586099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모델 수행결과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42E74ED-55D5-85C8-9CC4-9363D4A3F1B7}"/>
              </a:ext>
            </a:extLst>
          </p:cNvPr>
          <p:cNvSpPr txBox="1"/>
          <p:nvPr/>
        </p:nvSpPr>
        <p:spPr>
          <a:xfrm>
            <a:off x="5107239" y="1514947"/>
            <a:ext cx="2656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전처리</a:t>
            </a:r>
            <a:r>
              <a:rPr lang="ko-KR" altLang="en-US" dirty="0"/>
              <a:t> 데이터 검증결과</a:t>
            </a:r>
          </a:p>
        </p:txBody>
      </p:sp>
      <p:pic>
        <p:nvPicPr>
          <p:cNvPr id="60" name="그림 59">
            <a:extLst>
              <a:ext uri="{FF2B5EF4-FFF2-40B4-BE49-F238E27FC236}">
                <a16:creationId xmlns:a16="http://schemas.microsoft.com/office/drawing/2014/main" id="{849D6CA5-B1FE-5723-B7BE-E5F184191D89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3736" y="2261614"/>
            <a:ext cx="4085364" cy="4140524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C6A10043-4E7E-FB78-6DE3-628DDB7D3DF6}"/>
              </a:ext>
            </a:extLst>
          </p:cNvPr>
          <p:cNvSpPr txBox="1"/>
          <p:nvPr/>
        </p:nvSpPr>
        <p:spPr>
          <a:xfrm>
            <a:off x="7763735" y="317500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카드 기준</a:t>
            </a:r>
          </a:p>
        </p:txBody>
      </p:sp>
    </p:spTree>
    <p:extLst>
      <p:ext uri="{BB962C8B-B14F-4D97-AF65-F5344CB8AC3E}">
        <p14:creationId xmlns:p14="http://schemas.microsoft.com/office/powerpoint/2010/main" val="1077876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F42E6-0486-EDEE-D556-E60B60420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>
            <a:extLst>
              <a:ext uri="{FF2B5EF4-FFF2-40B4-BE49-F238E27FC236}">
                <a16:creationId xmlns:a16="http://schemas.microsoft.com/office/drawing/2014/main" id="{51440866-7BE7-8E2E-556A-6353A43A6AD7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691" y="2642346"/>
            <a:ext cx="2884409" cy="1882120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8AAAF138-1980-90EE-D8CE-3D524D6AF446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7945" y="2722936"/>
            <a:ext cx="2884410" cy="1611922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06E33D25-C2D8-1B98-6F42-2FB742B6E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538" y="508616"/>
            <a:ext cx="1009791" cy="39058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F29B882B-ACAB-94F3-7093-D16F86CA6F85}"/>
              </a:ext>
            </a:extLst>
          </p:cNvPr>
          <p:cNvSpPr txBox="1"/>
          <p:nvPr/>
        </p:nvSpPr>
        <p:spPr>
          <a:xfrm>
            <a:off x="524181" y="13928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업무명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ECB94B9-40B9-F020-FF5A-C47531600B6E}"/>
              </a:ext>
            </a:extLst>
          </p:cNvPr>
          <p:cNvSpPr txBox="1"/>
          <p:nvPr/>
        </p:nvSpPr>
        <p:spPr>
          <a:xfrm>
            <a:off x="584538" y="926199"/>
            <a:ext cx="151676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</a:t>
            </a:r>
            <a:r>
              <a:rPr lang="ko-KR" altLang="en-US" dirty="0" err="1"/>
              <a:t>산탄데르</a:t>
            </a:r>
            <a:endParaRPr lang="en-US" altLang="ko-KR" dirty="0"/>
          </a:p>
          <a:p>
            <a:r>
              <a:rPr lang="en-US" altLang="ko-KR" dirty="0"/>
              <a:t>2.</a:t>
            </a:r>
            <a:r>
              <a:rPr lang="ko-KR" altLang="en-US" dirty="0"/>
              <a:t>카드</a:t>
            </a:r>
            <a:endParaRPr lang="en-US" altLang="ko-KR" dirty="0"/>
          </a:p>
          <a:p>
            <a:r>
              <a:rPr lang="en-US" altLang="ko-KR" dirty="0"/>
              <a:t>3.</a:t>
            </a:r>
            <a:r>
              <a:rPr lang="ko-KR" altLang="en-US" dirty="0"/>
              <a:t>텍스트분석</a:t>
            </a:r>
            <a:endParaRPr lang="en-US" altLang="ko-KR" dirty="0"/>
          </a:p>
          <a:p>
            <a:r>
              <a:rPr lang="en-US" altLang="ko-KR" dirty="0"/>
              <a:t>4.</a:t>
            </a:r>
            <a:r>
              <a:rPr lang="ko-KR" altLang="en-US" dirty="0"/>
              <a:t>분류분석</a:t>
            </a: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BCF54988-2C2C-ED42-A0E0-177006EBEB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0326" y="497200"/>
            <a:ext cx="1009791" cy="39058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D5B17548-1D92-2F46-952E-2937BCE13FD6}"/>
              </a:ext>
            </a:extLst>
          </p:cNvPr>
          <p:cNvSpPr txBox="1"/>
          <p:nvPr/>
        </p:nvSpPr>
        <p:spPr>
          <a:xfrm>
            <a:off x="3479969" y="12786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모델명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9FA23A4-A802-2EF0-60B8-06C8A3D6E52E}"/>
              </a:ext>
            </a:extLst>
          </p:cNvPr>
          <p:cNvSpPr txBox="1"/>
          <p:nvPr/>
        </p:nvSpPr>
        <p:spPr>
          <a:xfrm>
            <a:off x="3540326" y="914783"/>
            <a:ext cx="188224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1.lightBGM</a:t>
            </a:r>
          </a:p>
          <a:p>
            <a:r>
              <a:rPr lang="en-US" altLang="ko-KR" dirty="0"/>
              <a:t>2.xgb</a:t>
            </a:r>
          </a:p>
          <a:p>
            <a:r>
              <a:rPr lang="en-US" altLang="ko-KR" dirty="0"/>
              <a:t>3.X</a:t>
            </a:r>
          </a:p>
          <a:p>
            <a:r>
              <a:rPr lang="en-US" altLang="ko-KR" dirty="0"/>
              <a:t>4.Zzz</a:t>
            </a:r>
          </a:p>
          <a:p>
            <a:r>
              <a:rPr lang="ko-KR" altLang="en-US" dirty="0"/>
              <a:t>전체항목은 없음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D3B6D99-68B2-4A39-AED8-DDD22879BAF2}"/>
              </a:ext>
            </a:extLst>
          </p:cNvPr>
          <p:cNvSpPr txBox="1"/>
          <p:nvPr/>
        </p:nvSpPr>
        <p:spPr>
          <a:xfrm>
            <a:off x="5182212" y="43344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전처리조회</a:t>
            </a:r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37936BA9-92DC-11F7-F20F-4CEB8D92BE4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691" y="4524466"/>
            <a:ext cx="2884409" cy="2041556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D5D51E53-6178-97F4-9D35-C0E2C3CF78C9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7132" y="4437229"/>
            <a:ext cx="2615221" cy="2041557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102BC881-742D-F1E1-3E23-599AC36F2986}"/>
              </a:ext>
            </a:extLst>
          </p:cNvPr>
          <p:cNvSpPr txBox="1"/>
          <p:nvPr/>
        </p:nvSpPr>
        <p:spPr>
          <a:xfrm>
            <a:off x="9195337" y="1586099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모델 수행결과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4EA3B5A-1BD2-90F8-0457-B37C6715A290}"/>
              </a:ext>
            </a:extLst>
          </p:cNvPr>
          <p:cNvSpPr txBox="1"/>
          <p:nvPr/>
        </p:nvSpPr>
        <p:spPr>
          <a:xfrm>
            <a:off x="5107239" y="1514947"/>
            <a:ext cx="2656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전처리</a:t>
            </a:r>
            <a:r>
              <a:rPr lang="ko-KR" altLang="en-US" dirty="0"/>
              <a:t> 데이터 검증결과</a:t>
            </a:r>
          </a:p>
        </p:txBody>
      </p:sp>
      <p:pic>
        <p:nvPicPr>
          <p:cNvPr id="60" name="그림 59">
            <a:extLst>
              <a:ext uri="{FF2B5EF4-FFF2-40B4-BE49-F238E27FC236}">
                <a16:creationId xmlns:a16="http://schemas.microsoft.com/office/drawing/2014/main" id="{510223EC-867E-8173-AF26-C232EEA1DB4B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3736" y="2261614"/>
            <a:ext cx="4085364" cy="4140524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EB7C5779-3628-6C2E-A28E-3A257CFCF2DB}"/>
              </a:ext>
            </a:extLst>
          </p:cNvPr>
          <p:cNvSpPr txBox="1"/>
          <p:nvPr/>
        </p:nvSpPr>
        <p:spPr>
          <a:xfrm>
            <a:off x="7763735" y="317500"/>
            <a:ext cx="1882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텍스트분석 기준</a:t>
            </a:r>
          </a:p>
        </p:txBody>
      </p:sp>
    </p:spTree>
    <p:extLst>
      <p:ext uri="{BB962C8B-B14F-4D97-AF65-F5344CB8AC3E}">
        <p14:creationId xmlns:p14="http://schemas.microsoft.com/office/powerpoint/2010/main" val="34666486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F64AB-AA22-3FE9-6750-C207EE544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>
            <a:extLst>
              <a:ext uri="{FF2B5EF4-FFF2-40B4-BE49-F238E27FC236}">
                <a16:creationId xmlns:a16="http://schemas.microsoft.com/office/drawing/2014/main" id="{7FD33212-C7A0-32AC-8954-03D0A1A5359E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691" y="2642346"/>
            <a:ext cx="2884409" cy="1882120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F21A8D92-ABB2-6928-02DA-3C6DE34A51D5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7945" y="2722936"/>
            <a:ext cx="2884410" cy="1611922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9CB704AA-FB37-7F42-7605-849AAED776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538" y="508616"/>
            <a:ext cx="1009791" cy="39058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4E67DD33-81C5-E254-5EBE-6D55B5522CB5}"/>
              </a:ext>
            </a:extLst>
          </p:cNvPr>
          <p:cNvSpPr txBox="1"/>
          <p:nvPr/>
        </p:nvSpPr>
        <p:spPr>
          <a:xfrm>
            <a:off x="524181" y="13928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업무명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6F4F526-2468-3DC1-DD17-6F25648786C9}"/>
              </a:ext>
            </a:extLst>
          </p:cNvPr>
          <p:cNvSpPr txBox="1"/>
          <p:nvPr/>
        </p:nvSpPr>
        <p:spPr>
          <a:xfrm>
            <a:off x="584538" y="926199"/>
            <a:ext cx="151676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</a:t>
            </a:r>
            <a:r>
              <a:rPr lang="ko-KR" altLang="en-US" dirty="0" err="1"/>
              <a:t>산탄데르</a:t>
            </a:r>
            <a:endParaRPr lang="en-US" altLang="ko-KR" dirty="0"/>
          </a:p>
          <a:p>
            <a:r>
              <a:rPr lang="en-US" altLang="ko-KR" dirty="0"/>
              <a:t>2.</a:t>
            </a:r>
            <a:r>
              <a:rPr lang="ko-KR" altLang="en-US" dirty="0"/>
              <a:t>카드</a:t>
            </a:r>
            <a:endParaRPr lang="en-US" altLang="ko-KR" dirty="0"/>
          </a:p>
          <a:p>
            <a:r>
              <a:rPr lang="en-US" altLang="ko-KR" dirty="0"/>
              <a:t>3.</a:t>
            </a:r>
            <a:r>
              <a:rPr lang="ko-KR" altLang="en-US" dirty="0"/>
              <a:t>텍스트분석</a:t>
            </a:r>
            <a:endParaRPr lang="en-US" altLang="ko-KR" dirty="0"/>
          </a:p>
          <a:p>
            <a:r>
              <a:rPr lang="en-US" altLang="ko-KR" dirty="0"/>
              <a:t>4.</a:t>
            </a:r>
            <a:r>
              <a:rPr lang="ko-KR" altLang="en-US" dirty="0"/>
              <a:t>분류분석</a:t>
            </a: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DFC40503-82A4-4031-9A91-524A3422F4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0326" y="497200"/>
            <a:ext cx="1009791" cy="39058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96EECD2B-42A7-B7F1-C598-336AC0E07904}"/>
              </a:ext>
            </a:extLst>
          </p:cNvPr>
          <p:cNvSpPr txBox="1"/>
          <p:nvPr/>
        </p:nvSpPr>
        <p:spPr>
          <a:xfrm>
            <a:off x="3479969" y="12786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모델명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A583FE1-A1F0-5305-5084-A3F90491B9BD}"/>
              </a:ext>
            </a:extLst>
          </p:cNvPr>
          <p:cNvSpPr txBox="1"/>
          <p:nvPr/>
        </p:nvSpPr>
        <p:spPr>
          <a:xfrm>
            <a:off x="3540326" y="914783"/>
            <a:ext cx="188224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1.lightBGM</a:t>
            </a:r>
          </a:p>
          <a:p>
            <a:r>
              <a:rPr lang="en-US" altLang="ko-KR" dirty="0"/>
              <a:t>2.xgb</a:t>
            </a:r>
          </a:p>
          <a:p>
            <a:r>
              <a:rPr lang="en-US" altLang="ko-KR" dirty="0"/>
              <a:t>3.X</a:t>
            </a:r>
          </a:p>
          <a:p>
            <a:r>
              <a:rPr lang="en-US" altLang="ko-KR" dirty="0"/>
              <a:t>4.Zzz</a:t>
            </a:r>
          </a:p>
          <a:p>
            <a:r>
              <a:rPr lang="ko-KR" altLang="en-US" dirty="0"/>
              <a:t>전체항목은 없음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7AEBB30-B535-0617-FF5F-00EF9907C907}"/>
              </a:ext>
            </a:extLst>
          </p:cNvPr>
          <p:cNvSpPr txBox="1"/>
          <p:nvPr/>
        </p:nvSpPr>
        <p:spPr>
          <a:xfrm>
            <a:off x="5182212" y="43344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전처리조회</a:t>
            </a:r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03E922E2-E91E-9759-71C3-ECE373A53880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691" y="4524466"/>
            <a:ext cx="2884409" cy="2041556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E35459B2-BC6E-4B27-DAB2-BF82BFFB5655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7132" y="4437229"/>
            <a:ext cx="2615221" cy="2041557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6050E840-15F8-B075-2E38-478283AC4542}"/>
              </a:ext>
            </a:extLst>
          </p:cNvPr>
          <p:cNvSpPr txBox="1"/>
          <p:nvPr/>
        </p:nvSpPr>
        <p:spPr>
          <a:xfrm>
            <a:off x="9195337" y="1586099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모델 수행결과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AB1CE8A-7720-63D2-1DAB-04A7D515935B}"/>
              </a:ext>
            </a:extLst>
          </p:cNvPr>
          <p:cNvSpPr txBox="1"/>
          <p:nvPr/>
        </p:nvSpPr>
        <p:spPr>
          <a:xfrm>
            <a:off x="5107239" y="1514947"/>
            <a:ext cx="2656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전처리</a:t>
            </a:r>
            <a:r>
              <a:rPr lang="ko-KR" altLang="en-US" dirty="0"/>
              <a:t> 데이터 검증결과</a:t>
            </a:r>
          </a:p>
        </p:txBody>
      </p:sp>
      <p:pic>
        <p:nvPicPr>
          <p:cNvPr id="60" name="그림 59">
            <a:extLst>
              <a:ext uri="{FF2B5EF4-FFF2-40B4-BE49-F238E27FC236}">
                <a16:creationId xmlns:a16="http://schemas.microsoft.com/office/drawing/2014/main" id="{C03F97B9-B2DB-BDFB-95AC-096770F91E0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3736" y="2261614"/>
            <a:ext cx="4085364" cy="4140524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EC6864CC-9E5A-531F-BCFF-2567D2A3ED63}"/>
              </a:ext>
            </a:extLst>
          </p:cNvPr>
          <p:cNvSpPr txBox="1"/>
          <p:nvPr/>
        </p:nvSpPr>
        <p:spPr>
          <a:xfrm>
            <a:off x="7763735" y="317500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분류분석 기준</a:t>
            </a:r>
          </a:p>
        </p:txBody>
      </p:sp>
    </p:spTree>
    <p:extLst>
      <p:ext uri="{BB962C8B-B14F-4D97-AF65-F5344CB8AC3E}">
        <p14:creationId xmlns:p14="http://schemas.microsoft.com/office/powerpoint/2010/main" val="2203802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219</Words>
  <Application>Microsoft Office PowerPoint</Application>
  <PresentationFormat>와이드스크린</PresentationFormat>
  <Paragraphs>123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정찬성</cp:lastModifiedBy>
  <cp:revision>15</cp:revision>
  <dcterms:created xsi:type="dcterms:W3CDTF">2026-08-21T07:35:21Z</dcterms:created>
  <dcterms:modified xsi:type="dcterms:W3CDTF">2026-08-23T15:02:24Z</dcterms:modified>
</cp:coreProperties>
</file>