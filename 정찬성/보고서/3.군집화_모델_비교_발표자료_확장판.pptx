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038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142038"/>
                </a:solidFill>
                <a:latin typeface="Arial"/>
              </a:rPr>
              <a:t>지표별 점수 비교 </a:t>
            </a:r>
            <a:r>
              <a:rPr lang="en-US" altLang="ko-KR" sz="1200" b="0" i="0" u="none" strike="noStrike">
                <a:solidFill>
                  <a:srgbClr val="142038"/>
                </a:solidFill>
                <a:latin typeface="Arial"/>
              </a:rPr>
              <a:t>(</a:t>
            </a:r>
            <a:r>
              <a:rPr lang="ko-KR" altLang="en-US" sz="1200" b="0" i="0" u="none" strike="noStrike">
                <a:solidFill>
                  <a:srgbClr val="142038"/>
                </a:solidFill>
                <a:latin typeface="Arial"/>
              </a:rPr>
              <a:t>정답 기준 </a:t>
            </a:r>
            <a:r>
              <a:rPr lang="en-US" altLang="ko-KR" sz="1200" b="0" i="0" u="none" strike="noStrike">
                <a:solidFill>
                  <a:srgbClr val="142038"/>
                </a:solidFill>
                <a:latin typeface="Arial"/>
              </a:rPr>
              <a:t>vs </a:t>
            </a:r>
            <a:r>
              <a:rPr lang="ko-KR" altLang="en-US" sz="1200" b="0" i="0" u="none" strike="noStrike">
                <a:solidFill>
                  <a:srgbClr val="142038"/>
                </a:solidFill>
                <a:latin typeface="Arial"/>
              </a:rPr>
              <a:t>자체 기준</a:t>
            </a:r>
            <a:r>
              <a:rPr lang="en-US" altLang="ko-KR" sz="1200" b="0" i="0" u="none" strike="noStrike">
                <a:solidFill>
                  <a:srgbClr val="142038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42038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K-Means</c:v>
                </c:pt>
                <c:pt idx="1">
                  <c:v>GMM</c:v>
                </c:pt>
                <c:pt idx="2">
                  <c:v>DBSCAN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0.55120000000000002</c:v>
                </c:pt>
                <c:pt idx="1">
                  <c:v>0.50119999999999998</c:v>
                </c:pt>
                <c:pt idx="2">
                  <c:v>0.54210000000000003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5-49E9-B9E4-4F9A9B77FE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</c:v>
                </c:pt>
              </c:strCache>
            </c:strRef>
          </c:tx>
          <c:spPr>
            <a:solidFill>
              <a:srgbClr val="C79A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42038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K-Means</c:v>
                </c:pt>
                <c:pt idx="1">
                  <c:v>GMM</c:v>
                </c:pt>
                <c:pt idx="2">
                  <c:v>DBSCAN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0.71630000000000005</c:v>
                </c:pt>
                <c:pt idx="1">
                  <c:v>0.90390000000000004</c:v>
                </c:pt>
                <c:pt idx="2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55-49E9-B9E4-4F9A9B77FE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NMI</c:v>
                </c:pt>
              </c:strCache>
            </c:strRef>
          </c:tx>
          <c:spPr>
            <a:solidFill>
              <a:srgbClr val="442C5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42038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K-Means</c:v>
                </c:pt>
                <c:pt idx="1">
                  <c:v>GMM</c:v>
                </c:pt>
                <c:pt idx="2">
                  <c:v>DBSCAN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0.7419</c:v>
                </c:pt>
                <c:pt idx="1">
                  <c:v>0.89970000000000006</c:v>
                </c:pt>
                <c:pt idx="2">
                  <c:v>0.62160000000000004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55-49E9-B9E4-4F9A9B77FE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25E77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038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K-Means</c:v>
                </c:pt>
                <c:pt idx="1">
                  <c:v>DBSCAN</c:v>
                </c:pt>
                <c:pt idx="2">
                  <c:v>GMM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0.55120000000000002</c:v>
                </c:pt>
                <c:pt idx="1">
                  <c:v>0.54210000000000003</c:v>
                </c:pt>
                <c:pt idx="2">
                  <c:v>0.50119999999999998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D-43A9-9405-9C0AC7FA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03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42038"/>
                </a:solidFill>
                <a:latin typeface="Arial"/>
              </a:rPr>
              <a:t>Elbow: K</a:t>
            </a:r>
            <a:r>
              <a:rPr lang="ko-KR" altLang="en-US" sz="1100" b="0" i="0" u="none" strike="noStrike">
                <a:solidFill>
                  <a:srgbClr val="142038"/>
                </a:solidFill>
                <a:latin typeface="Arial"/>
              </a:rPr>
              <a:t>별 </a:t>
            </a:r>
            <a:r>
              <a:rPr lang="en-US" sz="1100" b="0" i="0" u="none" strike="noStrike">
                <a:solidFill>
                  <a:srgbClr val="142038"/>
                </a:solidFill>
                <a:latin typeface="Arial"/>
              </a:rPr>
              <a:t>Inertia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 (군집 내 거리제곱합)</c:v>
                </c:pt>
              </c:strCache>
            </c:strRef>
          </c:tx>
          <c:spPr>
            <a:ln w="31750" cap="flat">
              <a:solidFill>
                <a:srgbClr val="125E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25E77"/>
              </a:solidFill>
              <a:ln w="9525" cap="flat">
                <a:solidFill>
                  <a:srgbClr val="125E7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152.35</c:v>
                </c:pt>
                <c:pt idx="1">
                  <c:v>78.86</c:v>
                </c:pt>
                <c:pt idx="2">
                  <c:v>57.23</c:v>
                </c:pt>
                <c:pt idx="3">
                  <c:v>49.83</c:v>
                </c:pt>
                <c:pt idx="4">
                  <c:v>42.42</c:v>
                </c:pt>
                <c:pt idx="5">
                  <c:v>34.42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11-414C-91DB-2214FCDBA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038"/>
                </a:solidFill>
                <a:latin typeface="Arial"/>
              </a:defRPr>
            </a:pPr>
            <a:r>
              <a:rPr lang="en-US" altLang="ko-KR" sz="1100" b="0" i="0" u="none" strike="noStrike">
                <a:solidFill>
                  <a:srgbClr val="142038"/>
                </a:solidFill>
                <a:latin typeface="Arial"/>
              </a:rPr>
              <a:t>K</a:t>
            </a:r>
            <a:r>
              <a:rPr lang="ko-KR" altLang="en-US" sz="1100" b="0" i="0" u="none" strike="noStrike">
                <a:solidFill>
                  <a:srgbClr val="142038"/>
                </a:solidFill>
                <a:latin typeface="Arial"/>
              </a:rPr>
              <a:t>별 실루엣 계수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ln w="31750" cap="flat">
              <a:solidFill>
                <a:srgbClr val="C79A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79A2E"/>
              </a:solidFill>
              <a:ln w="9525" cap="flat">
                <a:solidFill>
                  <a:srgbClr val="C79A2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0.68100000000000005</c:v>
                </c:pt>
                <c:pt idx="1">
                  <c:v>0.55120000000000002</c:v>
                </c:pt>
                <c:pt idx="2">
                  <c:v>0.49809999999999999</c:v>
                </c:pt>
                <c:pt idx="3">
                  <c:v>0.46100000000000002</c:v>
                </c:pt>
                <c:pt idx="4">
                  <c:v>0.3357</c:v>
                </c:pt>
                <c:pt idx="5">
                  <c:v>0.3569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59-4490-949F-74AB8BAD9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9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CASE STUDY · 비지도학습 실습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군집화 모델 3종 비교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GMM · DBSCAN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정답이 알려진 Iris(붓꽃) 데이터셋으로, 정답 없이 학습하는 세 가지 군집화 알고리즘의 결과를 비교합니다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33832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442C5B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3832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빅데이터 학원 학생 · 지도 선생님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결론, 먼저 보여드립니다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모델을 같은 데이터·같은 조건으로 비교했을 때 드러난 4가지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1등이 곧 정답은 아니다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 1위는 K-Means(0.5512)였지만, 실제 정답과 가장 잘 맞은 모델은 아니었습니다.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240280"/>
            <a:ext cx="502920" cy="50292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2221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virginica는 GMM이 완벽 분리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8803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품종별 교차 비교에서 GMM이 virginica(target=2)를 100% 정확히 맞혔습니다.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4622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DBSCAN은 억지로 나누지 않는다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3개로 나누라는 지시 없이, 데이터가 보여주는 대로 2개 군집 + 노이즈 8.7%를 찾아냈습니다.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480560"/>
            <a:ext cx="502920" cy="502920"/>
          </a:xfrm>
          <a:prstGeom prst="ellipse">
            <a:avLst/>
          </a:prstGeom>
          <a:solidFill>
            <a:srgbClr val="6E8CC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44622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'최고의 모델'은 없다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51206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질문은 '어떤 모델이 최고인가'가 아니라 '내 상황에 어떤 모델이 맞는가'입니다.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사례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군집화는 어디에 쓰일까?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라벨이 없는 현실 데이터에서 '숨은 그룹'을 찾아내는 기술입니다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세분화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패턴이 비슷한 고객끼리 묶어 맞춤 마케팅에 활용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 거래 탐지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패턴 군집에서 벗어난 거래를 이상 신호로 포착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이미지·색상 압축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색상의 픽셀을 묶어 이미지 용량을 줄임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389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문서·뉴스 토픽 분류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5349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주제의 글을 자동으로 그룹화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389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유전자 발현 분석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5349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발현 패턴의 유전자를 묶어 연구에 활용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4389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시스템 사전 작업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75320" y="5349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취향이 비슷한 사용자군을 나눠 추천의 출발점으로 활용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이유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굳이 '정답 없이' 학습할까?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지도학습(분류)과 비지도학습(군집화)은 애초에 풀려는 문제가 다릅니다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125E77"/>
          </a:solidFill>
          <a:ln w="9525">
            <a:solidFill>
              <a:srgbClr val="125E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지도학습 (Classification)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92024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442C5B"/>
          </a:solidFill>
          <a:ln w="9525">
            <a:solidFill>
              <a:srgbClr val="442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92024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비지도학습 (Clustering)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03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학습에 정답(label)이 반드시 필요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560320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5603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없이 데이터 구조(거리·밀도)만으로 그룹화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예측값과 정답을 비교해 Accuracy로 검증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3337560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3375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 등 자체 지표로 품질을 판단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148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정답을 이미 다 알고 있어야 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4114800"/>
            <a:ext cx="516636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1148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데이터는 대부분 애초에 정답이 없음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10652760" cy="1051560"/>
          </a:xfrm>
          <a:prstGeom prst="roundRect">
            <a:avLst>
              <a:gd name="adj" fmla="val 8696"/>
            </a:avLst>
          </a:prstGeom>
          <a:solidFill>
            <a:srgbClr val="20304F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74920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실습은 정답(품종)이 있는 Iris 데이터로, '정답 없이 학습한 결과가 실제 정답과 얼마나 비슷한지' 사후 검증하는 특별한 사례입니다.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군집화(Clustering)란?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라벨 없이, 데이터의 구조(거리·밀도)만 보고 비슷한 표본끼리 그룹으로 묶는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번호(0,1,2 ...)는 순서 그 자체에 의미가 없음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'몇 개의 군집'을 정할지도 알고리즘마다 다르게 접근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비슷함의 기준은 거리(K-Means·GMM) 또는 밀도(DBSCAN)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01168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46888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274320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288036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33172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06324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2377440"/>
            <a:ext cx="201168" cy="201168"/>
          </a:xfrm>
          <a:prstGeom prst="ellipse">
            <a:avLst/>
          </a:prstGeom>
          <a:solidFill>
            <a:srgbClr val="442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2651760"/>
            <a:ext cx="201168" cy="201168"/>
          </a:xfrm>
          <a:prstGeom prst="ellipse">
            <a:avLst/>
          </a:prstGeom>
          <a:solidFill>
            <a:srgbClr val="442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2834640"/>
            <a:ext cx="201168" cy="201168"/>
          </a:xfrm>
          <a:prstGeom prst="ellipse">
            <a:avLst/>
          </a:prstGeom>
          <a:solidFill>
            <a:srgbClr val="442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2331720"/>
            <a:ext cx="201168" cy="201168"/>
          </a:xfrm>
          <a:prstGeom prst="ellipse">
            <a:avLst/>
          </a:prstGeom>
          <a:solidFill>
            <a:srgbClr val="442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3017520"/>
            <a:ext cx="201168" cy="201168"/>
          </a:xfrm>
          <a:prstGeom prst="ellipse">
            <a:avLst/>
          </a:prstGeom>
          <a:solidFill>
            <a:srgbClr val="442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4572000"/>
            <a:ext cx="201168" cy="201168"/>
          </a:xfrm>
          <a:prstGeom prst="ellipse">
            <a:avLst/>
          </a:prstGeom>
          <a:solidFill>
            <a:srgbClr val="C79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4846320"/>
            <a:ext cx="201168" cy="201168"/>
          </a:xfrm>
          <a:prstGeom prst="ellipse">
            <a:avLst/>
          </a:prstGeom>
          <a:solidFill>
            <a:srgbClr val="C79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4846320"/>
            <a:ext cx="201168" cy="201168"/>
          </a:xfrm>
          <a:prstGeom prst="ellipse">
            <a:avLst/>
          </a:prstGeom>
          <a:solidFill>
            <a:srgbClr val="C79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4389120"/>
            <a:ext cx="201168" cy="201168"/>
          </a:xfrm>
          <a:prstGeom prst="ellipse">
            <a:avLst/>
          </a:prstGeom>
          <a:solidFill>
            <a:srgbClr val="C79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5074920"/>
            <a:ext cx="201168" cy="201168"/>
          </a:xfrm>
          <a:prstGeom prst="ellipse">
            <a:avLst/>
          </a:prstGeom>
          <a:solidFill>
            <a:srgbClr val="C79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5257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표본끼리 자연스럽게 뭉친 3개의 그룹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사용하는 데이터: Iris(붓꽃)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scikit-learn에 내장된, 결측치·이상치 없는 정제된 벤치마크 데이터셋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표본 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9202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5468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피처 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19202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품종 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19202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0개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4964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학습에 사용한 정답 라벨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피처 4개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sepal_length (꽃받침 길이)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sepal_width (꽃받침 너비)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petal_length (꽃잎 길이)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petal_width (꽃잎 너비)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품종(target) 3종 — 각 50건씩 균등 분포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388620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· 50건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4343400"/>
            <a:ext cx="182880" cy="18288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· 50건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4800600"/>
            <a:ext cx="182880" cy="182880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 · 50건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정답 없이 어떻게 품질을 판단할까?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Accuracy는 쓸 수 없다 — 군집 번호는 실제 품종과 애초에 대응 관계가 없기 때문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실루엣 계수 (Silhouette Score)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
</a:t>
            </a:r>
            <a:r>
              <a:rPr lang="en-US" sz="1050" dirty="0">
                <a:solidFill>
                  <a:srgbClr val="829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정답 라벨 없이, 피처 데이터와
# 모델이 매긴 군집 번호만으로 계산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silhouette_score(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iris.data, cluster_labels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06440" y="22860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표본이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①자기 군집 안에서 얼마나 뭉쳐 있는지(응집도)와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②다른 군집과 얼마나 떨어져 있는지(분리도)를 함께 반영한 지표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3566160"/>
            <a:ext cx="539496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(군집이 잘못됨)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(경계 모호)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(군집이 뚜렷함)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FDF3E0"/>
          </a:solidFill>
          <a:ln w="9525">
            <a:solidFill>
              <a:srgbClr val="F0DC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3484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계수가 높다고 실제 정답과 가장 잘 맞는 모델이라는 보장은 없습니다 (§06에서 확인)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 검증 · 추가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실루엣 1위가 실제로도 1등일까?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정답(target)이 있을 때만 계산 가능한 '진짜 채점' 지표 — ARI · NMI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87452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20116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(Adjusted Rand Index)  </a:t>
            </a: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군집 결과와 실제 정답이 얼마나 일치하는지. 우연히 맞을 때 0, 완전 일치 1.
</a:t>
            </a:r>
            <a:r>
              <a:rPr lang="en-US" sz="11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(Normalized Mutual Info)  </a:t>
            </a: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분류 체계가 공유하는 정보량을 0~1로 정규화한 값.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3429000"/>
            <a:ext cx="4937760" cy="1234440"/>
          </a:xfrm>
          <a:prstGeom prst="roundRect">
            <a:avLst>
              <a:gd name="adj" fmla="val 7407"/>
            </a:avLst>
          </a:prstGeom>
          <a:solidFill>
            <a:srgbClr val="FDF3E0"/>
          </a:solidFill>
          <a:ln w="9525">
            <a:solidFill>
              <a:srgbClr val="F0DC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3520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역전!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5160" y="3840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3위(0.5012)였던 GMM이 ARI(0.9039)·NMI(0.8997)에서는 압도적 1위입니다. 정답 기준으로는 GMM이 가장 우수한 모델이었습니다.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80060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4800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ARI·NMI는 정답 라벨이 있어야만 계산 가능 — 정답이 없는 실무에서는 여전히 실루엣 계수가 기본 지표입니다.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5486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adjusted_rand_score, normalized_mutual_info_score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58064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= adjusted_rand_score(y_true, cluster_labels)   # y_true = 실제 정답(target)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거리 기반 군집화 알고리즘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표본을 가장 가까운 중심점(centroid)에 할당하는 방식. 군집을 대표하는 중심점을 반복적으로 갱신하며 원형(구형)에 가까운 군집을 잘 찾아낸다.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 = KMeans(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n_clusters=3,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init='k-means++',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max_iter=300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0304F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30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사전에 K값 지정이 필수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세분화처럼 '몇 개의 그룹으로 나눌지'가 이미 정해져 있고, 그룹들이 뭉쳐 있는 형태를 가정할 수 있을 때 적합하다.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(군집 개수)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2423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97180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971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GMM (Gaussian Mixture Model)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기반의 '연성(soft)' 군집화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여러 개의 가우시안(정규분포) 혼합에서 생성됐다고 가정. K-Means처럼 딱 잘라 배정하지 않고, 각 표본이 어느 분포에 속할 확률이 가장 높은지 계산해 배정한다.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C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gmm = GaussianMixture(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C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n_components=3,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C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C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0304F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숫자는 지정하되 소속은 확률로 판단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경계가 명확하지 않고 그룹 간 경계가 겹칠 수 있을 때, '얼마나 확실하게' 그 그룹에 속하는지까지 알고 싶을 때 적합하다.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n_components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(분포 개수)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할당 방식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2423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기반 (soft)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기반, 군집 개수를 스스로 찾는 알고리즘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반경(eps) 안에 최소 표본 수(min_samples) 이상이 모여 있어야 하나의 군집으로 인정하는 밀도 기반 알고리즘. 군집 개수를 미리 정하지 않고, 어디에도 속하지 못한 표본은 노이즈(-1)로 남긴다.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 = DBSCAN(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2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eps=0.6,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2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min_samples=8,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2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metric='euclidean'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2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516636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20304F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30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지정하지 않음 + 이상치(노이즈) 탐지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군집의 개수를 모르거나, 모양이 불규칙하거나, 이상치를 걸러내는 것 자체가 중요한 목적일 때 적합하다.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(이웃 반경)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2423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(최소 이웃 수)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공정한 비교를 위한 조건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모델 모두 동일한 4개 피처를 입력받고, Train/Test 분할 없이 전체 150건을 그대로 사용합니다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데이터 로드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(Iris, 150건)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38528" y="2011680"/>
            <a:ext cx="109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29968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K-Means 학습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(n_clusters=3)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11296" y="2011680"/>
            <a:ext cx="109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02736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GMM 학습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(n_components=3)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4064" y="2011680"/>
            <a:ext cx="109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75504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DBSCAN 학습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(eps=0.6)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56832" y="2011680"/>
            <a:ext cx="109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48272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비교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2011680"/>
            <a:ext cx="109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실루엣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계수 계산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02368" y="2011680"/>
            <a:ext cx="109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93808" y="20116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201168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PCA 2D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분할이 필요 없는 이유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10378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9829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지도학습은 학습에 쓰지 않은 데이터로 '얼마나 잘 맞히는지' 검증해야 하지만, 군집화는 애초에 맞혀야 할 정답을 학습에 쓰지 않는다.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비지도학습에서 fit 자체가 곧 전체 데이터에 대한 군집 배정이므로, 검증용으로 따로 떼어둘 이유가 없다.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실루엣 계수 비교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모델 모두 동일한 데이터·피처로 계산한 공정한 지표입니다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202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92024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1위 (0.5512)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0" y="2377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내 거리를 최소화하도록 학습하므로, 같은 원리로 계산되는 실루엣 계수에서 구조적으로 유리하다.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20840" y="329184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2위 (0.5421)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3749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지정받지 않고도 K-Means에 근접한 점수를 기록했다.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466344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3위 (0.5012)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5120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점수는 가장 낮지만, 다음 슬라이드의 실제 품종 비교에서는 다른 결과를 보인다.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품종과 비교하면?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setosa는 세 모델 모두 완벽 분리, versicolor·virginica는 경계에서 겹침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378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6" name="Image 0" descr="/home/claude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1001268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4632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= 각 모델이 매긴 군집 번호 (PCA 2차원으로 축소해 시각화)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525780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193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모델 모두 100% 분리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77640" y="5257800"/>
            <a:ext cx="182880" cy="18288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5193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77640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45건, K-Means 47건 정분류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0" y="5257800"/>
            <a:ext cx="182880" cy="182880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5193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98080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50건(100%) 정분류 — 최고 기록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③ · 뜻밖의 발견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DBSCAN이 알려준 뜻밖의 사실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미리 정하지 않는다는 것의 실제 의미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150건 중 13건을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노이즈(-1)로 분류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77640" y="2011680"/>
            <a:ext cx="6858000" cy="160020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1488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DBSCAN은 target=1(versicolor)과 target=2(virginica) 표본 대부분을 같은 '군집 1'로 묶었다 — eps=0.6 기준에서는 두 품종 사이의 밀도가 하나로 이어져 있다고 판단한 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77640" y="3749040"/>
            <a:ext cx="6858000" cy="1645920"/>
          </a:xfrm>
          <a:prstGeom prst="roundRect">
            <a:avLst>
              <a:gd name="adj" fmla="val 555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38862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K-Means·GMM은 '3개로 나누라'는 지시를 따라 억지로 경계를 만들지만, DBSCAN은 데이터의 밀도 구조상 실질적으로 2개의 뭉치(+노이즈)만 존재한다고 있는 그대로 보여준다.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10378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개념은 K-Means·GMM에는 없다 — 애매한 경계의 표본을 억지로 특정 군집에 밀어넣지 않는다는 DBSCAN만의 특성이다.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· 하이퍼파라미터 선택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n_clusters=3, 어떻게 알고 정했을까?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정답을 모른다 — Elbow Method와 실루엣 곡선으로 K를 추정한다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349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943600" y="1874520"/>
          <a:ext cx="5349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89204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FDF3E0"/>
          </a:solidFill>
          <a:ln w="9525">
            <a:solidFill>
              <a:srgbClr val="F0DCA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983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계수만 보면 함정에 빠진다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53035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K=2의 실루엣 점수(0.681)가 K=3(0.551)보다 오히려 높습니다. 실루엣 계수만 보고 K를 정하면 실제 품종 수(3)를 놓칠 수 있습니다 — Elbow 곡선이 완만해지는 지점과 도메인 지식(예: '품종은 몇 종류일 것 같다')을 함께 봐야 합니다.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주의사항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Iris는 운이 좋았다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단위가 다르면 거리 기반 알고리즘(K-Means 등)의 결과가 왜곡된다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16636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원본 스케일 (이번 분석)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   0.5512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              0.7163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피처가 모두 cm 단위라 크기가 비슷함 — 스케일링 없이도 왜곡이 적었다.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65960"/>
            <a:ext cx="516636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1031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표준화(StandardScaler) 적용 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5603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   0.4599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              0.6201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3429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오히려 점수가 낮아짐 — Iris는 원래도 균형 잡힌 데이터라 표준화 효과가 작다.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0561320" cy="1691640"/>
          </a:xfrm>
          <a:prstGeom prst="roundRect">
            <a:avLst>
              <a:gd name="adj" fmla="val 5405"/>
            </a:avLst>
          </a:prstGeom>
          <a:solidFill>
            <a:srgbClr val="20304F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709160"/>
            <a:ext cx="10104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피처별 분산 차이가 크다면 이야기는 달라진다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029200"/>
            <a:ext cx="10104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데이터에서도 petal_length의 분산(3.10)은 sepal_width(0.19)의 약 16배입니다. 실무 데이터(예: 나이 vs 연소득처럼 단위 자체가 다른 피처)는 이 차이가 훨씬 커서, 스케일링을 생략하면 분산이 큰 피처가 거리 계산을 그대로 지배해버립니다. 피처 단위가 다르면 StandardScaler·MinMaxScaler 적용을 기본으로 검토하세요.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어떤 모델을 쓸까?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'어떤 모델이 최고인가'가 아니라 '내 상황에 어떤 모델이 맞는가'입니다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401568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4015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상황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알고 있고,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군집이 둥근 형태일 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41648" y="1965960"/>
            <a:ext cx="3401568" cy="548640"/>
          </a:xfrm>
          <a:prstGeom prst="roundRect">
            <a:avLst>
              <a:gd name="adj" fmla="val 16667"/>
            </a:avLst>
          </a:prstGeom>
          <a:solidFill>
            <a:srgbClr val="442C5B"/>
          </a:solidFill>
          <a:ln w="9525">
            <a:solidFill>
              <a:srgbClr val="442C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96596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41648" y="2651760"/>
            <a:ext cx="34015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78892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상황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70248" y="306324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알고 있고,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 확률까지 알고 싶을 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6096" y="1965960"/>
            <a:ext cx="3401568" cy="548640"/>
          </a:xfrm>
          <a:prstGeom prst="roundRect">
            <a:avLst>
              <a:gd name="adj" fmla="val 16667"/>
            </a:avLst>
          </a:prstGeom>
          <a:solidFill>
            <a:srgbClr val="C79A2E"/>
          </a:solidFill>
          <a:ln w="9525">
            <a:solidFill>
              <a:srgbClr val="C79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196596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6096" y="2651760"/>
            <a:ext cx="34015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54696" y="278892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상황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54696" y="306324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모르거나,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이상치(노이즈)를 걸러야 할 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0378440" cy="1051560"/>
          </a:xfrm>
          <a:prstGeom prst="roundRect">
            <a:avLst>
              <a:gd name="adj" fmla="val 8696"/>
            </a:avLst>
          </a:prstGeom>
          <a:solidFill>
            <a:srgbClr val="142038"/>
          </a:solidFill>
          <a:ln w="9525">
            <a:solidFill>
              <a:srgbClr val="1420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“어떤 모델이 가장 좋은가”보다 “어떤 상황에 어떤 모델이 맞는가”가 더 중요한 질문입니다.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실습 전, 스스로 답해보기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개념을 다른 데이터에 적용하기 전 점검할 4가지 질문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eps를 0.6 → 0.4로 바꾸면 노이즈 비율은 어떻게 될까?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파라미터 민감도를 직접 확인해봅니다.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240280"/>
            <a:ext cx="502920" cy="5029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1945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K-Means에 표준화(StandardScaler)를 적용하면?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§17에서 배운 스케일링 효과를 직접 검증해봅니다.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정답 라벨이 없는 데이터라면, K는 어떻게 정할까?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§16의 Elbow Method + 실루엣 곡선을 함께 적용해봅니다.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9525">
            <a:solidFill>
              <a:srgbClr val="2C3E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480560"/>
            <a:ext cx="502920" cy="502920"/>
          </a:xfrm>
          <a:prstGeom prst="ellipse">
            <a:avLst/>
          </a:prstGeom>
          <a:solidFill>
            <a:srgbClr val="6E8CC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44348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내가 다루는 실무 데이터라면 어떤 모델이 맞을까?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17920" y="52578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§18의 정리표를 내 데이터의 특성에 대입해봅니다.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있으신가요?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0233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502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4023360"/>
            <a:ext cx="201168" cy="201168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9502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4023360"/>
            <a:ext cx="201168" cy="20116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9502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2173</Words>
  <Application>Microsoft Office PowerPoint</Application>
  <PresentationFormat>와이드스크린</PresentationFormat>
  <Paragraphs>326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1</cp:revision>
  <dcterms:created xsi:type="dcterms:W3CDTF">2026-08-31T06:31:53Z</dcterms:created>
  <dcterms:modified xsi:type="dcterms:W3CDTF">2026-08-31T09:37:38Z</dcterms:modified>
</cp:coreProperties>
</file>