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7AC-4E47-B9C8-8D028B551D12}"/>
              </c:ext>
            </c:extLst>
          </c:dPt>
          <c:dPt>
            <c:idx val="1"/>
            <c:invertIfNegative val="0"/>
            <c:bubble3D val="0"/>
            <c:spPr>
              <a:solidFill>
                <a:srgbClr val="C7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AC-4E47-B9C8-8D028B551D12}"/>
              </c:ext>
            </c:extLst>
          </c:dPt>
          <c:dPt>
            <c:idx val="2"/>
            <c:invertIfNegative val="0"/>
            <c:bubble3D val="0"/>
            <c:spPr>
              <a:solidFill>
                <a:srgbClr val="442C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7AC-4E47-B9C8-8D028B551D12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20293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K-Means</c:v>
                </c:pt>
                <c:pt idx="1">
                  <c:v>DBSCAN</c:v>
                </c:pt>
                <c:pt idx="2">
                  <c:v>GMM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0.55120000000000002</c:v>
                </c:pt>
                <c:pt idx="1">
                  <c:v>0.54210000000000003</c:v>
                </c:pt>
                <c:pt idx="2">
                  <c:v>0.50119999999999998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AC-4E47-B9C8-8D028B551D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2029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706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2038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4203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CASE STUDY · 비지도학습 실습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군집화 모델 3종 비교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GMM · DBSCAN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493008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정답이 알려진 Iris(붓꽃) 데이터셋으로, 정답 없이 학습하는 세 가지 군집화 알고리즘의 결과를 비교합니다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243584" y="50292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71800" y="5074920"/>
            <a:ext cx="310896" cy="310896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11" name="Text 9"/>
          <p:cNvSpPr/>
          <p:nvPr/>
        </p:nvSpPr>
        <p:spPr>
          <a:xfrm>
            <a:off x="3392424" y="50292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20640" y="5074920"/>
            <a:ext cx="310896" cy="3108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3" name="Text 11"/>
          <p:cNvSpPr/>
          <p:nvPr/>
        </p:nvSpPr>
        <p:spPr>
          <a:xfrm>
            <a:off x="5541264" y="50292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2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빅데이터 학원 학생 · 지도 선생님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결론, 먼저 보여드립니다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모델을 같은 데이터·같은 조건으로 비교했을 때 드러난 4가지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148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11226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1등이 곧 정답은 아니다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788920"/>
            <a:ext cx="4443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실루엣 계수 1위는 K-Means(0.5512)였지만, 실제 정답과 가장 잘 맞은 모델은 아니었습니다.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0" y="1874520"/>
            <a:ext cx="502920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6236208" y="2148840"/>
            <a:ext cx="502920" cy="502920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12" name="Text 10"/>
          <p:cNvSpPr/>
          <p:nvPr/>
        </p:nvSpPr>
        <p:spPr>
          <a:xfrm>
            <a:off x="623620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03720" y="211226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virginica는 GMM이 완벽 분리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36208" y="2788920"/>
            <a:ext cx="4443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품종별 교차 비교에서 GMM이 virginica(target=2)를 100% 정확히 맞혔습니다.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02920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4434840"/>
            <a:ext cx="502920" cy="502920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39826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DBSCAN은 억지로 나누지 않는다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5074920"/>
            <a:ext cx="4443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3개로 나누라는 지시 없이, 데이터가 보여주는 대로 2개 군집 + 노이즈 8.7%를 찾아냈습니다.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4160520"/>
            <a:ext cx="502920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6208" y="44348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236208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03720" y="439826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'최고의 모델'은 없다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36208" y="5074920"/>
            <a:ext cx="4443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 질문은 '어떤 모델이 최고인가'가 아니라 '내 상황에 어떤 모델이 맞는가'입니다.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분야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군집화는 어디에 쓰일까?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라벨이 없는 현실 데이터에서 '숨은 그룹'을 찾아내는 기술입니다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319272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5798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77440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세분화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761488"/>
            <a:ext cx="2807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패턴이 비슷한 고객끼리 묶어 맞춤 마케팅에 활용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96512" y="1920240"/>
            <a:ext cx="3319272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352544" y="2157984"/>
            <a:ext cx="146304" cy="146304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11" name="Text 9"/>
          <p:cNvSpPr/>
          <p:nvPr/>
        </p:nvSpPr>
        <p:spPr>
          <a:xfrm>
            <a:off x="4352544" y="2377440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거래 탐지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352544" y="2761488"/>
            <a:ext cx="2807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패턴 군집에서 벗어난 거래를 이상 신호로 포착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44384" y="1920240"/>
            <a:ext cx="3319272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0416" y="2157984"/>
            <a:ext cx="146304" cy="146304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15" name="Text 13"/>
          <p:cNvSpPr/>
          <p:nvPr/>
        </p:nvSpPr>
        <p:spPr>
          <a:xfrm>
            <a:off x="7900416" y="2377440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이미지·색상 압축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900416" y="2761488"/>
            <a:ext cx="2807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색상의 픽셀을 묶어 이미지 용량을 줄임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319272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426110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480560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문서·뉴스 토픽 분류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4864608"/>
            <a:ext cx="2807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주제의 글을 자동으로 그룹화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96512" y="4023360"/>
            <a:ext cx="3319272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4261104"/>
            <a:ext cx="146304" cy="146304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23" name="Text 21"/>
          <p:cNvSpPr/>
          <p:nvPr/>
        </p:nvSpPr>
        <p:spPr>
          <a:xfrm>
            <a:off x="4352544" y="4480560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유전자 발현 분석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352544" y="4864608"/>
            <a:ext cx="2807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발현 패턴의 유전자를 묶어 연구에 활용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44384" y="4023360"/>
            <a:ext cx="3319272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7900416" y="4261104"/>
            <a:ext cx="146304" cy="146304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27" name="Text 25"/>
          <p:cNvSpPr/>
          <p:nvPr/>
        </p:nvSpPr>
        <p:spPr>
          <a:xfrm>
            <a:off x="7900416" y="4480560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시스템 사전 작업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900416" y="4864608"/>
            <a:ext cx="2807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취향이 비슷한 사용자군을 나눠 추천의 출발점으로 활용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이유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굳이 '정답 없이' 학습할까?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지도학습(분류)과 비지도학습(군집화)은 애초에 풀려는 문제가 다릅니다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지도학습 (Classification)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862072"/>
            <a:ext cx="82296" cy="82296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26517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학습에 정답(label)이 반드시 필요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483864"/>
            <a:ext cx="82296" cy="82296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2735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예측값과 정답을 비교해 Accuracy로 검증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105656"/>
            <a:ext cx="82296" cy="82296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89534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실무에서는 정답을 이미 다 알고 있어야 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97880" y="187452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1488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비지도학습 (Clustering)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17920" y="2862072"/>
            <a:ext cx="82296" cy="822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26517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없이 데이터 구조(거리·밀도)만으로 그룹화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483864"/>
            <a:ext cx="82296" cy="822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32735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실루엣 계수 등 자체 지표로 품질을 판단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105656"/>
            <a:ext cx="82296" cy="822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389534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데이터는 대부분 애초에 정답이 없음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39512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EAF4F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239512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실습은 정답(품종)이 있는 Iris 데이터로, '정답 없이 학습한 결과가 실제 정답과 얼마나 비슷한지' 사후 검증하는 특별한 사례입니다.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군집화(Clustering)란?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라벨 없이, 데이터의 구조(거리·밀도)만 보고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표본끼리 그룹으로 묶는 것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5478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337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번호(0,1,2 ...)는 순서 그 자체에 의미가 없음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0448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'몇 개의 군집'을 정할지도 알고리즘마다 다르게 접근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68172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4714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비슷함의 기준은 거리(K-Means·GMM) 또는 밀도(DBSCAN)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74520"/>
            <a:ext cx="484632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148840"/>
            <a:ext cx="1737360" cy="1554480"/>
          </a:xfrm>
          <a:prstGeom prst="ellipse">
            <a:avLst/>
          </a:prstGeom>
          <a:solidFill>
            <a:srgbClr val="1C7293">
              <a:alpha val="18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35927" y="2615716"/>
            <a:ext cx="146304" cy="1463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7129" y="2798661"/>
            <a:ext cx="146304" cy="1463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54898" y="2655358"/>
            <a:ext cx="146304" cy="1463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4160" y="2849593"/>
            <a:ext cx="146304" cy="1463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4184" y="2907232"/>
            <a:ext cx="146304" cy="1463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8509" y="3166943"/>
            <a:ext cx="146304" cy="1463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75899" y="3073311"/>
            <a:ext cx="146304" cy="1463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07305" y="2396043"/>
            <a:ext cx="146304" cy="1463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63546" y="3180687"/>
            <a:ext cx="146304" cy="1463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23960" y="2423160"/>
            <a:ext cx="1828800" cy="1737360"/>
          </a:xfrm>
          <a:prstGeom prst="ellipse">
            <a:avLst/>
          </a:prstGeom>
          <a:solidFill>
            <a:srgbClr val="442C5B">
              <a:alpha val="18000"/>
            </a:srgbClr>
          </a:solidFill>
          <a:ln w="19050">
            <a:solidFill>
              <a:srgbClr val="442C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43959" y="3809573"/>
            <a:ext cx="146304" cy="146304"/>
          </a:xfrm>
          <a:prstGeom prst="ellipse">
            <a:avLst/>
          </a:prstGeom>
          <a:solidFill>
            <a:srgbClr val="442C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60736" y="2784995"/>
            <a:ext cx="146304" cy="146304"/>
          </a:xfrm>
          <a:prstGeom prst="ellipse">
            <a:avLst/>
          </a:prstGeom>
          <a:solidFill>
            <a:srgbClr val="442C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65568" y="3624024"/>
            <a:ext cx="146304" cy="146304"/>
          </a:xfrm>
          <a:prstGeom prst="ellipse">
            <a:avLst/>
          </a:prstGeom>
          <a:solidFill>
            <a:srgbClr val="442C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19789" y="3070945"/>
            <a:ext cx="146304" cy="146304"/>
          </a:xfrm>
          <a:prstGeom prst="ellipse">
            <a:avLst/>
          </a:prstGeom>
          <a:solidFill>
            <a:srgbClr val="442C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53133" y="3085510"/>
            <a:ext cx="146304" cy="146304"/>
          </a:xfrm>
          <a:prstGeom prst="ellipse">
            <a:avLst/>
          </a:prstGeom>
          <a:solidFill>
            <a:srgbClr val="442C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01332" y="3730935"/>
            <a:ext cx="146304" cy="146304"/>
          </a:xfrm>
          <a:prstGeom prst="ellipse">
            <a:avLst/>
          </a:prstGeom>
          <a:solidFill>
            <a:srgbClr val="442C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59319" y="3316145"/>
            <a:ext cx="146304" cy="146304"/>
          </a:xfrm>
          <a:prstGeom prst="ellipse">
            <a:avLst/>
          </a:prstGeom>
          <a:solidFill>
            <a:srgbClr val="442C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61230" y="3231931"/>
            <a:ext cx="146304" cy="146304"/>
          </a:xfrm>
          <a:prstGeom prst="ellipse">
            <a:avLst/>
          </a:prstGeom>
          <a:solidFill>
            <a:srgbClr val="442C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62395" y="3399272"/>
            <a:ext cx="146304" cy="146304"/>
          </a:xfrm>
          <a:prstGeom prst="ellipse">
            <a:avLst/>
          </a:prstGeom>
          <a:solidFill>
            <a:srgbClr val="442C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04950" y="3691731"/>
            <a:ext cx="146304" cy="146304"/>
          </a:xfrm>
          <a:prstGeom prst="ellipse">
            <a:avLst/>
          </a:prstGeom>
          <a:solidFill>
            <a:srgbClr val="442C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4229100"/>
            <a:ext cx="1920240" cy="1417320"/>
          </a:xfrm>
          <a:prstGeom prst="ellipse">
            <a:avLst/>
          </a:prstGeom>
          <a:solidFill>
            <a:srgbClr val="C79A2E">
              <a:alpha val="18000"/>
            </a:srgbClr>
          </a:solidFill>
          <a:ln w="19050">
            <a:solidFill>
              <a:srgbClr val="C79A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89227" y="4710715"/>
            <a:ext cx="146304" cy="146304"/>
          </a:xfrm>
          <a:prstGeom prst="ellipse">
            <a:avLst/>
          </a:prstGeom>
          <a:solidFill>
            <a:srgbClr val="C79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88095" y="4701883"/>
            <a:ext cx="146304" cy="146304"/>
          </a:xfrm>
          <a:prstGeom prst="ellipse">
            <a:avLst/>
          </a:prstGeom>
          <a:solidFill>
            <a:srgbClr val="C79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28639" y="4834303"/>
            <a:ext cx="146304" cy="146304"/>
          </a:xfrm>
          <a:prstGeom prst="ellipse">
            <a:avLst/>
          </a:prstGeom>
          <a:solidFill>
            <a:srgbClr val="C79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28442" y="5368748"/>
            <a:ext cx="146304" cy="146304"/>
          </a:xfrm>
          <a:prstGeom prst="ellipse">
            <a:avLst/>
          </a:prstGeom>
          <a:solidFill>
            <a:srgbClr val="C79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39540" y="4610192"/>
            <a:ext cx="146304" cy="146304"/>
          </a:xfrm>
          <a:prstGeom prst="ellipse">
            <a:avLst/>
          </a:prstGeom>
          <a:solidFill>
            <a:srgbClr val="C79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83462" y="5415289"/>
            <a:ext cx="146304" cy="146304"/>
          </a:xfrm>
          <a:prstGeom prst="ellipse">
            <a:avLst/>
          </a:prstGeom>
          <a:solidFill>
            <a:srgbClr val="C79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28990" y="5057771"/>
            <a:ext cx="146304" cy="146304"/>
          </a:xfrm>
          <a:prstGeom prst="ellipse">
            <a:avLst/>
          </a:prstGeom>
          <a:solidFill>
            <a:srgbClr val="C79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51839" y="4936332"/>
            <a:ext cx="146304" cy="146304"/>
          </a:xfrm>
          <a:prstGeom prst="ellipse">
            <a:avLst/>
          </a:prstGeom>
          <a:solidFill>
            <a:srgbClr val="C79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00099" y="4600545"/>
            <a:ext cx="146304" cy="146304"/>
          </a:xfrm>
          <a:prstGeom prst="ellipse">
            <a:avLst/>
          </a:prstGeom>
          <a:solidFill>
            <a:srgbClr val="C79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5623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표본끼리 자연스럽게 뭉친 3개의 그룹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데이터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사용하는 데이터: Iris(붓꽃)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scikit-learn에 내장된, 결측치·이상치 없는 정제된 벤치마크 데이터셋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48256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표본 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18688" y="192024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3218688" y="2048256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4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18688" y="285292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피처 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88736" y="192024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5888736" y="2048256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888736" y="285292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품종 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58784" y="192024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8558784" y="2048256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0개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558784" y="285292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학습에 사용한 정답 라벨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피처 4개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sepal_length (꽃받침 길이)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63240" y="41148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264408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sepal_width (꽃받침 너비)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49884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4074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petal_length (꽃잎 길이)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63240" y="449884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3264408" y="44074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petal_width (꽃잎 너비)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26480" y="3657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품종(target) 3종 — 각 50건씩 균등 분포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414223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· 50건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4526280"/>
            <a:ext cx="128016" cy="128016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4453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 · 50건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4910328"/>
            <a:ext cx="128016" cy="128016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48371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 · 50건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정답 없이 어떻게 품질을 판단할까?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Accuracy는 쓸 수 없다 — 군집 번호는 실제 품종과 애초에 대응 관계가 없기 때문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실루엣 계수 (Silhouette Score)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</a:t>
            </a:r>
            <a:r>
              <a:rPr lang="en-US" sz="130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표본이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①자기 군집 안에서 얼마나 뭉쳐 있는지(응집도)와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②다른 군집과 얼마나 떨어져 있는지(분리도)를 함께 반영한 지표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F0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37560"/>
            <a:ext cx="1920240" cy="411480"/>
          </a:xfrm>
          <a:prstGeom prst="rect">
            <a:avLst/>
          </a:prstGeom>
          <a:solidFill>
            <a:srgbClr val="D9788D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3337560"/>
            <a:ext cx="1645920" cy="411480"/>
          </a:xfrm>
          <a:prstGeom prst="rect">
            <a:avLst/>
          </a:prstGeom>
          <a:solidFill>
            <a:srgbClr val="EAD37B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3337560"/>
            <a:ext cx="1920240" cy="411480"/>
          </a:xfrm>
          <a:prstGeom prst="rect">
            <a:avLst/>
          </a:prstGeom>
          <a:solidFill>
            <a:srgbClr val="6FB89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 (군집이 잘못됨)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(경계 모호)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 (군집이 뚜렷함)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EA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06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실루엣 계수가 높다고 실제 정답과 가장 잘 맞는 모델이라는 보장은 없습니다 (§06에서 확인)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187452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130552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
</a:t>
            </a:r>
            <a:r>
              <a:rPr lang="en-US" sz="1250" i="1" dirty="0">
                <a:solidFill>
                  <a:srgbClr val="7C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정답 라벨 없이, 피처 데이터와
# 모델이 매긴 군집 번호만으로 계산
</a:t>
            </a:r>
            <a:r>
              <a:rPr lang="en-US" sz="12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silhouette_score(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iris.data, cluster_labels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널리 쓰이는 거리 기반 군집화 알고리즘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19659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표본을 가장 가까운 중심점(centroid)에 할당하는 방식. 군집을 대표하는 중심점을 반복적으로 </a:t>
            </a:r>
            <a:r>
              <a:rPr lang="en-US" sz="1350" dirty="0" err="1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갱신하며</a:t>
            </a:r>
            <a:r>
              <a:rPr lang="en-US" sz="135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 err="1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원형</a:t>
            </a:r>
            <a:r>
              <a:rPr lang="en-US" sz="135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(구형)에 가까운 군집을 잘 찾아낸다.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874520" y="3383280"/>
            <a:ext cx="4572000" cy="502920"/>
          </a:xfrm>
          <a:prstGeom prst="roundRect">
            <a:avLst>
              <a:gd name="adj" fmla="val 50909"/>
            </a:avLst>
          </a:prstGeom>
          <a:solidFill>
            <a:srgbClr val="EAF4F4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3383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군집 개수(K)를 미리 지정해야 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세분화처럼 '몇 개의 그룹으로 나눌지'가 이미 정해져 있고,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그룹들이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뭉쳐 있는 형태를 가정할 수 있을 때 적합하다.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1965960"/>
            <a:ext cx="4892040" cy="3931920"/>
          </a:xfrm>
          <a:prstGeom prst="roundRect">
            <a:avLst>
              <a:gd name="adj" fmla="val 1395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16712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95160" y="251460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 = KMeans(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n_clusters=3,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init='k-means++',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max_iter=300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3931920"/>
            <a:ext cx="4343400" cy="0"/>
          </a:xfrm>
          <a:prstGeom prst="line">
            <a:avLst/>
          </a:prstGeom>
          <a:noFill/>
          <a:ln w="12700">
            <a:solidFill>
              <a:srgbClr val="2E3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n_clusters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23960" y="41605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(군집 개수)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995160" y="4617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23960" y="46177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95160" y="50749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823960" y="50749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GMM (Gaussian Mixture Model)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 기반의 '연성(soft)' 군집화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" cy="1051560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19659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여러 개의 가우시안(정규분포) 혼합에서 생성됐다고 가정. K-Means처럼 딱 잘라 배정하지 않고, 각 표본이 어느 분포에 속할 확률이 가장 높은지 계산해 배정한다.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874520" y="3383280"/>
            <a:ext cx="4572000" cy="502920"/>
          </a:xfrm>
          <a:prstGeom prst="roundRect">
            <a:avLst>
              <a:gd name="adj" fmla="val 50909"/>
            </a:avLst>
          </a:prstGeom>
          <a:solidFill>
            <a:srgbClr val="EFE7F1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3383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개수는 지정하지만, 소속은 확률로 계산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경계가 명확하지 않고 그룹 간 경계가 겹칠 수 있을 때,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'얼마나 확실하게' 그 그룹에 속하는지까지 알고 싶을 때 적합하다.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1965960"/>
            <a:ext cx="4892040" cy="3931920"/>
          </a:xfrm>
          <a:prstGeom prst="roundRect">
            <a:avLst>
              <a:gd name="adj" fmla="val 1395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16712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95160" y="251460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gmm = GaussianMixture(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n_components=3,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3931920"/>
            <a:ext cx="4343400" cy="0"/>
          </a:xfrm>
          <a:prstGeom prst="line">
            <a:avLst/>
          </a:prstGeom>
          <a:noFill/>
          <a:ln w="12700">
            <a:solidFill>
              <a:srgbClr val="2E3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n_components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23960" y="41605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(분포 개수)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995160" y="4617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할당 방식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23960" y="46177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 기반 (soft)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밀도 기반, 군집 개수를 스스로 찾는 알고리즘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" cy="1051560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19659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반경(eps) 안에 최소 표본 수(min_samples) 이상이 모여 있어야 하나의 군집으로 인정하는 밀도 기반 알고리즘. 군집 개수를 미리 정하지 않고, 어디에도 속하지 못한 표본은 노이즈(-1)로 남긴다.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874520" y="3383280"/>
            <a:ext cx="4572000" cy="502920"/>
          </a:xfrm>
          <a:prstGeom prst="roundRect">
            <a:avLst>
              <a:gd name="adj" fmla="val 50909"/>
            </a:avLst>
          </a:prstGeom>
          <a:solidFill>
            <a:srgbClr val="FBF1DA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3383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지정하지 않음 + 이상치(노이즈) 탐지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군집의 개수를 모르거나, 모양이 불규칙하거나, 이상치를 걸러내는 것 자체가 중요한 목적일 때 적합하다.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1965960"/>
            <a:ext cx="4892040" cy="3931920"/>
          </a:xfrm>
          <a:prstGeom prst="roundRect">
            <a:avLst>
              <a:gd name="adj" fmla="val 1395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16712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95160" y="251460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dbscan = DBSCAN(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eps=0.6,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min_samples=8,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metric='euclidean'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3931920"/>
            <a:ext cx="4343400" cy="0"/>
          </a:xfrm>
          <a:prstGeom prst="line">
            <a:avLst/>
          </a:prstGeom>
          <a:noFill/>
          <a:ln w="12700">
            <a:solidFill>
              <a:srgbClr val="2E3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23960" y="41605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(이웃 반경)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995160" y="4617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23960" y="46177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(최소 이웃 수)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공정한 비교를 위한 조건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모델 모두 동일한 4개 피처를 입력받고, Train/Test 분할 없이 전체 150건을 그대로 사용합니다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651760"/>
            <a:ext cx="1261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데이터 로드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(Iris, 150건)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01952" y="3186684"/>
            <a:ext cx="121920" cy="164592"/>
          </a:xfrm>
          <a:prstGeom prst="rightArrow">
            <a:avLst/>
          </a:prstGeom>
          <a:solidFill>
            <a:srgbClr val="DCE2EA"/>
          </a:solidFill>
          <a:ln/>
        </p:spPr>
      </p:sp>
      <p:sp>
        <p:nvSpPr>
          <p:cNvPr id="8" name="Shape 6"/>
          <p:cNvSpPr/>
          <p:nvPr/>
        </p:nvSpPr>
        <p:spPr>
          <a:xfrm>
            <a:off x="2060448" y="2651760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EFF2F6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6168" y="2651760"/>
            <a:ext cx="1261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K-Means 학습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(n_clusters=3)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3760" y="3186684"/>
            <a:ext cx="121920" cy="164592"/>
          </a:xfrm>
          <a:prstGeom prst="rightArrow">
            <a:avLst/>
          </a:prstGeom>
          <a:solidFill>
            <a:srgbClr val="DCE2EA"/>
          </a:solidFill>
          <a:ln/>
        </p:spPr>
      </p:sp>
      <p:sp>
        <p:nvSpPr>
          <p:cNvPr id="11" name="Shape 9"/>
          <p:cNvSpPr/>
          <p:nvPr/>
        </p:nvSpPr>
        <p:spPr>
          <a:xfrm>
            <a:off x="3572256" y="2651760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7976" y="2651760"/>
            <a:ext cx="1261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GMM 학습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(n_components=3)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25568" y="3186684"/>
            <a:ext cx="121920" cy="164592"/>
          </a:xfrm>
          <a:prstGeom prst="rightArrow">
            <a:avLst/>
          </a:prstGeom>
          <a:solidFill>
            <a:srgbClr val="DCE2E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84064" y="2651760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EFF2F6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9784" y="2651760"/>
            <a:ext cx="1261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DBSCAN 학습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(eps=0.6)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37376" y="3186684"/>
            <a:ext cx="121920" cy="164592"/>
          </a:xfrm>
          <a:prstGeom prst="rightArrow">
            <a:avLst/>
          </a:prstGeom>
          <a:solidFill>
            <a:srgbClr val="DCE2E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95872" y="2651760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5875">
            <a:solidFill>
              <a:srgbClr val="442C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1592" y="2651760"/>
            <a:ext cx="1261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target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비교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49184" y="3186684"/>
            <a:ext cx="121920" cy="164592"/>
          </a:xfrm>
          <a:prstGeom prst="rightArrow">
            <a:avLst/>
          </a:prstGeom>
          <a:solidFill>
            <a:srgbClr val="DCE2EA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7680" y="2651760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EFF2F6"/>
          </a:solidFill>
          <a:ln w="15875">
            <a:solidFill>
              <a:srgbClr val="442C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3400" y="2651760"/>
            <a:ext cx="1261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실루엣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계수 계산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60992" y="3186684"/>
            <a:ext cx="121920" cy="164592"/>
          </a:xfrm>
          <a:prstGeom prst="rightArrow">
            <a:avLst/>
          </a:prstGeom>
          <a:solidFill>
            <a:srgbClr val="DCE2EA"/>
          </a:solidFill>
          <a:ln/>
        </p:spPr>
      </p:sp>
      <p:sp>
        <p:nvSpPr>
          <p:cNvPr id="23" name="Shape 21"/>
          <p:cNvSpPr/>
          <p:nvPr/>
        </p:nvSpPr>
        <p:spPr>
          <a:xfrm>
            <a:off x="9619488" y="2651760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5875">
            <a:solidFill>
              <a:srgbClr val="442C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5208" y="2651760"/>
            <a:ext cx="1261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PCA 2D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042416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6177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분할이 필요 없는 이유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9834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지도학습은 학습에 쓰지 않은 데이터로 '얼마나 잘 맞히는지' 검증해야 하지만, 군집화는 애초에 맞혀야 할 정답을 학습에 쓰지 않는다.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비지도학습에서</a:t>
            </a:r>
            <a:r>
              <a:rPr lang="en-US" sz="120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fit 자체가 곧 전체 데이터에 대한 군집 배정이므로, 검증용으로 따로 떼어둘 이유가 없다.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실루엣 계수 비교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모델 모두 동일한 데이터·피처로 계산한 공정한 지표입니다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828800"/>
          <a:ext cx="6309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828800"/>
            <a:ext cx="4434840" cy="1234440"/>
          </a:xfrm>
          <a:prstGeom prst="roundRect">
            <a:avLst>
              <a:gd name="adj" fmla="val 5185"/>
            </a:avLst>
          </a:prstGeom>
          <a:solidFill>
            <a:srgbClr val="F4F6F9"/>
          </a:solidFill>
          <a:ln/>
        </p:spPr>
      </p:sp>
      <p:sp>
        <p:nvSpPr>
          <p:cNvPr id="7" name="Shape 4"/>
          <p:cNvSpPr/>
          <p:nvPr/>
        </p:nvSpPr>
        <p:spPr>
          <a:xfrm>
            <a:off x="7223760" y="1828800"/>
            <a:ext cx="64008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0" y="195681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1위 (0.5512)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0" y="22860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내 거리를 최소화하도록 학습하므로, 같은 원리로 계산되는 실루엣 계수에서 구조적으로 유리하다.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23760" y="3246120"/>
            <a:ext cx="4434840" cy="1234440"/>
          </a:xfrm>
          <a:prstGeom prst="roundRect">
            <a:avLst>
              <a:gd name="adj" fmla="val 5185"/>
            </a:avLst>
          </a:prstGeom>
          <a:solidFill>
            <a:srgbClr val="F4F6F9"/>
          </a:solidFill>
          <a:ln/>
        </p:spPr>
      </p:sp>
      <p:sp>
        <p:nvSpPr>
          <p:cNvPr id="11" name="Shape 8"/>
          <p:cNvSpPr/>
          <p:nvPr/>
        </p:nvSpPr>
        <p:spPr>
          <a:xfrm>
            <a:off x="7223760" y="3246120"/>
            <a:ext cx="64008" cy="1234440"/>
          </a:xfrm>
          <a:prstGeom prst="rect">
            <a:avLst/>
          </a:prstGeom>
          <a:solidFill>
            <a:srgbClr val="C79A2E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0" y="33741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2위 (0.5421)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98080" y="37033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지정받지 않고도 K-Means에 근접한 점수를 기록했다.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23760" y="4663440"/>
            <a:ext cx="4434840" cy="1234440"/>
          </a:xfrm>
          <a:prstGeom prst="roundRect">
            <a:avLst>
              <a:gd name="adj" fmla="val 5185"/>
            </a:avLst>
          </a:prstGeom>
          <a:solidFill>
            <a:srgbClr val="F4F6F9"/>
          </a:solidFill>
          <a:ln/>
        </p:spPr>
      </p:sp>
      <p:sp>
        <p:nvSpPr>
          <p:cNvPr id="15" name="Shape 12"/>
          <p:cNvSpPr/>
          <p:nvPr/>
        </p:nvSpPr>
        <p:spPr>
          <a:xfrm>
            <a:off x="7223760" y="4663440"/>
            <a:ext cx="64008" cy="1234440"/>
          </a:xfrm>
          <a:prstGeom prst="rect">
            <a:avLst/>
          </a:prstGeom>
          <a:solidFill>
            <a:srgbClr val="442C5B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0" y="47914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3위 (0.5012)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498080" y="51206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점수는 가장 낮지만, 다음 슬라이드의 실제 품종 비교에서는 다른 결과를 보인다.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 품종과 비교하면?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setosa는 세 모델 모두 완벽 분리, versicolor·virginica는 경계에서 겹침</a:t>
            </a:r>
            <a:endParaRPr lang="en-US" sz="1400" dirty="0"/>
          </a:p>
        </p:txBody>
      </p:sp>
      <p:pic>
        <p:nvPicPr>
          <p:cNvPr id="5" name="Image 0" descr="/home/claude/pca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1088136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= 각 모델이 매긴 군집 번호 (PCA 2차원으로 축소해 시각화)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394960"/>
            <a:ext cx="3502152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559612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5522976"/>
            <a:ext cx="2907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5870448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모델 모두 100% 분리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78808" y="5394960"/>
            <a:ext cx="3502152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/>
        </p:spPr>
      </p:sp>
      <p:sp>
        <p:nvSpPr>
          <p:cNvPr id="12" name="Shape 9"/>
          <p:cNvSpPr/>
          <p:nvPr/>
        </p:nvSpPr>
        <p:spPr>
          <a:xfrm>
            <a:off x="4379976" y="5596128"/>
            <a:ext cx="128016" cy="128016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13" name="Text 10"/>
          <p:cNvSpPr/>
          <p:nvPr/>
        </p:nvSpPr>
        <p:spPr>
          <a:xfrm>
            <a:off x="4590288" y="5522976"/>
            <a:ext cx="2907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379976" y="5870448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45건, K-Means 47건 정분류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08976" y="5394960"/>
            <a:ext cx="3502152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/>
        </p:spPr>
      </p:sp>
      <p:sp>
        <p:nvSpPr>
          <p:cNvPr id="16" name="Shape 13"/>
          <p:cNvSpPr/>
          <p:nvPr/>
        </p:nvSpPr>
        <p:spPr>
          <a:xfrm>
            <a:off x="8010144" y="5596128"/>
            <a:ext cx="128016" cy="128016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17" name="Text 14"/>
          <p:cNvSpPr/>
          <p:nvPr/>
        </p:nvSpPr>
        <p:spPr>
          <a:xfrm>
            <a:off x="8220456" y="5522976"/>
            <a:ext cx="2907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10144" y="5870448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50건(100%) 정분류 — 최고 기록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③ · 뜻밖의 발견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DBSCAN이 알려준 뜻밖의 사실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미리 정하지 않는다는 것의 실제 의미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108960" cy="3108960"/>
          </a:xfrm>
          <a:prstGeom prst="ellipse">
            <a:avLst/>
          </a:prstGeom>
          <a:solidFill>
            <a:srgbClr val="142038"/>
          </a:solidFill>
          <a:ln w="25400">
            <a:solidFill>
              <a:srgbClr val="F2C1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150건 중 13건을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노이즈(-1)로 분류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2148840"/>
            <a:ext cx="7223760" cy="1298448"/>
          </a:xfrm>
          <a:prstGeom prst="roundRect">
            <a:avLst>
              <a:gd name="adj" fmla="val 4930"/>
            </a:avLst>
          </a:prstGeom>
          <a:solidFill>
            <a:srgbClr val="142038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48840"/>
            <a:ext cx="67208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DBSCAN은 target=1(versicolor)과 target=2(virginica) 표본 대부분을 같은 '군집 1'로 묶었다 — eps=0.6 기준에서는 두 품종 사이의 밀도가 하나로 이어져 있다고 판단한 것.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3593592"/>
            <a:ext cx="7223760" cy="1298448"/>
          </a:xfrm>
          <a:prstGeom prst="roundRect">
            <a:avLst>
              <a:gd name="adj" fmla="val 4930"/>
            </a:avLst>
          </a:prstGeom>
          <a:solidFill>
            <a:srgbClr val="142038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3593592"/>
            <a:ext cx="67208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K-Means·GMM은 '3개로 나누라'는 지시를 따라 억지로 경계를 만들지만, DBSCAN은 데이터의 밀도 구조상 실질적으로 2개의 뭉치(+노이즈)만 존재한다고 있는 그대로 보여준다.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5038344"/>
            <a:ext cx="7223760" cy="1298448"/>
          </a:xfrm>
          <a:prstGeom prst="roundRect">
            <a:avLst>
              <a:gd name="adj" fmla="val 4930"/>
            </a:avLst>
          </a:prstGeom>
          <a:solidFill>
            <a:srgbClr val="142038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5038344"/>
            <a:ext cx="67208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 개념은 K-Means·GMM에는 없다 — 애매한 경계의 표본을 억지로 특정 군집에 밀어넣지 않는다는 DBSCAN만의 특성이다.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5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언제 어떤 모델을 쓸까?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'어떤 모델이 최고인가'가 아니라 '내 상황에 어떤 모델이 맞는가'입니다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319272" cy="2834640"/>
          </a:xfrm>
          <a:prstGeom prst="roundRect">
            <a:avLst>
              <a:gd name="adj" fmla="val 2903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319272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3319272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288036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상황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3200400"/>
            <a:ext cx="28072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알고 있고,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군집이 둥근 형태일 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096512" y="1920240"/>
            <a:ext cx="3319272" cy="2834640"/>
          </a:xfrm>
          <a:prstGeom prst="roundRect">
            <a:avLst>
              <a:gd name="adj" fmla="val 2903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096512" y="1920240"/>
            <a:ext cx="3319272" cy="777240"/>
          </a:xfrm>
          <a:prstGeom prst="roundRect">
            <a:avLst>
              <a:gd name="adj" fmla="val 10588"/>
            </a:avLst>
          </a:prstGeom>
          <a:solidFill>
            <a:srgbClr val="442C5B"/>
          </a:solidFill>
          <a:ln/>
        </p:spPr>
      </p:sp>
      <p:sp>
        <p:nvSpPr>
          <p:cNvPr id="13" name="Shape 11"/>
          <p:cNvSpPr/>
          <p:nvPr/>
        </p:nvSpPr>
        <p:spPr>
          <a:xfrm>
            <a:off x="4096512" y="2377440"/>
            <a:ext cx="3319272" cy="320040"/>
          </a:xfrm>
          <a:prstGeom prst="rect">
            <a:avLst/>
          </a:prstGeom>
          <a:solidFill>
            <a:srgbClr val="442C5B"/>
          </a:solidFill>
          <a:ln/>
        </p:spPr>
      </p:sp>
      <p:sp>
        <p:nvSpPr>
          <p:cNvPr id="14" name="Text 12"/>
          <p:cNvSpPr/>
          <p:nvPr/>
        </p:nvSpPr>
        <p:spPr>
          <a:xfrm>
            <a:off x="4096512" y="192024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52544" y="288036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상황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52544" y="3200400"/>
            <a:ext cx="28072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알고 있고,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 확률까지 알고 싶을 때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44384" y="1920240"/>
            <a:ext cx="3319272" cy="2834640"/>
          </a:xfrm>
          <a:prstGeom prst="roundRect">
            <a:avLst>
              <a:gd name="adj" fmla="val 2903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7644384" y="1920240"/>
            <a:ext cx="3319272" cy="777240"/>
          </a:xfrm>
          <a:prstGeom prst="roundRect">
            <a:avLst>
              <a:gd name="adj" fmla="val 10588"/>
            </a:avLst>
          </a:prstGeom>
          <a:solidFill>
            <a:srgbClr val="C79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644384" y="2377440"/>
            <a:ext cx="3319272" cy="320040"/>
          </a:xfrm>
          <a:prstGeom prst="rect">
            <a:avLst/>
          </a:prstGeom>
          <a:solidFill>
            <a:srgbClr val="C79A2E"/>
          </a:solidFill>
          <a:ln/>
        </p:spPr>
      </p:sp>
      <p:sp>
        <p:nvSpPr>
          <p:cNvPr id="20" name="Text 18"/>
          <p:cNvSpPr/>
          <p:nvPr/>
        </p:nvSpPr>
        <p:spPr>
          <a:xfrm>
            <a:off x="7644384" y="192024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900416" y="2880360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상황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0416" y="3200400"/>
            <a:ext cx="28072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개수를 모르거나,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이상치(노이즈)를 걸러야 할 때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042416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7492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“어떤 모델이 가장 좋은가”보다 “어떤 상황에 어떤 모델이 맞는가”가 더 중요한 질문입니다.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4203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14203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있으신가요?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42611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4297680"/>
            <a:ext cx="274320" cy="274320"/>
          </a:xfrm>
          <a:prstGeom prst="ellipse">
            <a:avLst/>
          </a:prstGeom>
          <a:solidFill>
            <a:srgbClr val="442C5B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42611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4297680"/>
            <a:ext cx="274320" cy="27432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42611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 모델 비교 · K-Means · GMM · DBSCAN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1608</Words>
  <Application>Microsoft Office PowerPoint</Application>
  <PresentationFormat>와이드스크린</PresentationFormat>
  <Paragraphs>262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5</cp:revision>
  <dcterms:created xsi:type="dcterms:W3CDTF">2026-08-31T05:11:18Z</dcterms:created>
  <dcterms:modified xsi:type="dcterms:W3CDTF">2026-08-31T09:38:07Z</dcterms:modified>
</cp:coreProperties>
</file>