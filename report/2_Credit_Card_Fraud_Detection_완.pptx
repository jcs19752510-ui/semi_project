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1" r:id="rId1"/>
  </p:sldMasterIdLst>
  <p:sldIdLst>
    <p:sldId id="266" r:id="rId2"/>
    <p:sldId id="267" r:id="rId3"/>
    <p:sldId id="268" r:id="rId4"/>
    <p:sldId id="269" r:id="rId5"/>
    <p:sldId id="270" r:id="rId6"/>
    <p:sldId id="281" r:id="rId7"/>
    <p:sldId id="283" r:id="rId8"/>
    <p:sldId id="282" r:id="rId9"/>
    <p:sldId id="274" r:id="rId10"/>
    <p:sldId id="275" r:id="rId11"/>
    <p:sldId id="277" r:id="rId12"/>
    <p:sldId id="278" r:id="rId13"/>
    <p:sldId id="279" r:id="rId14"/>
    <p:sldId id="280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 snapToGrid="0">
      <p:cViewPr>
        <p:scale>
          <a:sx n="70" d="100"/>
          <a:sy n="70" d="100"/>
        </p:scale>
        <p:origin x="78" y="1074"/>
      </p:cViewPr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3.sv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3982" y="6362700"/>
            <a:ext cx="4380036" cy="4953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3850"/>
              </a:lnSpc>
              <a:defRPr/>
            </a:pPr>
            <a:r>
              <a:rPr lang="en-US" sz="2500" spc="-125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신용카드 사기 거래 탐지 </a:t>
            </a:r>
            <a:endParaRPr lang="en-US" sz="2500" spc="-125">
              <a:solidFill>
                <a:srgbClr val="3970cf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18210" y="9101518"/>
            <a:ext cx="4086726" cy="3244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620"/>
              </a:lnSpc>
              <a:defRPr/>
            </a:pPr>
            <a:r>
              <a:rPr lang="en-US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 |  염윤호</a:t>
            </a:r>
            <a:endParaRPr lang="en-US" sz="2000" b="1" spc="-100">
              <a:solidFill>
                <a:srgbClr val="3970cf">
                  <a:alpha val="93720"/>
                </a:srgbClr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983064" y="9101518"/>
            <a:ext cx="4086726" cy="32823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620"/>
              </a:lnSpc>
              <a:defRPr/>
            </a:pPr>
            <a:r>
              <a:rPr lang="ko-KR" altLang="en-US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발표</a:t>
            </a:r>
            <a:r>
              <a:rPr lang="en-US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일  |  2026. 9. </a:t>
            </a:r>
            <a:r>
              <a:rPr lang="en-US" altLang="ko-KR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7</a:t>
            </a:r>
            <a:endParaRPr lang="en-US" altLang="ko-KR" sz="2000" b="1" spc="-100">
              <a:solidFill>
                <a:srgbClr val="3970cf">
                  <a:alpha val="93720"/>
                </a:srgbClr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1494" y="3238499"/>
            <a:ext cx="9625012" cy="3048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99"/>
              </a:lnSpc>
              <a:defRPr/>
            </a:pPr>
            <a:r>
              <a:rPr lang="en-US" sz="9999" spc="-498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Credit Card</a:t>
            </a:r>
            <a:endParaRPr lang="en-US" sz="9999" spc="-498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ctr">
              <a:lnSpc>
                <a:spcPts val="11999"/>
              </a:lnSpc>
              <a:defRPr/>
            </a:pPr>
            <a:r>
              <a:rPr lang="en-US" sz="9999" b="1" spc="-498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Fraud Detection</a:t>
            </a:r>
            <a:endParaRPr lang="en-US" sz="9999" b="1" spc="-498">
              <a:solidFill>
                <a:srgbClr val="222222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28234" y="2324100"/>
            <a:ext cx="8831531" cy="781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300"/>
              </a:lnSpc>
              <a:defRPr/>
            </a:pPr>
            <a:r>
              <a:rPr lang="en-US" sz="2800" b="1">
                <a:solidFill>
                  <a:srgbClr val="3970cf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MACHINE LEARNING CASE STUDY</a:t>
            </a:r>
            <a:endParaRPr lang="en-US" sz="2800" b="1">
              <a:solidFill>
                <a:srgbClr val="3970cf"/>
              </a:solidFill>
              <a:latin typeface="JASO Sans Heavy"/>
              <a:ea typeface="JASO Sans Heavy"/>
              <a:cs typeface="JASO Sans Heavy"/>
              <a:sym typeface="JASO Sans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218210" y="8789415"/>
            <a:ext cx="15851580" cy="0"/>
          </a:xfrm>
          <a:prstGeom prst="line">
            <a:avLst/>
          </a:prstGeom>
          <a:ln w="19050" cap="flat">
            <a:solidFill>
              <a:srgbClr val="3970cf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 rot="0">
            <a:off x="8759121" y="1437323"/>
            <a:ext cx="769758" cy="190500"/>
            <a:chOff x="0" y="0"/>
            <a:chExt cx="1026344" cy="254000"/>
          </a:xfrm>
        </p:grpSpPr>
        <p:grpSp>
          <p:nvGrpSpPr>
            <p:cNvPr id="9" name="Group 9"/>
            <p:cNvGrpSpPr/>
            <p:nvPr/>
          </p:nvGrpSpPr>
          <p:grpSpPr>
            <a:xfrm rot="0">
              <a:off x="0" y="0"/>
              <a:ext cx="254000" cy="25400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29800"/>
                </a:srgbClr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60000"/>
                </a:srgbClr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/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397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72300" y="4843462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 개요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20450" y="4843462"/>
            <a:ext cx="2868728" cy="462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샘플링 </a:t>
            </a:r>
            <a:r>
              <a:rPr lang="en-US" altLang="ko-KR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&amp;</a:t>
            </a:r>
            <a:r>
              <a:rPr lang="ko-KR" alt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모델링</a:t>
            </a:r>
            <a:endParaRPr lang="ko-KR" alt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172300" y="5586412"/>
            <a:ext cx="2868728" cy="462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탐색적 데이터 분석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420449" y="5586412"/>
            <a:ext cx="3444090" cy="4619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성능 검증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29200" y="478155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01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277350" y="478155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05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029200" y="552450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277350" y="552450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06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172300" y="6329362"/>
            <a:ext cx="2868728" cy="46196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ko-KR" alt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전처리</a:t>
            </a:r>
            <a:endParaRPr lang="ko-KR" alt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20450" y="6329362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모델별 비교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029200" y="626745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277350" y="626745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07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172300" y="7072312"/>
            <a:ext cx="2868728" cy="46196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결과 지표 정의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420450" y="7072312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종합 결론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29200" y="701040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04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277350" y="701040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08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35415" y="1797797"/>
            <a:ext cx="5217170" cy="12477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0499"/>
              </a:lnSpc>
              <a:defRPr/>
            </a:pPr>
            <a:r>
              <a:rPr lang="en-US" sz="6999" b="1" spc="-349">
                <a:solidFill>
                  <a:srgbClr val="fcfcfc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AGENDA</a:t>
            </a:r>
            <a:endParaRPr lang="en-US" sz="6999" b="1" spc="-349">
              <a:solidFill>
                <a:srgbClr val="fcfcfc"/>
              </a:solidFill>
              <a:latin typeface="JASO Sans Heavy"/>
              <a:ea typeface="JASO Sans Heavy"/>
              <a:cs typeface="JASO Sans Heavy"/>
              <a:sym typeface="JASO Sans Heavy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Card"/>
          <p:cNvSpPr/>
          <p:nvPr/>
        </p:nvSpPr>
        <p:spPr>
          <a:xfrm>
            <a:off x="1028700" y="2353235"/>
            <a:ext cx="16580689" cy="5325035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2.1 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00" y="2697807"/>
            <a:ext cx="14630600" cy="11560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endParaRPr lang="en-US" sz="2000" b="0" dirty="0">
              <a:solidFill>
                <a:srgbClr val="222222">
                  <a:alpha val="80000"/>
                </a:srgbClr>
              </a:solidFill>
              <a:latin typeface="JASO Sans"/>
            </a:endParaRPr>
          </a:p>
          <a:p>
            <a:pPr algn="ctr">
              <a:lnSpc>
                <a:spcPct val="130000"/>
              </a:lnSpc>
            </a:pPr>
            <a:r>
              <a:rPr sz="2000" b="0" dirty="0" err="1">
                <a:solidFill>
                  <a:srgbClr val="222222">
                    <a:alpha val="80000"/>
                  </a:srgbClr>
                </a:solidFill>
                <a:latin typeface="JASO Sans"/>
              </a:rPr>
              <a:t>샘플링</a:t>
            </a: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 </a:t>
            </a:r>
            <a:r>
              <a:rPr sz="2000" b="0" dirty="0" err="1">
                <a:solidFill>
                  <a:srgbClr val="222222">
                    <a:alpha val="80000"/>
                  </a:srgbClr>
                </a:solidFill>
                <a:latin typeface="JASO Sans"/>
              </a:rPr>
              <a:t>기법</a:t>
            </a: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 3가지(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언더샘플링</a:t>
            </a:r>
            <a:r>
              <a:rPr sz="2000" b="1" dirty="0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 · SMOTE · SMOTE-ENN</a:t>
            </a:r>
            <a:r>
              <a:rPr lang="en-US"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) </a:t>
            </a:r>
            <a:r>
              <a:rPr lang="ko-KR" altLang="en-US" sz="2000" b="0" dirty="0">
                <a:solidFill>
                  <a:srgbClr val="222222">
                    <a:alpha val="80000"/>
                  </a:srgbClr>
                </a:solidFill>
                <a:latin typeface="JASO Sans" panose="020B0600000101010101" charset="-127"/>
                <a:ea typeface="JASO Sans" panose="020B0600000101010101" charset="-127"/>
              </a:rPr>
              <a:t>비교</a:t>
            </a:r>
            <a:endParaRPr lang="en-US" sz="2000" b="0" dirty="0">
              <a:solidFill>
                <a:srgbClr val="222222">
                  <a:alpha val="80000"/>
                </a:srgbClr>
              </a:solidFill>
              <a:latin typeface="JASO Sans" panose="020B0600000101010101" charset="-127"/>
              <a:ea typeface="JASO Sans" panose="020B0600000101010101" charset="-127"/>
            </a:endParaRPr>
          </a:p>
          <a:p>
            <a:pPr algn="ctr">
              <a:lnSpc>
                <a:spcPct val="130000"/>
              </a:lnSpc>
            </a:pP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 </a:t>
            </a:r>
            <a:r>
              <a:rPr sz="2000" b="0" dirty="0" err="1">
                <a:solidFill>
                  <a:srgbClr val="222222">
                    <a:alpha val="80000"/>
                  </a:srgbClr>
                </a:solidFill>
                <a:latin typeface="JASO Sans"/>
              </a:rPr>
              <a:t>모델</a:t>
            </a: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 5가지(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RandomForest</a:t>
            </a:r>
            <a:r>
              <a:rPr sz="2000" b="1" dirty="0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 · 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LightGBM</a:t>
            </a:r>
            <a:r>
              <a:rPr sz="2000" b="1" dirty="0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 · 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XGBoost</a:t>
            </a:r>
            <a:r>
              <a:rPr sz="2000" b="1" dirty="0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 · 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GradientBoost</a:t>
            </a:r>
            <a:r>
              <a:rPr sz="2000" b="1" dirty="0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 · 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LogisticRegression</a:t>
            </a: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)의 </a:t>
            </a:r>
            <a:r>
              <a:rPr sz="2000" b="0" dirty="0" err="1">
                <a:solidFill>
                  <a:srgbClr val="222222">
                    <a:alpha val="80000"/>
                  </a:srgbClr>
                </a:solidFill>
                <a:latin typeface="JASO Sans"/>
              </a:rPr>
              <a:t>성능을</a:t>
            </a: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 </a:t>
            </a:r>
            <a:r>
              <a:rPr sz="2000" b="0" dirty="0" err="1">
                <a:solidFill>
                  <a:srgbClr val="222222">
                    <a:alpha val="80000"/>
                  </a:srgbClr>
                </a:solidFill>
                <a:latin typeface="JASO Sans"/>
              </a:rPr>
              <a:t>비교</a:t>
            </a:r>
            <a:endParaRPr sz="2000" b="0" dirty="0">
              <a:solidFill>
                <a:srgbClr val="222222">
                  <a:alpha val="80000"/>
                </a:srgbClr>
              </a:solidFill>
              <a:latin typeface="JASO San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353000" y="4817125"/>
            <a:ext cx="3600000" cy="19000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53000" y="5117125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284,807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3000" y="6097125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전체 거래 건수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67800" y="4817125"/>
            <a:ext cx="3600000" cy="19000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67800" y="5117125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7800" y="6097125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컬럼 수 (Time+V1~V28+Amount+Class)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82600" y="4817125"/>
            <a:ext cx="3600000" cy="19000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82600" y="5117125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0.173%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2600" y="6097125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사기(Class=1) 비율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659300" y="4817125"/>
            <a:ext cx="3600000" cy="19000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659300" y="5117125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9300" y="6097125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결측치</a:t>
            </a:r>
          </a:p>
        </p:txBody>
      </p:sp>
      <p:pic>
        <p:nvPicPr>
          <p:cNvPr id="17" name="Icon (Rounded Rectangle 3)" descr="chec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000" y="5017125"/>
            <a:ext cx="380000" cy="380000"/>
          </a:xfrm>
          <a:prstGeom prst="rect">
            <a:avLst/>
          </a:prstGeom>
        </p:spPr>
      </p:pic>
      <p:pic>
        <p:nvPicPr>
          <p:cNvPr id="18" name="Icon (Rounded Rectangle 6)" descr="chec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800" y="5017125"/>
            <a:ext cx="380000" cy="380000"/>
          </a:xfrm>
          <a:prstGeom prst="rect">
            <a:avLst/>
          </a:prstGeom>
        </p:spPr>
      </p:pic>
      <p:pic>
        <p:nvPicPr>
          <p:cNvPr id="19" name="Icon (Rounded Rectangle 9)" descr="chec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600" y="5017125"/>
            <a:ext cx="380000" cy="380000"/>
          </a:xfrm>
          <a:prstGeom prst="rect">
            <a:avLst/>
          </a:prstGeom>
        </p:spPr>
      </p:pic>
      <p:pic>
        <p:nvPicPr>
          <p:cNvPr id="20" name="Icon (Rounded Rectangle 12)" descr="chec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9300" y="5017125"/>
            <a:ext cx="380000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Card"/>
          <p:cNvSpPr/>
          <p:nvPr/>
        </p:nvSpPr>
        <p:spPr>
          <a:xfrm>
            <a:off x="1028700" y="1575000"/>
            <a:ext cx="16580689" cy="8025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2.2 EDA — 거래 금액 분포 (Amount)</a:t>
            </a:r>
          </a:p>
        </p:txBody>
      </p:sp>
      <p:pic>
        <p:nvPicPr>
          <p:cNvPr id="3" name="Picture 2" descr="credit_amount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861" y="1700000"/>
            <a:ext cx="8935677" cy="6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700" y="8800000"/>
            <a:ext cx="92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Amount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원본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분포</a:t>
            </a:r>
            <a:endParaRPr sz="1400" b="0" dirty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60CCEEB-08E0-9358-D83B-6E29C0C05AEC}"/>
              </a:ext>
            </a:extLst>
          </p:cNvPr>
          <p:cNvGrpSpPr/>
          <p:nvPr/>
        </p:nvGrpSpPr>
        <p:grpSpPr>
          <a:xfrm>
            <a:off x="11577918" y="5143500"/>
            <a:ext cx="4019016" cy="1988349"/>
            <a:chOff x="0" y="0"/>
            <a:chExt cx="948364" cy="469189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1711BAE-AC62-1C85-2020-8041BEC285DF}"/>
                </a:ext>
              </a:extLst>
            </p:cNvPr>
            <p:cNvSpPr/>
            <p:nvPr/>
          </p:nvSpPr>
          <p:spPr>
            <a:xfrm>
              <a:off x="0" y="0"/>
              <a:ext cx="948364" cy="469189"/>
            </a:xfrm>
            <a:custGeom>
              <a:avLst/>
              <a:gdLst/>
              <a:ahLst/>
              <a:cxnLst/>
              <a:rect l="l" t="t" r="r" b="b"/>
              <a:pathLst>
                <a:path w="948364" h="469189">
                  <a:moveTo>
                    <a:pt x="0" y="0"/>
                  </a:moveTo>
                  <a:lnTo>
                    <a:pt x="948364" y="0"/>
                  </a:lnTo>
                  <a:lnTo>
                    <a:pt x="948364" y="469189"/>
                  </a:lnTo>
                  <a:lnTo>
                    <a:pt x="0" y="46918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AE6E2BB8-CBC8-DFB7-67BA-06AD9C818B1E}"/>
                </a:ext>
              </a:extLst>
            </p:cNvPr>
            <p:cNvSpPr txBox="1"/>
            <p:nvPr/>
          </p:nvSpPr>
          <p:spPr>
            <a:xfrm>
              <a:off x="0" y="-9525"/>
              <a:ext cx="948364" cy="47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3" name="TextBox 9">
            <a:extLst>
              <a:ext uri="{FF2B5EF4-FFF2-40B4-BE49-F238E27FC236}">
                <a16:creationId xmlns:a16="http://schemas.microsoft.com/office/drawing/2014/main" id="{C80B2B82-A87D-BAD5-E8A1-D864FFCAA607}"/>
              </a:ext>
            </a:extLst>
          </p:cNvPr>
          <p:cNvSpPr txBox="1"/>
          <p:nvPr/>
        </p:nvSpPr>
        <p:spPr>
          <a:xfrm>
            <a:off x="11582400" y="3597783"/>
            <a:ext cx="4267200" cy="806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altLang="ko-KR" sz="2004" spc="-10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Amount</a:t>
            </a:r>
            <a:r>
              <a:rPr lang="ko-KR" altLang="en-US" sz="2004" spc="-10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그래프에서 </a:t>
            </a:r>
            <a:r>
              <a:rPr lang="ko-KR" altLang="en-US" sz="2004" b="1" spc="-100" dirty="0">
                <a:solidFill>
                  <a:schemeClr val="accent1">
                    <a:lumMod val="75000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오른쪽으로 긴 꼬리</a:t>
            </a:r>
            <a:r>
              <a:rPr lang="ko-KR" altLang="en-US" sz="2004" spc="-100" dirty="0">
                <a:solidFill>
                  <a:schemeClr val="accent1">
                    <a:lumMod val="75000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ko-KR" altLang="en-US" sz="2004" spc="-10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분포를 형성하고 있습니다</a:t>
            </a:r>
            <a:r>
              <a:rPr lang="en-US" altLang="ko-KR" sz="2004" spc="-10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E4F70ABA-54BC-2468-BA61-9A142755D23C}"/>
              </a:ext>
            </a:extLst>
          </p:cNvPr>
          <p:cNvSpPr/>
          <p:nvPr/>
        </p:nvSpPr>
        <p:spPr>
          <a:xfrm>
            <a:off x="11936701" y="542102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7ED681CB-1C1E-0A86-75AF-9B815B036F82}"/>
              </a:ext>
            </a:extLst>
          </p:cNvPr>
          <p:cNvSpPr txBox="1"/>
          <p:nvPr/>
        </p:nvSpPr>
        <p:spPr>
          <a:xfrm>
            <a:off x="11936700" y="6229866"/>
            <a:ext cx="160380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</a:pPr>
            <a:r>
              <a:rPr lang="en-US" sz="5000" b="1" spc="-2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16.98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2D206B1B-5F8E-F908-A6DE-4511FE240C64}"/>
              </a:ext>
            </a:extLst>
          </p:cNvPr>
          <p:cNvSpPr txBox="1"/>
          <p:nvPr/>
        </p:nvSpPr>
        <p:spPr>
          <a:xfrm>
            <a:off x="12547508" y="5484845"/>
            <a:ext cx="1861695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ko-KR" alt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왜도</a:t>
            </a:r>
            <a:r>
              <a:rPr lang="en-US" altLang="ko-KR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(skew)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Card"/>
          <p:cNvSpPr/>
          <p:nvPr/>
        </p:nvSpPr>
        <p:spPr>
          <a:xfrm>
            <a:off x="1028700" y="1550000"/>
            <a:ext cx="16580689" cy="781372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23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rgbClr val="222222"/>
                </a:solidFill>
                <a:latin typeface="JASO Sans Bold"/>
              </a:rPr>
              <a:t>2.2 EDA — 시간대 패턴 (Time)</a:t>
            </a:r>
            <a:endParaRPr sz="2800" b="1">
              <a:solidFill>
                <a:srgbClr val="222222"/>
              </a:solidFill>
              <a:latin typeface="JASO Sans Bold"/>
            </a:endParaRPr>
          </a:p>
        </p:txBody>
      </p:sp>
      <p:pic>
        <p:nvPicPr>
          <p:cNvPr id="3" name="Picture 2" descr="credit_time_pattern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32372" y="1600000"/>
            <a:ext cx="12023255" cy="4700000"/>
          </a:xfrm>
          <a:prstGeom prst="rect">
            <a:avLst/>
          </a:prstGeom>
        </p:spPr>
      </p:pic>
      <p:grpSp>
        <p:nvGrpSpPr>
          <p:cNvPr id="6" name="그룹 5"/>
          <p:cNvGrpSpPr/>
          <p:nvPr/>
        </p:nvGrpSpPr>
        <p:grpSpPr>
          <a:xfrm rot="0">
            <a:off x="4743448" y="6895009"/>
            <a:ext cx="9698692" cy="1273700"/>
            <a:chOff x="4484590" y="7042926"/>
            <a:chExt cx="9698692" cy="1273700"/>
          </a:xfrm>
        </p:grpSpPr>
        <p:sp>
          <p:nvSpPr>
            <p:cNvPr id="5" name="TextBox 4"/>
            <p:cNvSpPr txBox="1"/>
            <p:nvPr/>
          </p:nvSpPr>
          <p:spPr>
            <a:xfrm>
              <a:off x="4914589" y="7043065"/>
              <a:ext cx="9268693" cy="28860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20000"/>
                </a:lnSpc>
                <a:defRPr/>
              </a:pPr>
              <a:r>
                <a:rPr b="0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Time은 첫 거래 이후 경과 초 — (Time/3600) % 24로 환산해 하루 중 거래 시간대를 확인</a:t>
              </a:r>
              <a:endParaRPr b="0">
                <a:solidFill>
                  <a:srgbClr val="222222">
                    <a:alpha val="85000"/>
                  </a:srgbClr>
                </a:solidFill>
                <a:latin typeface="JASO Sans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914589" y="8000999"/>
              <a:ext cx="9268693" cy="29950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20000"/>
                </a:lnSpc>
                <a:defRPr/>
              </a:pPr>
              <a:r>
                <a:rPr lang="ko-KR" altLang="en-US" b="0">
                  <a:solidFill>
                    <a:srgbClr val="222222">
                      <a:alpha val="85000"/>
                    </a:srgbClr>
                  </a:solidFill>
                  <a:latin typeface="JASO Sans"/>
                  <a:ea typeface="JASO Sans"/>
                </a:rPr>
                <a:t>시간에 따른 정상 거래</a:t>
              </a:r>
              <a:r>
                <a:rPr lang="en-US" altLang="ko-KR" b="0">
                  <a:solidFill>
                    <a:srgbClr val="222222">
                      <a:alpha val="85000"/>
                    </a:srgbClr>
                  </a:solidFill>
                  <a:latin typeface="JASO Sans"/>
                  <a:ea typeface="JASO Sans"/>
                </a:rPr>
                <a:t>, </a:t>
              </a:r>
              <a:r>
                <a:rPr lang="ko-KR" altLang="en-US" b="0">
                  <a:solidFill>
                    <a:srgbClr val="222222">
                      <a:alpha val="85000"/>
                    </a:srgbClr>
                  </a:solidFill>
                  <a:latin typeface="JASO Sans"/>
                  <a:ea typeface="JASO Sans"/>
                </a:rPr>
                <a:t>이상 거래 간의 상관이 파악되지 않아 </a:t>
              </a:r>
              <a:r>
                <a:rPr b="1">
                  <a:solidFill>
                    <a:schemeClr val="accent1">
                      <a:lumMod val="75000"/>
                      <a:alpha val="85000"/>
                    </a:schemeClr>
                  </a:solidFill>
                  <a:latin typeface="JASO Sans"/>
                  <a:ea typeface="JASO Sans"/>
                </a:rPr>
                <a:t>피처로 남기지 않고 제거</a:t>
              </a:r>
              <a:endParaRPr b="1">
                <a:solidFill>
                  <a:schemeClr val="accent1">
                    <a:lumMod val="75000"/>
                    <a:alpha val="85000"/>
                  </a:schemeClr>
                </a:solidFill>
                <a:latin typeface="JASO Sans"/>
                <a:ea typeface="JASO Sans"/>
              </a:endParaRPr>
            </a:p>
          </p:txBody>
        </p:sp>
        <p:pic>
          <p:nvPicPr>
            <p:cNvPr id="9" name="Icon (TextBox 4)" descr="check_icon.png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484590" y="7042926"/>
              <a:ext cx="300000" cy="300000"/>
            </a:xfrm>
            <a:prstGeom prst="rect">
              <a:avLst/>
            </a:prstGeom>
          </p:spPr>
        </p:pic>
        <p:pic>
          <p:nvPicPr>
            <p:cNvPr id="10" name="Icon (TextBox 6)" descr="check_icon.png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484590" y="8016626"/>
              <a:ext cx="300000" cy="3000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Card"/>
          <p:cNvSpPr/>
          <p:nvPr/>
        </p:nvSpPr>
        <p:spPr>
          <a:xfrm>
            <a:off x="1028700" y="1550000"/>
            <a:ext cx="16580689" cy="69082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rgbClr val="222222"/>
                </a:solidFill>
                <a:latin typeface="JASO Sans Bold"/>
              </a:rPr>
              <a:t>2.2 EDA — 클래스 분포 (Class)</a:t>
            </a:r>
            <a:endParaRPr sz="2800" b="1">
              <a:solidFill>
                <a:srgbClr val="222222"/>
              </a:solidFill>
              <a:latin typeface="JASO Sans Bold"/>
            </a:endParaRPr>
          </a:p>
        </p:txBody>
      </p:sp>
      <p:pic>
        <p:nvPicPr>
          <p:cNvPr id="4" name="Picture 3" descr="credit_corr.png"/>
          <p:cNvPicPr>
            <a:picLocks noChangeAspect="1"/>
          </p:cNvPicPr>
          <p:nvPr/>
        </p:nvPicPr>
        <p:blipFill rotWithShape="1">
          <a:blip r:embed="rId2"/>
          <a:srcRect l="390" t="46630" r="-390" b="-790"/>
          <a:stretch>
            <a:fillRect/>
          </a:stretch>
        </p:blipFill>
        <p:spPr>
          <a:xfrm>
            <a:off x="9500364" y="2059816"/>
            <a:ext cx="8109024" cy="43917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700" y="6517613"/>
            <a:ext cx="7915300" cy="254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sz="1400" b="0">
                <a:solidFill>
                  <a:srgbClr val="222222">
                    <a:alpha val="85000"/>
                  </a:srgbClr>
                </a:solidFill>
                <a:latin typeface="JASO Sans"/>
              </a:rPr>
              <a:t>Class 분포</a:t>
            </a:r>
            <a:endParaRPr sz="1400" b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44000" y="6517613"/>
            <a:ext cx="7915300" cy="254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sz="1400" b="0">
                <a:solidFill>
                  <a:srgbClr val="222222">
                    <a:alpha val="85000"/>
                  </a:srgbClr>
                </a:solidFill>
                <a:latin typeface="JASO Sans"/>
              </a:rPr>
              <a:t>31개 변수 전체의 피어슨 상관계수 히트맵</a:t>
            </a:r>
            <a:endParaRPr sz="1400" b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  <p:sp>
        <p:nvSpPr>
          <p:cNvPr id="11" name="Divider"/>
          <p:cNvSpPr/>
          <p:nvPr/>
        </p:nvSpPr>
        <p:spPr>
          <a:xfrm flipH="1">
            <a:off x="9143999" y="1669851"/>
            <a:ext cx="45719" cy="631770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3" name="직사각형 12"/>
          <p:cNvSpPr/>
          <p:nvPr/>
        </p:nvSpPr>
        <p:spPr>
          <a:xfrm>
            <a:off x="9513810" y="5330711"/>
            <a:ext cx="6622661" cy="975960"/>
          </a:xfrm>
          <a:prstGeom prst="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rcRect t="5620"/>
          <a:stretch>
            <a:fillRect/>
          </a:stretch>
        </p:blipFill>
        <p:spPr>
          <a:xfrm>
            <a:off x="1070351" y="1978118"/>
            <a:ext cx="7887757" cy="45140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Card"/>
          <p:cNvSpPr/>
          <p:nvPr/>
        </p:nvSpPr>
        <p:spPr>
          <a:xfrm>
            <a:off x="826995" y="1675000"/>
            <a:ext cx="16580689" cy="582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23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altLang="ko-KR" sz="2800" b="1">
                <a:solidFill>
                  <a:srgbClr val="222222"/>
                </a:solidFill>
                <a:latin typeface="JASO Sans Bold"/>
              </a:rPr>
              <a:t>3</a:t>
            </a:r>
            <a:r>
              <a:rPr sz="2800" b="1">
                <a:solidFill>
                  <a:srgbClr val="222222"/>
                </a:solidFill>
                <a:latin typeface="JASO Sans Bold"/>
              </a:rPr>
              <a:t> 데이터 전처리 &amp; 클리닝</a:t>
            </a:r>
            <a:endParaRPr sz="2800" b="1">
              <a:solidFill>
                <a:srgbClr val="222222"/>
              </a:solidFill>
              <a:latin typeface="JASO Sans Bold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7789" y="2646385"/>
          <a:ext cx="15659100" cy="33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1535"/>
                <a:gridCol w="7061947"/>
                <a:gridCol w="4605618"/>
              </a:tblGrid>
              <a:tr h="1060180"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JASO Sans Bold"/>
                        </a:rPr>
                        <a:t>처리</a:t>
                      </a:r>
                      <a:endParaRPr sz="20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JASO Sans Bold"/>
                        </a:rPr>
                        <a:t>내용</a:t>
                      </a:r>
                      <a:endParaRPr sz="20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JASO Sans Bold"/>
                        </a:rPr>
                        <a:t>근거</a:t>
                      </a:r>
                      <a:endParaRPr sz="20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</a:tr>
              <a:tr h="737761"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Time 제거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거래 순번성 정보, 사기 여부와 직접 관련 없음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노이즈 제거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779929"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Amount 로그 변환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log1p(Amount) → Amount_Scaled 컬럼 추가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lang="ko-KR" altLang="en-US" sz="1800" b="0">
                          <a:solidFill>
                            <a:srgbClr val="222222"/>
                          </a:solidFill>
                          <a:latin typeface="JASO Sans"/>
                          <a:ea typeface="JASO Sans"/>
                        </a:rPr>
                        <a:t>극심한 </a:t>
                      </a: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왜도 완화</a:t>
                      </a:r>
                      <a:r>
                        <a:rPr lang="en-US" sz="1800" b="0">
                          <a:solidFill>
                            <a:srgbClr val="222222"/>
                          </a:solidFill>
                          <a:latin typeface="JASO Sans"/>
                        </a:rPr>
                        <a:t>(16.98 -&gt; 0.16)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  <a:tr h="779930"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V14 이상치 제거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사기(Class=1) 데이터의 V14 IQR×1.5 범위 밖 값 제거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상관관계 상위권 변수의 잡음 축소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Card"/>
          <p:cNvSpPr/>
          <p:nvPr/>
        </p:nvSpPr>
        <p:spPr>
          <a:xfrm>
            <a:off x="934571" y="1675000"/>
            <a:ext cx="16580689" cy="6025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23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altLang="ko-KR" sz="2800" b="1">
                <a:solidFill>
                  <a:srgbClr val="222222"/>
                </a:solidFill>
                <a:latin typeface="JASO Sans Bold"/>
              </a:rPr>
              <a:t>4</a:t>
            </a:r>
            <a:r>
              <a:rPr sz="2800" b="1">
                <a:solidFill>
                  <a:srgbClr val="222222"/>
                </a:solidFill>
                <a:latin typeface="JASO Sans Bold"/>
              </a:rPr>
              <a:t> 결과 지표 정의</a:t>
            </a:r>
            <a:endParaRPr sz="2800" b="1">
              <a:solidFill>
                <a:srgbClr val="222222"/>
              </a:solidFill>
              <a:latin typeface="JASO Sans Bold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28700" y="1900000"/>
          <a:ext cx="16230600" cy="4599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6200000"/>
                <a:gridCol w="6830600"/>
              </a:tblGrid>
              <a:tr h="766666"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JASO Sans Bold"/>
                        </a:rPr>
                        <a:t>지표</a:t>
                      </a:r>
                      <a:endParaRPr sz="20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JASO Sans Bold"/>
                        </a:rPr>
                        <a:t>정의</a:t>
                      </a:r>
                      <a:endParaRPr sz="20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JASO Sans Bold"/>
                        </a:rPr>
                        <a:t>이 데이터에서의 역할</a:t>
                      </a:r>
                      <a:endParaRPr sz="20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</a:tr>
              <a:tr h="766666"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Recall (재현율)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실제 사기 중 모델이 찾아낸 비율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최우선 지표 — 놓친 사기는 금전 손실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766666"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Precision (정밀도)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사기로 예측한 것 중 실제 사기 비율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너무 낮으면 정상 거래 차단 급증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solidFill>
                      <a:srgbClr val="f4f4f4"/>
                    </a:solidFill>
                  </a:tcPr>
                </a:tc>
              </a:tr>
              <a:tr h="766666"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F1-Score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정밀도·재현율의 조화평균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재현율 편중을 견제하는 균형 지표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6666"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ROC-AUC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전체 임곗값 TPR-FPR 트레이드오프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모델 판별력 비교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</a:tr>
              <a:tr h="766666"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AUPRC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Precision-Recall 곡선의 면적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극단적 불균형에서 ROC-AUC를 보완하는 지표</a:t>
                      </a:r>
                      <a:endParaRPr sz="18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28700" y="7084564"/>
            <a:ext cx="16230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z="2400" b="1">
                <a:solidFill>
                  <a:srgbClr val="3970cf"/>
                </a:solidFill>
                <a:latin typeface="JASO Sans Bold"/>
              </a:rPr>
              <a:t>이 프로젝트의 핵심 의도 </a:t>
            </a:r>
            <a:r>
              <a:rPr lang="en-US" altLang="ko-KR" sz="2400" b="1">
                <a:solidFill>
                  <a:srgbClr val="3970cf"/>
                </a:solidFill>
                <a:latin typeface="JASO Sans Bold"/>
              </a:rPr>
              <a:t>—</a:t>
            </a:r>
            <a:r>
              <a:rPr lang="ko-KR" altLang="en-US" sz="2400" b="1">
                <a:solidFill>
                  <a:srgbClr val="3970cf"/>
                </a:solidFill>
                <a:latin typeface="JASO Sans Bold"/>
              </a:rPr>
              <a:t> </a:t>
            </a:r>
            <a:r>
              <a:rPr sz="2400" b="1">
                <a:solidFill>
                  <a:srgbClr val="3970cf"/>
                </a:solidFill>
                <a:latin typeface="JASO Sans Bold"/>
              </a:rPr>
              <a:t>정밀도와 재현율 중 재현율을 우선한다</a:t>
            </a:r>
            <a:endParaRPr sz="2400" b="1">
              <a:solidFill>
                <a:srgbClr val="3970cf"/>
              </a:solidFill>
              <a:latin typeface="JASO Sans Bold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90600" y="2628900"/>
            <a:ext cx="16230600" cy="76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90600" y="4914900"/>
            <a:ext cx="16230600" cy="76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Card"/>
          <p:cNvSpPr/>
          <p:nvPr/>
        </p:nvSpPr>
        <p:spPr>
          <a:xfrm>
            <a:off x="1028700" y="1333500"/>
            <a:ext cx="16580689" cy="75903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620000"/>
            <a:ext cx="162306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600" b="1">
                <a:solidFill>
                  <a:srgbClr val="222222"/>
                </a:solidFill>
                <a:latin typeface="JASO Sans Bold"/>
              </a:rPr>
              <a:t>2.5 왜 리샘플링이 필요한가 — 샘플링 전략 3종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603850"/>
              </p:ext>
            </p:extLst>
          </p:nvPr>
        </p:nvGraphicFramePr>
        <p:xfrm>
          <a:off x="3162300" y="1571900"/>
          <a:ext cx="119634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기법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학습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데이터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변화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정밀도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재현율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언더샘플링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199,362건 → 684건 (342/342)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0.0478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0.8844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0.0906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SMOTE (</a:t>
                      </a:r>
                      <a:r>
                        <a:rPr sz="1600" b="1" dirty="0" err="1">
                          <a:solidFill>
                            <a:srgbClr val="2664B4"/>
                          </a:solidFill>
                          <a:latin typeface="JASO Sans Bold"/>
                        </a:rPr>
                        <a:t>채택</a:t>
                      </a:r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199,362건 → 398,040건 (199,020/199,020)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0.8731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0.7959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0.8327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SMOTE-ENN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199,362건 → 397,717건 (199,020/198,697)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0.7453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0.8163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0.7792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credit_smote_scatter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51580" y="3848100"/>
            <a:ext cx="10769686" cy="469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Card"/>
          <p:cNvSpPr/>
          <p:nvPr/>
        </p:nvSpPr>
        <p:spPr>
          <a:xfrm>
            <a:off x="853655" y="1378890"/>
            <a:ext cx="16580689" cy="6684557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800" b="1" dirty="0">
                <a:solidFill>
                  <a:srgbClr val="222222"/>
                </a:solidFill>
                <a:latin typeface="JASO Sans Bold"/>
              </a:rPr>
              <a:t>5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GridSearchCV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튜닝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—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RandomForest</a:t>
            </a:r>
            <a:endParaRPr sz="2800" b="1" dirty="0">
              <a:solidFill>
                <a:srgbClr val="222222"/>
              </a:solidFill>
              <a:latin typeface="JASO Sans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8700" y="1600000"/>
            <a:ext cx="162306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3970CF"/>
                </a:solidFill>
                <a:latin typeface="JASO Sans Bold"/>
              </a:rPr>
              <a:t>Best Params: n_estimators=1000, max_depth=None, min_samples_leaf=1  →  CV ROC-AUC 0.9811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02742"/>
              </p:ext>
            </p:extLst>
          </p:nvPr>
        </p:nvGraphicFramePr>
        <p:xfrm>
          <a:off x="3219450" y="2100000"/>
          <a:ext cx="11849100" cy="459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1111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n_estimators</a:t>
                      </a:r>
                      <a:endParaRPr sz="14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max_depth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min_samples_leaf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CV 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순위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0.9811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0.9810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2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0.9806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5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0.9792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0.9791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0.9761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Card"/>
          <p:cNvSpPr/>
          <p:nvPr/>
        </p:nvSpPr>
        <p:spPr>
          <a:xfrm>
            <a:off x="853655" y="1371266"/>
            <a:ext cx="16580689" cy="8524945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600" b="1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600" b="1">
                <a:solidFill>
                  <a:srgbClr val="222222"/>
                </a:solidFill>
                <a:latin typeface="JASO Sans Bold"/>
              </a:rPr>
              <a:t>6</a:t>
            </a:r>
            <a:r>
              <a:rPr sz="2600" b="1">
                <a:solidFill>
                  <a:srgbClr val="222222"/>
                </a:solidFill>
                <a:latin typeface="JASO Sans Bold"/>
              </a:rPr>
              <a:t> 성능 지표 결과 — RandomForest + SMOTE</a:t>
            </a:r>
            <a:endParaRPr sz="2600" b="1">
              <a:solidFill>
                <a:srgbClr val="222222"/>
              </a:solidFill>
              <a:latin typeface="JASO Sans Bold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67601" y="2559728"/>
          <a:ext cx="14752798" cy="283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542"/>
                <a:gridCol w="2107542"/>
                <a:gridCol w="2107542"/>
                <a:gridCol w="2107542"/>
                <a:gridCol w="2107542"/>
                <a:gridCol w="2107542"/>
                <a:gridCol w="2107546"/>
              </a:tblGrid>
              <a:tr h="708350"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JASO Sans Bold"/>
                        </a:rPr>
                        <a:t>임</a:t>
                      </a: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JASO Sans Bold"/>
                        </a:rPr>
                        <a:t>계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JASO Sans Bold"/>
                        </a:rPr>
                        <a:t>값</a:t>
                      </a:r>
                      <a:endParaRPr sz="18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JASO Sans Bold"/>
                        </a:rPr>
                        <a:t>Accuracy</a:t>
                      </a:r>
                      <a:endParaRPr sz="18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JASO Sans Bold"/>
                        </a:rPr>
                        <a:t>Precision</a:t>
                      </a:r>
                      <a:endParaRPr sz="18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JASO Sans Bold"/>
                        </a:rPr>
                        <a:t>Recall</a:t>
                      </a:r>
                      <a:endParaRPr sz="18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  <a:endParaRPr sz="18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JASO Sans Bold"/>
                        </a:rPr>
                        <a:t>ROC-AUC</a:t>
                      </a:r>
                      <a:endParaRPr sz="18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JASO Sans Bold"/>
                        </a:rPr>
                        <a:t>AUPRC</a:t>
                      </a:r>
                      <a:endParaRPr sz="18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</a:tr>
              <a:tr h="708350"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0.500 (기본값)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0.8712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0.7823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0.8244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0.9854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0.8314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708350"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0.727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lang="en-US" altLang="ko-KR" sz="1600" b="0">
                          <a:solidFill>
                            <a:srgbClr val="222222"/>
                          </a:solidFill>
                          <a:latin typeface="JASO Sans"/>
                        </a:rPr>
                        <a:t>0.9995</a:t>
                      </a:r>
                      <a:endParaRPr lang="en-US" altLang="ko-KR"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0.9558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0.7347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0.8308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0.9854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0.8314</a:t>
                      </a:r>
                      <a:endParaRPr sz="16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  <a:tr h="708350">
                <a:tc>
                  <a:txBody>
                    <a:bodyPr vert="horz" lIns="60000" tIns="20000" rIns="60000" bIns="20000" anchor="ctr" anchorCtr="0"/>
                    <a:p>
                      <a:pPr algn="l">
                        <a:defRPr/>
                      </a:pPr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0.305 (채택)</a:t>
                      </a:r>
                      <a:endParaRPr sz="1600" b="1">
                        <a:solidFill>
                          <a:srgbClr val="2664b4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0.9992</a:t>
                      </a:r>
                      <a:endParaRPr sz="1600" b="1">
                        <a:solidFill>
                          <a:srgbClr val="2664b4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0.7500</a:t>
                      </a:r>
                      <a:endParaRPr sz="1600" b="1">
                        <a:solidFill>
                          <a:srgbClr val="2664b4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0.8367</a:t>
                      </a:r>
                      <a:endParaRPr sz="1600" b="1">
                        <a:solidFill>
                          <a:srgbClr val="2664b4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0.7910</a:t>
                      </a:r>
                      <a:endParaRPr sz="1600" b="1">
                        <a:solidFill>
                          <a:srgbClr val="2664b4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0.9854</a:t>
                      </a:r>
                      <a:endParaRPr sz="1600" b="1">
                        <a:solidFill>
                          <a:srgbClr val="2664b4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vert="horz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0.8314</a:t>
                      </a:r>
                      <a:endParaRPr sz="1600" b="1">
                        <a:solidFill>
                          <a:srgbClr val="2664b4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35449" y="6784123"/>
            <a:ext cx="9817100" cy="353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ko-KR" altLang="en-US" sz="2000" b="1">
                <a:solidFill>
                  <a:schemeClr val="accent1">
                    <a:lumMod val="75000"/>
                    <a:alpha val="85000"/>
                  </a:schemeClr>
                </a:solidFill>
                <a:latin typeface="JASO Sans"/>
              </a:rPr>
              <a:t>재현율 확보</a:t>
            </a:r>
            <a:r>
              <a:rPr lang="ko-KR" altLang="en-US" sz="2000" b="0">
                <a:solidFill>
                  <a:srgbClr val="222222">
                    <a:alpha val="85000"/>
                  </a:srgbClr>
                </a:solidFill>
                <a:latin typeface="JASO Sans"/>
              </a:rPr>
              <a:t>를 위해 임계값을 </a:t>
            </a:r>
            <a:r>
              <a:rPr lang="en-US" altLang="ko-KR" sz="2000" b="0">
                <a:solidFill>
                  <a:srgbClr val="222222">
                    <a:alpha val="85000"/>
                  </a:srgbClr>
                </a:solidFill>
                <a:latin typeface="JASO Sans"/>
              </a:rPr>
              <a:t>0.305</a:t>
            </a:r>
            <a:r>
              <a:rPr lang="ko-KR" altLang="en-US" sz="2000" b="0">
                <a:solidFill>
                  <a:srgbClr val="222222">
                    <a:alpha val="85000"/>
                  </a:srgbClr>
                </a:solidFill>
                <a:latin typeface="JASO Sans"/>
              </a:rPr>
              <a:t>로 낮춰 </a:t>
            </a:r>
            <a:r>
              <a:rPr sz="2000" b="1">
                <a:solidFill>
                  <a:schemeClr val="accent1">
                    <a:lumMod val="75000"/>
                    <a:alpha val="85000"/>
                  </a:schemeClr>
                </a:solidFill>
                <a:latin typeface="JASO Sans"/>
              </a:rPr>
              <a:t>테스트셋 사기 147건 중 123건(84%) 탐지</a:t>
            </a:r>
            <a:endParaRPr sz="2000" b="1">
              <a:solidFill>
                <a:schemeClr val="accent1">
                  <a:lumMod val="75000"/>
                  <a:alpha val="85000"/>
                </a:schemeClr>
              </a:solidFill>
              <a:latin typeface="JAS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Card"/>
          <p:cNvSpPr/>
          <p:nvPr/>
        </p:nvSpPr>
        <p:spPr>
          <a:xfrm>
            <a:off x="1028700" y="1567399"/>
            <a:ext cx="16580689" cy="612659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700" b="1" dirty="0">
                <a:solidFill>
                  <a:srgbClr val="222222"/>
                </a:solidFill>
                <a:latin typeface="JASO Sans Bold"/>
              </a:rPr>
              <a:t>7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모델별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비교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(SMOTE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적용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606124"/>
              </p:ext>
            </p:extLst>
          </p:nvPr>
        </p:nvGraphicFramePr>
        <p:xfrm>
          <a:off x="1818599" y="2019300"/>
          <a:ext cx="14650802" cy="5374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6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17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63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95783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모델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Accuracy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Precision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Recall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AUPRC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LightGBM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0.8731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0.7959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0.8327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0.9720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0.8342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XGBoost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0.9993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0.8276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0.8163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0.8219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0.9771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0.8350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RandomForest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0.9992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0.7500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0.8367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0.7910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GradientBoost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0.8438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0.7347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0.7855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0.9749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0.6687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LogisticRegression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0.8550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0.7619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0.8057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0.9675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0.7024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Card"/>
          <p:cNvSpPr/>
          <p:nvPr/>
        </p:nvSpPr>
        <p:spPr>
          <a:xfrm>
            <a:off x="1028700" y="1825000"/>
            <a:ext cx="16580689" cy="5075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3000" b="1">
                <a:solidFill>
                  <a:srgbClr val="222222"/>
                </a:solidFill>
                <a:latin typeface="JASO Sans Bold"/>
              </a:rPr>
              <a:t>2장 종합 결론</a:t>
            </a:r>
            <a:endParaRPr sz="3000" b="1">
              <a:solidFill>
                <a:srgbClr val="222222"/>
              </a:solidFill>
              <a:latin typeface="JASO Sans Bold"/>
            </a:endParaRPr>
          </a:p>
        </p:txBody>
      </p:sp>
      <p:grpSp>
        <p:nvGrpSpPr>
          <p:cNvPr id="10" name="Group 7"/>
          <p:cNvGrpSpPr/>
          <p:nvPr/>
        </p:nvGrpSpPr>
        <p:grpSpPr>
          <a:xfrm rot="0">
            <a:off x="2133600" y="2552849"/>
            <a:ext cx="14486065" cy="1114574"/>
            <a:chOff x="0" y="0"/>
            <a:chExt cx="3418265" cy="263005"/>
          </a:xfrm>
        </p:grpSpPr>
        <p:sp>
          <p:nvSpPr>
            <p:cNvPr id="11" name="Freeform 8"/>
            <p:cNvSpPr/>
            <p:nvPr/>
          </p:nvSpPr>
          <p:spPr>
            <a:xfrm>
              <a:off x="0" y="0"/>
              <a:ext cx="3418265" cy="263005"/>
            </a:xfrm>
            <a:custGeom>
              <a:avLst/>
              <a:gdLst/>
              <a:rect l="l" t="t" r="r" b="b"/>
              <a:pathLst>
                <a:path w="3418265" h="26300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TextBox 9"/>
            <p:cNvSpPr txBox="1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2449"/>
                </a:lnSpc>
                <a:defRPr/>
              </a:pPr>
              <a:endParaRPr/>
            </a:p>
          </p:txBody>
        </p:sp>
      </p:grpSp>
      <p:sp>
        <p:nvSpPr>
          <p:cNvPr id="13" name="Freeform 10"/>
          <p:cNvSpPr/>
          <p:nvPr/>
        </p:nvSpPr>
        <p:spPr>
          <a:xfrm>
            <a:off x="2623870" y="2884870"/>
            <a:ext cx="447675" cy="447675"/>
          </a:xfrm>
          <a:custGeom>
            <a:avLst/>
            <a:gd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/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3328720" y="2980120"/>
            <a:ext cx="1859650" cy="3143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99"/>
              </a:lnSpc>
              <a:defRPr/>
            </a:pPr>
            <a:r>
              <a:rPr lang="ko-KR" alt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결론</a:t>
            </a: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01</a:t>
            </a:r>
            <a:endParaRPr lang="en-US" sz="2499" b="1" spc="-124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5764142" y="2914398"/>
            <a:ext cx="9685845" cy="3098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2700"/>
              </a:lnSpc>
              <a:defRPr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3</a:t>
            </a:r>
            <a:r>
              <a:rPr lang="ko-KR" alt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개 샘플링 기법 중 </a:t>
            </a:r>
            <a:r>
              <a:rPr lang="ko-KR" altLang="en-US">
                <a:solidFill>
                  <a:srgbClr val="222222">
                    <a:alpha val="90000"/>
                  </a:srgbClr>
                </a:solidFill>
                <a:latin typeface="JASO Sans"/>
              </a:rPr>
              <a:t>정상 거래 정보를 보존하는 </a:t>
            </a:r>
            <a:r>
              <a:rPr lang="en-US" altLang="ko-KR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SMOTE</a:t>
            </a:r>
            <a:r>
              <a:rPr lang="ko-KR" altLang="en-US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가 정밀도</a:t>
            </a:r>
            <a:r>
              <a:rPr lang="en-US" altLang="ko-KR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-</a:t>
            </a:r>
            <a:r>
              <a:rPr lang="ko-KR" altLang="en-US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재현율 균형</a:t>
            </a:r>
            <a:r>
              <a:rPr lang="ko-KR" altLang="en-US">
                <a:solidFill>
                  <a:srgbClr val="222222">
                    <a:alpha val="90000"/>
                  </a:srgbClr>
                </a:solidFill>
                <a:latin typeface="JASO Sans"/>
              </a:rPr>
              <a:t>이 가장 좋았다</a:t>
            </a:r>
            <a:r>
              <a:rPr lang="en-US" altLang="ko-KR">
                <a:solidFill>
                  <a:srgbClr val="222222">
                    <a:alpha val="90000"/>
                  </a:srgbClr>
                </a:solidFill>
                <a:latin typeface="JASO Sans"/>
              </a:rPr>
              <a:t>.</a:t>
            </a:r>
            <a:r>
              <a:rPr lang="ko-KR" alt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endParaRPr lang="en-US" sz="1800" spc="-9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16" name="AutoShape 13"/>
          <p:cNvSpPr/>
          <p:nvPr/>
        </p:nvSpPr>
        <p:spPr>
          <a:xfrm>
            <a:off x="5336797" y="2779534"/>
            <a:ext cx="0" cy="661204"/>
          </a:xfrm>
          <a:prstGeom prst="line">
            <a:avLst/>
          </a:prstGeom>
          <a:ln w="28575" cap="flat">
            <a:solidFill>
              <a:srgbClr val="3970cf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grpSp>
        <p:nvGrpSpPr>
          <p:cNvPr id="17" name="Group 14"/>
          <p:cNvGrpSpPr/>
          <p:nvPr/>
        </p:nvGrpSpPr>
        <p:grpSpPr>
          <a:xfrm rot="0">
            <a:off x="2133600" y="3848175"/>
            <a:ext cx="14486065" cy="1114574"/>
            <a:chOff x="0" y="0"/>
            <a:chExt cx="3418265" cy="263005"/>
          </a:xfrm>
        </p:grpSpPr>
        <p:sp>
          <p:nvSpPr>
            <p:cNvPr id="18" name="Freeform 15"/>
            <p:cNvSpPr/>
            <p:nvPr/>
          </p:nvSpPr>
          <p:spPr>
            <a:xfrm>
              <a:off x="0" y="0"/>
              <a:ext cx="3418265" cy="263005"/>
            </a:xfrm>
            <a:custGeom>
              <a:avLst/>
              <a:gdLst/>
              <a:rect l="l" t="t" r="r" b="b"/>
              <a:pathLst>
                <a:path w="3418265" h="26300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9" name="TextBox 16"/>
            <p:cNvSpPr txBox="1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2449"/>
                </a:lnSpc>
                <a:defRPr/>
              </a:pPr>
              <a:endParaRPr/>
            </a:p>
          </p:txBody>
        </p:sp>
      </p:grpSp>
      <p:sp>
        <p:nvSpPr>
          <p:cNvPr id="20" name="Freeform 17"/>
          <p:cNvSpPr/>
          <p:nvPr/>
        </p:nvSpPr>
        <p:spPr>
          <a:xfrm>
            <a:off x="2623870" y="4180195"/>
            <a:ext cx="447675" cy="447675"/>
          </a:xfrm>
          <a:custGeom>
            <a:avLst/>
            <a:gd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/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TextBox 18"/>
          <p:cNvSpPr txBox="1"/>
          <p:nvPr/>
        </p:nvSpPr>
        <p:spPr>
          <a:xfrm>
            <a:off x="3328720" y="4275446"/>
            <a:ext cx="1859650" cy="3143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99"/>
              </a:lnSpc>
              <a:defRPr/>
            </a:pPr>
            <a:r>
              <a:rPr lang="ko-KR" alt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결론</a:t>
            </a: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02</a:t>
            </a:r>
            <a:endParaRPr lang="en-US" sz="2499" b="1" spc="-124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2" name="TextBox 19"/>
          <p:cNvSpPr txBox="1"/>
          <p:nvPr/>
        </p:nvSpPr>
        <p:spPr>
          <a:xfrm>
            <a:off x="5764141" y="4030158"/>
            <a:ext cx="8161845" cy="6847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2700"/>
              </a:lnSpc>
              <a:defRPr/>
            </a:pPr>
            <a:r>
              <a:rPr lang="ko-KR" alt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신용카드 사기 탐지 주제에서는 </a:t>
            </a:r>
            <a:r>
              <a:rPr lang="en-US" altLang="ko-KR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5</a:t>
            </a:r>
            <a:r>
              <a:rPr lang="ko-KR" alt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개 모델 중 </a:t>
            </a:r>
            <a:r>
              <a:rPr lang="en-US" altLang="ko-KR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RandomForest</a:t>
            </a:r>
            <a:r>
              <a:rPr lang="ko-KR" altLang="en-US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가 </a:t>
            </a:r>
            <a:r>
              <a:rPr lang="en-US" altLang="ko-KR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ROC-AUC(0.9854)</a:t>
            </a:r>
            <a:r>
              <a:rPr lang="ko-KR" altLang="en-US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와 재현율이 가장 우수</a:t>
            </a:r>
            <a:r>
              <a:rPr lang="ko-KR" altLang="en-US">
                <a:solidFill>
                  <a:srgbClr val="222222">
                    <a:alpha val="90000"/>
                  </a:srgbClr>
                </a:solidFill>
                <a:latin typeface="JASO Sans"/>
              </a:rPr>
              <a:t>했다</a:t>
            </a:r>
            <a:r>
              <a:rPr lang="en-US" altLang="ko-KR">
                <a:solidFill>
                  <a:srgbClr val="222222">
                    <a:alpha val="90000"/>
                  </a:srgbClr>
                </a:solidFill>
                <a:latin typeface="JASO Sans"/>
              </a:rPr>
              <a:t>.</a:t>
            </a:r>
            <a:endParaRPr lang="en-US" altLang="ko-KR">
              <a:solidFill>
                <a:srgbClr val="222222">
                  <a:alpha val="90000"/>
                </a:srgbClr>
              </a:solidFill>
              <a:latin typeface="JASO Sans"/>
            </a:endParaRPr>
          </a:p>
        </p:txBody>
      </p:sp>
      <p:sp>
        <p:nvSpPr>
          <p:cNvPr id="23" name="AutoShape 20"/>
          <p:cNvSpPr/>
          <p:nvPr/>
        </p:nvSpPr>
        <p:spPr>
          <a:xfrm>
            <a:off x="5336797" y="4074860"/>
            <a:ext cx="0" cy="661204"/>
          </a:xfrm>
          <a:prstGeom prst="line">
            <a:avLst/>
          </a:prstGeom>
          <a:ln w="28575" cap="flat">
            <a:solidFill>
              <a:srgbClr val="3970cf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grpSp>
        <p:nvGrpSpPr>
          <p:cNvPr id="24" name="Group 21"/>
          <p:cNvGrpSpPr/>
          <p:nvPr/>
        </p:nvGrpSpPr>
        <p:grpSpPr>
          <a:xfrm rot="0">
            <a:off x="2133600" y="5143500"/>
            <a:ext cx="14486065" cy="1114574"/>
            <a:chOff x="0" y="0"/>
            <a:chExt cx="3418265" cy="263005"/>
          </a:xfrm>
        </p:grpSpPr>
        <p:sp>
          <p:nvSpPr>
            <p:cNvPr id="25" name="Freeform 22"/>
            <p:cNvSpPr/>
            <p:nvPr/>
          </p:nvSpPr>
          <p:spPr>
            <a:xfrm>
              <a:off x="0" y="0"/>
              <a:ext cx="3418265" cy="263005"/>
            </a:xfrm>
            <a:custGeom>
              <a:avLst/>
              <a:gdLst/>
              <a:rect l="l" t="t" r="r" b="b"/>
              <a:pathLst>
                <a:path w="3418265" h="26300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6" name="TextBox 23"/>
            <p:cNvSpPr txBox="1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2449"/>
                </a:lnSpc>
                <a:defRPr/>
              </a:pPr>
              <a:endParaRPr/>
            </a:p>
          </p:txBody>
        </p:sp>
      </p:grpSp>
      <p:sp>
        <p:nvSpPr>
          <p:cNvPr id="27" name="Freeform 24"/>
          <p:cNvSpPr/>
          <p:nvPr/>
        </p:nvSpPr>
        <p:spPr>
          <a:xfrm>
            <a:off x="2623870" y="5475521"/>
            <a:ext cx="447675" cy="447675"/>
          </a:xfrm>
          <a:custGeom>
            <a:avLst/>
            <a:gd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/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TextBox 25"/>
          <p:cNvSpPr txBox="1"/>
          <p:nvPr/>
        </p:nvSpPr>
        <p:spPr>
          <a:xfrm>
            <a:off x="3328720" y="5570771"/>
            <a:ext cx="1859650" cy="3143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99"/>
              </a:lnSpc>
              <a:defRPr/>
            </a:pPr>
            <a:r>
              <a:rPr lang="ko-KR" alt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결론</a:t>
            </a: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03</a:t>
            </a:r>
            <a:endParaRPr lang="en-US" sz="2499" b="1" spc="-124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9" name="TextBox 26"/>
          <p:cNvSpPr txBox="1"/>
          <p:nvPr/>
        </p:nvSpPr>
        <p:spPr>
          <a:xfrm>
            <a:off x="5764141" y="5377521"/>
            <a:ext cx="8619044" cy="7089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>
                <a:solidFill>
                  <a:srgbClr val="222222">
                    <a:alpha val="90000"/>
                  </a:srgbClr>
                </a:solidFill>
                <a:latin typeface="JASO Sans"/>
              </a:rPr>
              <a:t>재현율 우선 임계값</a:t>
            </a:r>
            <a:r>
              <a:rPr lang="en-US" altLang="ko-KR">
                <a:solidFill>
                  <a:srgbClr val="222222">
                    <a:alpha val="90000"/>
                  </a:srgbClr>
                </a:solidFill>
                <a:latin typeface="JASO Sans"/>
              </a:rPr>
              <a:t>(0.305)</a:t>
            </a:r>
            <a:r>
              <a:rPr lang="ko-KR" altLang="en-US">
                <a:solidFill>
                  <a:srgbClr val="222222">
                    <a:alpha val="90000"/>
                  </a:srgbClr>
                </a:solidFill>
                <a:latin typeface="JASO Sans"/>
              </a:rPr>
              <a:t>을 채택하여 </a:t>
            </a:r>
            <a:r>
              <a:rPr lang="ko-KR" altLang="en-US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테스트셋 사기 </a:t>
            </a:r>
            <a:r>
              <a:rPr lang="en-US" altLang="ko-KR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147</a:t>
            </a:r>
            <a:r>
              <a:rPr lang="ko-KR" altLang="en-US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건 중 </a:t>
            </a:r>
            <a:r>
              <a:rPr lang="en-US" altLang="ko-KR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123</a:t>
            </a:r>
            <a:r>
              <a:rPr lang="ko-KR" altLang="en-US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건</a:t>
            </a:r>
            <a:r>
              <a:rPr lang="en-US" altLang="ko-KR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(84%)</a:t>
            </a:r>
            <a:r>
              <a:rPr lang="ko-KR" altLang="en-US" b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을 탐지</a:t>
            </a:r>
            <a:r>
              <a:rPr lang="ko-KR" altLang="en-US">
                <a:solidFill>
                  <a:srgbClr val="222222">
                    <a:alpha val="90000"/>
                  </a:srgbClr>
                </a:solidFill>
                <a:latin typeface="JASO Sans"/>
              </a:rPr>
              <a:t>했다</a:t>
            </a:r>
            <a:r>
              <a:rPr lang="en-US" altLang="ko-KR">
                <a:solidFill>
                  <a:srgbClr val="222222">
                    <a:alpha val="90000"/>
                  </a:srgbClr>
                </a:solidFill>
                <a:latin typeface="JASO Sans"/>
              </a:rPr>
              <a:t>.</a:t>
            </a:r>
            <a:endParaRPr lang="en-US" altLang="ko-KR">
              <a:solidFill>
                <a:srgbClr val="222222">
                  <a:alpha val="90000"/>
                </a:srgbClr>
              </a:solidFill>
              <a:latin typeface="JASO Sans"/>
            </a:endParaRPr>
          </a:p>
        </p:txBody>
      </p:sp>
      <p:sp>
        <p:nvSpPr>
          <p:cNvPr id="30" name="AutoShape 27"/>
          <p:cNvSpPr/>
          <p:nvPr/>
        </p:nvSpPr>
        <p:spPr>
          <a:xfrm>
            <a:off x="5336797" y="5396696"/>
            <a:ext cx="0" cy="661204"/>
          </a:xfrm>
          <a:prstGeom prst="line">
            <a:avLst/>
          </a:prstGeom>
          <a:ln w="28575" cap="flat">
            <a:solidFill>
              <a:srgbClr val="3970cf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397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3983" y="5057775"/>
            <a:ext cx="4380035" cy="46354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3850"/>
              </a:lnSpc>
              <a:defRPr/>
            </a:pPr>
            <a:r>
              <a:rPr lang="en-US" sz="2500" spc="-125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MACHINE LEARNING CASE STUDY</a:t>
            </a:r>
            <a:endParaRPr lang="en-US" sz="2500" spc="-125">
              <a:solidFill>
                <a:srgbClr val="c9dfff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973222" y="8933815"/>
            <a:ext cx="12341556" cy="3244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2620"/>
              </a:lnSpc>
              <a:defRPr/>
            </a:pPr>
            <a:r>
              <a:rPr lang="en-US" sz="2000" b="1" spc="-100">
                <a:solidFill>
                  <a:srgbClr val="fcfcfc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2장 Credit Card Fraud Detection · 담당 염윤호</a:t>
            </a:r>
            <a:endParaRPr lang="en-US" sz="2000" b="1" spc="-100">
              <a:solidFill>
                <a:srgbClr val="fcfcfc">
                  <a:alpha val="93720"/>
                </a:srgbClr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218210" y="8695690"/>
            <a:ext cx="15851580" cy="0"/>
          </a:xfrm>
          <a:prstGeom prst="line">
            <a:avLst/>
          </a:prstGeom>
          <a:ln w="19050" cap="flat">
            <a:solidFill>
              <a:srgbClr val="fdfdfb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691188" y="3319462"/>
            <a:ext cx="6905625" cy="15144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1999"/>
              </a:lnSpc>
              <a:defRPr/>
            </a:pPr>
            <a:r>
              <a:rPr lang="en-US" sz="9999" spc="-498">
                <a:solidFill>
                  <a:srgbClr val="fdfdfb"/>
                </a:solidFill>
                <a:latin typeface="JASO Sans"/>
                <a:ea typeface="JASO Sans"/>
                <a:cs typeface="JASO Sans"/>
                <a:sym typeface="JASO Sans"/>
              </a:rPr>
              <a:t>감사합니다</a:t>
            </a:r>
            <a:endParaRPr lang="en-US" sz="9999" spc="-498">
              <a:solidFill>
                <a:srgbClr val="fdfdfb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28234" y="2324100"/>
            <a:ext cx="8831531" cy="781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300"/>
              </a:lnSpc>
              <a:defRPr/>
            </a:pPr>
            <a:r>
              <a:rPr lang="en-US" sz="3000" b="1">
                <a:solidFill>
                  <a:srgbClr val="fdfdfb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CREDIT CARD FRAUD DETECTION</a:t>
            </a:r>
            <a:endParaRPr lang="en-US" sz="3000" b="1">
              <a:solidFill>
                <a:srgbClr val="fdfdfb"/>
              </a:solidFill>
              <a:latin typeface="JASO Sans Heavy"/>
              <a:ea typeface="JASO Sans Heavy"/>
              <a:cs typeface="JASO Sans Heavy"/>
              <a:sym typeface="JASO Sans Heavy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8759121" y="1437323"/>
            <a:ext cx="769758" cy="190500"/>
            <a:chOff x="0" y="0"/>
            <a:chExt cx="1026344" cy="254000"/>
          </a:xfrm>
        </p:grpSpPr>
        <p:grpSp>
          <p:nvGrpSpPr>
            <p:cNvPr id="8" name="Group 8"/>
            <p:cNvGrpSpPr/>
            <p:nvPr/>
          </p:nvGrpSpPr>
          <p:grpSpPr>
            <a:xfrm rot="0">
              <a:off x="0" y="0"/>
              <a:ext cx="254000" cy="254000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29800"/>
                </a:srgbClr>
              </a:solidFill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60000"/>
                </a:srgbClr>
              </a:solidFill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/>
              </a:solidFill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538</ep:Words>
  <ep:PresentationFormat>사용자 지정</ep:PresentationFormat>
  <ep:Paragraphs>63</ep:Paragraphs>
  <ep:Slides>14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ekryh</cp:lastModifiedBy>
  <dcterms:modified xsi:type="dcterms:W3CDTF">2026-09-06T14:43:28.119</dcterms:modified>
  <cp:revision>25</cp:revision>
  <dc:title>파란색 흰색 미니멀리스트 비즈니스 회사 사업 소개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