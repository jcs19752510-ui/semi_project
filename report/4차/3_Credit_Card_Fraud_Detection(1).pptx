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62" r:id="rId1"/>
  </p:sldMasterIdLst>
  <p:sldIdLst>
    <p:sldId id="266" r:id="rId2"/>
    <p:sldId id="267" r:id="rId3"/>
    <p:sldId id="268" r:id="rId4"/>
    <p:sldId id="269" r:id="rId5"/>
    <p:sldId id="270" r:id="rId6"/>
    <p:sldId id="281" r:id="rId7"/>
    <p:sldId id="271" r:id="rId8"/>
    <p:sldId id="272" r:id="rId9"/>
    <p:sldId id="273" r:id="rId10"/>
    <p:sldId id="274" r:id="rId11"/>
    <p:sldId id="275" r:id="rId12"/>
    <p:sldId id="277" r:id="rId13"/>
    <p:sldId id="276" r:id="rId14"/>
    <p:sldId id="278" r:id="rId15"/>
    <p:sldId id="279" r:id="rId16"/>
    <p:sldId id="280" r:id="rId17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-1092" y="-90"/>
      </p:cViewPr>
      <p:guideLst>
        <p:guide orient="horz" pos="2158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slide" Target="slides/slide15.xml"  /><Relationship Id="rId17" Type="http://schemas.openxmlformats.org/officeDocument/2006/relationships/slide" Target="slides/slide16.xml"  /><Relationship Id="rId18" Type="http://schemas.openxmlformats.org/officeDocument/2006/relationships/presProps" Target="presProps.xml"  /><Relationship Id="rId19" Type="http://schemas.openxmlformats.org/officeDocument/2006/relationships/viewProps" Target="viewProps.xml"  /><Relationship Id="rId2" Type="http://schemas.openxmlformats.org/officeDocument/2006/relationships/slide" Target="slides/slide1.xml"  /><Relationship Id="rId20" Type="http://schemas.openxmlformats.org/officeDocument/2006/relationships/theme" Target="theme/theme1.xml"  /><Relationship Id="rId21" Type="http://schemas.openxmlformats.org/officeDocument/2006/relationships/tableStyles" Target="tableStyles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6.png"  /><Relationship Id="rId3" Type="http://schemas.openxmlformats.org/officeDocument/2006/relationships/image" Target="../media/image7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.png"  /><Relationship Id="rId3" Type="http://schemas.openxmlformats.org/officeDocument/2006/relationships/image" Target="../media/image9.sv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0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1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.png"  /><Relationship Id="rId3" Type="http://schemas.openxmlformats.org/officeDocument/2006/relationships/image" Target="../media/image9.sv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953982" y="6362700"/>
            <a:ext cx="4380036" cy="4953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ctr">
              <a:lnSpc>
                <a:spcPts val="3850"/>
              </a:lnSpc>
              <a:defRPr/>
            </a:pPr>
            <a:r>
              <a:rPr lang="en-US" sz="2500" spc="-125">
                <a:solidFill>
                  <a:srgbClr val="3970cf"/>
                </a:solidFill>
                <a:latin typeface="JASO Sans"/>
                <a:ea typeface="JASO Sans"/>
                <a:cs typeface="JASO Sans"/>
                <a:sym typeface="JASO Sans"/>
              </a:rPr>
              <a:t>신용카드 사기 거래 탐지 </a:t>
            </a:r>
            <a:endParaRPr lang="en-US" sz="2500" spc="-125">
              <a:solidFill>
                <a:srgbClr val="3970cf"/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18210" y="9101518"/>
            <a:ext cx="4086726" cy="3244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2620"/>
              </a:lnSpc>
              <a:defRPr/>
            </a:pPr>
            <a:r>
              <a:rPr lang="en-US" sz="2000" b="1" spc="-100">
                <a:solidFill>
                  <a:srgbClr val="3970cf">
                    <a:alpha val="93720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담당  |  염윤호</a:t>
            </a:r>
            <a:endParaRPr lang="en-US" sz="2000" b="1" spc="-100">
              <a:solidFill>
                <a:srgbClr val="3970cf">
                  <a:alpha val="93720"/>
                </a:srgbClr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2983064" y="9101518"/>
            <a:ext cx="4086726" cy="3244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2620"/>
              </a:lnSpc>
              <a:defRPr/>
            </a:pPr>
            <a:r>
              <a:rPr lang="en-US" sz="2000" b="1" spc="-100">
                <a:solidFill>
                  <a:srgbClr val="3970cf">
                    <a:alpha val="93720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작성일  |  2026. 9. 2</a:t>
            </a:r>
            <a:endParaRPr lang="en-US" sz="2000" b="1" spc="-100">
              <a:solidFill>
                <a:srgbClr val="3970cf">
                  <a:alpha val="93720"/>
                </a:srgbClr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4331494" y="3238499"/>
            <a:ext cx="9625012" cy="30480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999"/>
              </a:lnSpc>
              <a:defRPr/>
            </a:pPr>
            <a:r>
              <a:rPr lang="en-US" sz="9999" spc="-498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Credit Card</a:t>
            </a:r>
            <a:endParaRPr lang="en-US" sz="9999" spc="-498">
              <a:solidFill>
                <a:srgbClr val="222222"/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ctr">
              <a:lnSpc>
                <a:spcPts val="11999"/>
              </a:lnSpc>
              <a:defRPr/>
            </a:pPr>
            <a:r>
              <a:rPr lang="en-US" sz="9999" b="1" spc="-498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Fraud Detection</a:t>
            </a:r>
            <a:endParaRPr lang="en-US" sz="9999" b="1" spc="-498">
              <a:solidFill>
                <a:srgbClr val="222222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728234" y="2324100"/>
            <a:ext cx="8831531" cy="781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6300"/>
              </a:lnSpc>
              <a:defRPr/>
            </a:pPr>
            <a:r>
              <a:rPr lang="en-US" sz="2800" b="1">
                <a:solidFill>
                  <a:srgbClr val="3970cf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MACHINE LEARNING CASE STUDY</a:t>
            </a:r>
            <a:endParaRPr lang="en-US" sz="2800" b="1">
              <a:solidFill>
                <a:srgbClr val="3970cf"/>
              </a:solidFill>
              <a:latin typeface="JASO Sans Heavy"/>
              <a:ea typeface="JASO Sans Heavy"/>
              <a:cs typeface="JASO Sans Heavy"/>
              <a:sym typeface="JASO Sans Heavy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218210" y="8789415"/>
            <a:ext cx="15851580" cy="0"/>
          </a:xfrm>
          <a:prstGeom prst="line">
            <a:avLst/>
          </a:prstGeom>
          <a:ln w="19050" cap="flat">
            <a:solidFill>
              <a:srgbClr val="3970cf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grpSp>
        <p:nvGrpSpPr>
          <p:cNvPr id="8" name="Group 8"/>
          <p:cNvGrpSpPr/>
          <p:nvPr/>
        </p:nvGrpSpPr>
        <p:grpSpPr>
          <a:xfrm rot="0">
            <a:off x="8759121" y="1437323"/>
            <a:ext cx="769758" cy="190500"/>
            <a:chOff x="0" y="0"/>
            <a:chExt cx="1026344" cy="254000"/>
          </a:xfrm>
        </p:grpSpPr>
        <p:grpSp>
          <p:nvGrpSpPr>
            <p:cNvPr id="9" name="Group 9"/>
            <p:cNvGrpSpPr/>
            <p:nvPr/>
          </p:nvGrpSpPr>
          <p:grpSpPr>
            <a:xfrm rot="0">
              <a:off x="0" y="0"/>
              <a:ext cx="254000" cy="254000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>
                  <a:alpha val="29800"/>
                </a:srgbClr>
              </a:solidFill>
            </p:spPr>
            <p:txBody>
              <a:bodyPr anchor="ctr"/>
              <a:p>
                <a:pPr algn="ctr">
                  <a:defRPr/>
                </a:pPr>
                <a:endParaRPr lang="ko-KR" alt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algn="ctr">
                  <a:lnSpc>
                    <a:spcPts val="2893"/>
                  </a:lnSpc>
                  <a:defRPr/>
                </a:pPr>
                <a:endParaRPr lang="ko-KR" altLang="en-US"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 rot="0">
              <a:off x="386172" y="0"/>
              <a:ext cx="254000" cy="254000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>
                  <a:alpha val="60000"/>
                </a:srgbClr>
              </a:solidFill>
            </p:spPr>
            <p:txBody>
              <a:bodyPr anchor="ctr"/>
              <a:p>
                <a:pPr algn="ctr">
                  <a:defRPr/>
                </a:pPr>
                <a:endParaRPr lang="ko-KR" alt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algn="ctr">
                  <a:lnSpc>
                    <a:spcPts val="2893"/>
                  </a:lnSpc>
                  <a:defRPr/>
                </a:pPr>
                <a:endParaRPr lang="ko-KR" altLang="en-US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rot="0">
              <a:off x="772344" y="0"/>
              <a:ext cx="254000" cy="254000"/>
              <a:chOff x="0" y="0"/>
              <a:chExt cx="812800" cy="8128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/>
              </a:solidFill>
            </p:spPr>
            <p:txBody>
              <a:bodyPr anchor="ctr"/>
              <a:p>
                <a:pPr algn="ctr">
                  <a:defRPr/>
                </a:pPr>
                <a:endParaRPr lang="ko-KR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algn="ctr">
                  <a:lnSpc>
                    <a:spcPts val="2893"/>
                  </a:lnSpc>
                  <a:defRPr/>
                </a:pPr>
                <a:endParaRPr lang="ko-KR" altLang="en-US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397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33361" y="4842594"/>
            <a:ext cx="2868728" cy="4476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749"/>
              </a:lnSpc>
              <a:defRPr/>
            </a:pPr>
            <a:r>
              <a:rPr 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프로젝트 개요</a:t>
            </a:r>
            <a:endParaRPr lang="en-US" sz="2499" b="1" spc="-124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881511" y="4842594"/>
            <a:ext cx="2868728" cy="46283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749"/>
              </a:lnSpc>
              <a:defRPr/>
            </a:pPr>
            <a:r>
              <a:rPr 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샘플링 </a:t>
            </a:r>
            <a:r>
              <a:rPr lang="en-US" altLang="ko-KR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&amp;</a:t>
            </a:r>
            <a:r>
              <a:rPr lang="ko-KR" alt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모델링</a:t>
            </a:r>
            <a:endParaRPr lang="ko-KR" altLang="en-US" sz="2499" b="1" spc="-124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633361" y="5585544"/>
            <a:ext cx="2868728" cy="46283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749"/>
              </a:lnSpc>
              <a:defRPr/>
            </a:pPr>
            <a:r>
              <a:rPr 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탐색적 데이터 분석</a:t>
            </a:r>
            <a:endParaRPr lang="en-US" sz="2499" b="1" spc="-124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881510" y="5585544"/>
            <a:ext cx="3215489" cy="46283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749"/>
              </a:lnSpc>
              <a:defRPr/>
            </a:pPr>
            <a:r>
              <a:rPr 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파이프라인 &amp; 성능 검증</a:t>
            </a:r>
            <a:endParaRPr lang="en-US" sz="2499" b="1" spc="-124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490261" y="4780682"/>
            <a:ext cx="792278" cy="55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4500"/>
              </a:lnSpc>
              <a:defRPr/>
            </a:pPr>
            <a:r>
              <a:rPr lang="en-US" sz="3000" b="1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01</a:t>
            </a:r>
            <a:endParaRPr lang="en-US" sz="3000" b="1" spc="-150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738411" y="4780682"/>
            <a:ext cx="792278" cy="55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4500"/>
              </a:lnSpc>
              <a:defRPr/>
            </a:pPr>
            <a:r>
              <a:rPr lang="en-US" sz="3000" b="1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05</a:t>
            </a:r>
            <a:endParaRPr lang="en-US" sz="3000" b="1" spc="-150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490261" y="5523632"/>
            <a:ext cx="792278" cy="55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4500"/>
              </a:lnSpc>
              <a:defRPr/>
            </a:pPr>
            <a:r>
              <a:rPr lang="en-US" sz="3000" b="1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</a:t>
            </a:r>
            <a:endParaRPr lang="en-US" sz="3000" b="1" spc="-150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738411" y="5523632"/>
            <a:ext cx="792278" cy="55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4500"/>
              </a:lnSpc>
              <a:defRPr/>
            </a:pPr>
            <a:r>
              <a:rPr lang="en-US" sz="3000" b="1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06</a:t>
            </a:r>
            <a:endParaRPr lang="en-US" sz="3000" b="1" spc="-150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633361" y="6328494"/>
            <a:ext cx="2868728" cy="4476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749"/>
              </a:lnSpc>
              <a:defRPr/>
            </a:pPr>
            <a:r>
              <a:rPr 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결과 지표 정의</a:t>
            </a:r>
            <a:endParaRPr lang="en-US" sz="2499" b="1" spc="-124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881511" y="6328494"/>
            <a:ext cx="2868728" cy="4476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749"/>
              </a:lnSpc>
              <a:defRPr/>
            </a:pPr>
            <a:r>
              <a:rPr 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모델별 비교</a:t>
            </a:r>
            <a:endParaRPr lang="en-US" sz="2499" b="1" spc="-124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5490261" y="6266582"/>
            <a:ext cx="792278" cy="55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4500"/>
              </a:lnSpc>
              <a:defRPr/>
            </a:pPr>
            <a:r>
              <a:rPr lang="en-US" sz="3000" b="1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</a:t>
            </a:r>
            <a:endParaRPr lang="en-US" sz="3000" b="1" spc="-150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738411" y="6266582"/>
            <a:ext cx="792278" cy="55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4500"/>
              </a:lnSpc>
              <a:defRPr/>
            </a:pPr>
            <a:r>
              <a:rPr lang="en-US" sz="3000" b="1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07</a:t>
            </a:r>
            <a:endParaRPr lang="en-US" sz="3000" b="1" spc="-150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33361" y="7071444"/>
            <a:ext cx="2868728" cy="4476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749"/>
              </a:lnSpc>
              <a:defRPr/>
            </a:pPr>
            <a:r>
              <a:rPr 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데이터 전처리</a:t>
            </a:r>
            <a:endParaRPr lang="en-US" sz="2499" b="1" spc="-124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881511" y="7071444"/>
            <a:ext cx="2868728" cy="4476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749"/>
              </a:lnSpc>
              <a:defRPr/>
            </a:pPr>
            <a:r>
              <a:rPr lang="en-US" sz="2499" b="1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종합 결론</a:t>
            </a:r>
            <a:endParaRPr lang="en-US" sz="2499" b="1" spc="-124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490261" y="7009532"/>
            <a:ext cx="792278" cy="55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4500"/>
              </a:lnSpc>
              <a:defRPr/>
            </a:pPr>
            <a:r>
              <a:rPr lang="en-US" sz="3000" b="1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04</a:t>
            </a:r>
            <a:endParaRPr lang="en-US" sz="3000" b="1" spc="-150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738411" y="7009532"/>
            <a:ext cx="792278" cy="55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4500"/>
              </a:lnSpc>
              <a:defRPr/>
            </a:pPr>
            <a:r>
              <a:rPr lang="en-US" sz="3000" b="1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08</a:t>
            </a:r>
            <a:endParaRPr lang="en-US" sz="3000" b="1" spc="-150">
              <a:solidFill>
                <a:srgbClr val="fcfcfc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535415" y="1797797"/>
            <a:ext cx="5217170" cy="12477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10499"/>
              </a:lnSpc>
              <a:defRPr/>
            </a:pPr>
            <a:r>
              <a:rPr lang="en-US" sz="6999" b="1" spc="-349">
                <a:solidFill>
                  <a:srgbClr val="fcfcfc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AGENDA</a:t>
            </a:r>
            <a:endParaRPr lang="en-US" sz="6999" b="1" spc="-349">
              <a:solidFill>
                <a:srgbClr val="fcfcfc"/>
              </a:solidFill>
              <a:latin typeface="JASO Sans Heavy"/>
              <a:ea typeface="JASO Sans Heavy"/>
              <a:cs typeface="JASO Sans Heavy"/>
              <a:sym typeface="JASO Sans Heavy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2.1 프로젝트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00" y="1600000"/>
            <a:ext cx="14630600" cy="1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>
                <a:solidFill>
                  <a:srgbClr val="222222">
                    <a:alpha val="80000"/>
                  </a:srgbClr>
                </a:solidFill>
                <a:latin typeface="JASO Sans"/>
              </a:rPr>
              <a:t>28개의 PCA(주성분분석) 변환 변수(V1~V28)와 거래 시각(Time), 거래 금액(Amount)으로</a:t>
            </a:r>
          </a:p>
          <a:p>
            <a:pPr algn="ctr">
              <a:lnSpc>
                <a:spcPct val="130000"/>
              </a:lnSpc>
            </a:pPr>
            <a:r>
              <a:rPr sz="1700" b="0">
                <a:solidFill>
                  <a:srgbClr val="222222">
                    <a:alpha val="80000"/>
                  </a:srgbClr>
                </a:solidFill>
                <a:latin typeface="JASO Sans"/>
              </a:rPr>
              <a:t>사기 거래 여부(Class)를 예측하는 이진 분류 문제</a:t>
            </a:r>
          </a:p>
          <a:p>
            <a:pPr algn="ctr">
              <a:lnSpc>
                <a:spcPct val="130000"/>
              </a:lnSpc>
            </a:pPr>
            <a:r>
              <a:rPr sz="1700" b="0">
                <a:solidFill>
                  <a:srgbClr val="222222">
                    <a:alpha val="80000"/>
                  </a:srgbClr>
                </a:solidFill>
                <a:latin typeface="JASO Sans"/>
              </a:rPr>
              <a:t>샘플링 기법 3가지(언더샘플링 · SMOTE · SMOTE-ENN)와 모델 5가지(RandomForest · LightGBM · XGBoost · GradientBoost · LogisticRegression)의 성능을 비교한다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3800000"/>
            <a:ext cx="360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700" y="4100000"/>
            <a:ext cx="36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970CF"/>
                </a:solidFill>
                <a:latin typeface="JASO Sans Bold"/>
              </a:rPr>
              <a:t>284,807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700" y="5080000"/>
            <a:ext cx="348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JASO Sans"/>
              </a:rPr>
              <a:t>전체 거래 건수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8900" y="3800000"/>
            <a:ext cx="360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8900" y="4100000"/>
            <a:ext cx="36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970CF"/>
                </a:solidFill>
                <a:latin typeface="JASO Sans Bold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98900" y="5080000"/>
            <a:ext cx="348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JASO Sans"/>
              </a:rPr>
              <a:t>컬럼 수 (Time+V1~V28+Amount+Class)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9100" y="3800000"/>
            <a:ext cx="360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49100" y="4100000"/>
            <a:ext cx="36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970CF"/>
                </a:solidFill>
                <a:latin typeface="JASO Sans Bold"/>
              </a:rPr>
              <a:t>0.173%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100" y="5080000"/>
            <a:ext cx="348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JASO Sans"/>
              </a:rPr>
              <a:t>사기(Class=1) 비율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659300" y="3800000"/>
            <a:ext cx="360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59300" y="4100000"/>
            <a:ext cx="36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970CF"/>
                </a:solidFill>
                <a:latin typeface="JASO Sans Bold"/>
              </a:rPr>
              <a:t>0건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9300" y="5080000"/>
            <a:ext cx="348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JASO Sans"/>
              </a:rPr>
              <a:t>결측치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2.2 EDA — 거래 금액 분포 (Amount)</a:t>
            </a:r>
          </a:p>
        </p:txBody>
      </p:sp>
      <p:pic>
        <p:nvPicPr>
          <p:cNvPr id="3" name="Picture 2" descr="credit_amount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861" y="1700000"/>
            <a:ext cx="8935677" cy="69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28700" y="8800000"/>
            <a:ext cx="92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222222">
                    <a:alpha val="85000"/>
                  </a:srgbClr>
                </a:solidFill>
                <a:latin typeface="JASO Sans"/>
              </a:rPr>
              <a:t>그림 2-5(좌). Amount 원본 분포 — 왜도(skew) 16.98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0" y="2400000"/>
            <a:ext cx="6459300" cy="10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평균 $88.35 &gt; 중앙값 $22.00 — 소액 거래가 대부분이고 극소수 고액 거래가 평균을 끌어올린다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0" y="3550000"/>
            <a:ext cx="6459300" cy="10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왜도(skewness) 16.98 — 오른쪽으로 극단적으로 긴 꼬리(right-skewed) 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4700000"/>
            <a:ext cx="6459300" cy="10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사기 거래: 평균 $122.21(+38%) vs 중앙값 $9.25(−58%) — 소액 "테스트 결제"와 일부 고액 사기가 공존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5850000"/>
            <a:ext cx="6459300" cy="10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→ log1p 변환으로 왜도 16.98 → 0.16, Amount_Scaled 컬럼 생성 근거 (§2.4)</a:t>
            </a:r>
          </a:p>
        </p:txBody>
      </p:sp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2.2 EDA — 클래스와 시간대 패턴 (Time)</a:t>
            </a:r>
          </a:p>
        </p:txBody>
      </p:sp>
      <p:pic>
        <p:nvPicPr>
          <p:cNvPr id="3" name="Picture 2" descr="credit_time_patte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372" y="1600000"/>
            <a:ext cx="12023255" cy="47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28700" y="6500000"/>
            <a:ext cx="162306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222222">
                    <a:alpha val="85000"/>
                  </a:srgbClr>
                </a:solidFill>
                <a:latin typeface="JASO Sans"/>
              </a:rPr>
              <a:t>그림 2-4. 시간대별 거래 건수 — 정상 거래(왼쪽)는 새벽 0~6시에 뚜렷이 감소하지만, 사기 거래(오른쪽)는 이 시간대에도 상대적으로 활발하다.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700" y="7350000"/>
            <a:ext cx="16230600" cy="6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Time은 첫 거래 이후 경과 초 — (Time/3600) % 24로 환산해 하루 중 거래 시간대를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" y="8070000"/>
            <a:ext cx="16230600" cy="6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새벽 0~6시 사기 비중 25.20% vs 정상 8.37% — 약 3배, 소유자가 잠든 시간의 도난·탈취 거래 패턴과 부합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8790000"/>
            <a:ext cx="16230600" cy="6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다만 Time은 실제 시계(time-of-day)가 아닌 수집 시작 후 경과 초 → 피처로 남기지 않고 제거 (§2.4)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2.2 EDA — 클래스 분포 (Class)</a:t>
            </a:r>
          </a:p>
        </p:txBody>
      </p:sp>
      <p:pic>
        <p:nvPicPr>
          <p:cNvPr id="3" name="Picture 2" descr="credit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14" y="1420000"/>
            <a:ext cx="7227272" cy="5300000"/>
          </a:xfrm>
          <a:prstGeom prst="rect">
            <a:avLst/>
          </a:prstGeom>
        </p:spPr>
      </p:pic>
      <p:pic>
        <p:nvPicPr>
          <p:cNvPr id="4" name="Picture 3" descr="credit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1650" y="1420000"/>
            <a:ext cx="5300000" cy="5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700" y="6800000"/>
            <a:ext cx="79153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22222">
                    <a:alpha val="85000"/>
                  </a:srgbClr>
                </a:solidFill>
                <a:latin typeface="JASO Sans"/>
              </a:rPr>
              <a:t>그림 2-2. Class 분포(로그 스케일) — 정상 284,315건(99.827%) vs 사기 492건(0.173%), 약 578:1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44000" y="6800000"/>
            <a:ext cx="79153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22222">
                    <a:alpha val="85000"/>
                  </a:srgbClr>
                </a:solidFill>
                <a:latin typeface="JASO Sans"/>
              </a:rPr>
              <a:t>그림 2-3. 31개 변수 전체의 피어슨 상관계수 히트맵 — V1~V28은 PCA 축이라 서로 직교, 색이 뚜렷이 갈리는 곳은 Time·Amount·Class 행뿐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7750000"/>
            <a:ext cx="79153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>
                    <a:alpha val="90000"/>
                  </a:srgbClr>
                </a:solidFill>
                <a:latin typeface="JASO Sans"/>
              </a:rPr>
              <a:t>Santander(24:1)보다 100배 이상 심한 불균형이다. 이 정도 비율에서는 ROC-AUC조차 낙관적으로 보일 수 있어, ROC-AUC와 AUPRC를 함께 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4000" y="7750000"/>
            <a:ext cx="79153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>
                    <a:alpha val="90000"/>
                  </a:srgbClr>
                </a:solidFill>
                <a:latin typeface="JASO Sans"/>
              </a:rPr>
              <a:t>Class와 V14와의 상관관계(−0.303)가 높은 것으로 추정되어 V14의 이상치 제거 계획.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9000000"/>
            <a:ext cx="162306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3970CF"/>
                </a:solidFill>
                <a:latin typeface="JASO Sans Bold"/>
              </a:rPr>
              <a:t>극단적 불균형(578:1) — ROC-AUC만으로 부족하므로 AUPRC를 함께 확인 (§2.3)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2.3 결과 지표 정의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900000"/>
          <a:ext cx="16230600" cy="4599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6200000"/>
                <a:gridCol w="6830600"/>
              </a:tblGrid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JASO Sans Bold"/>
                        </a:rPr>
                        <a:t>지표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JASO Sans Bold"/>
                        </a:rPr>
                        <a:t>정의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JASO Sans Bold"/>
                        </a:rPr>
                        <a:t>이 데이터에서의 역할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Recall (재현율)</a:t>
                      </a:r>
                    </a:p>
                  </a:txBody>
                  <a:tcPr marL="60000" marR="60000" marT="20000" marB="20000" anchor="ctr">
                    <a:lnL w="28575" cap="flat" cmpd="sng" algn="ctr">
                      <a:solidFill>
                        <a:srgbClr val="C00000"/>
                      </a:solidFill>
                      <a:prstDash val="solid"/>
                    </a:lnL>
                    <a:lnT w="28575" cap="flat" cmpd="sng" algn="ctr">
                      <a:solidFill>
                        <a:srgbClr val="C00000"/>
                      </a:solidFill>
                      <a:prstDash val="soli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실제 사기 중 모델이 찾아낸 비율</a:t>
                      </a:r>
                    </a:p>
                  </a:txBody>
                  <a:tcPr marL="60000" marR="60000" marT="20000" marB="20000" anchor="ctr">
                    <a:lnT w="28575" cap="flat" cmpd="sng" algn="ctr">
                      <a:solidFill>
                        <a:srgbClr val="C00000"/>
                      </a:solidFill>
                      <a:prstDash val="soli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최우선 지표 — 놓친 사기는 금전 손실</a:t>
                      </a:r>
                    </a:p>
                  </a:txBody>
                  <a:tcPr marL="60000" marR="60000" marT="20000" marB="20000" anchor="ctr">
                    <a:lnR w="28575" cap="flat" cmpd="sng" algn="ctr">
                      <a:solidFill>
                        <a:srgbClr val="C00000"/>
                      </a:solidFill>
                      <a:prstDash val="soli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Precision (정밀도)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사기로 예측한 것 중 실제 사기 비율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너무 낮으면 정상 거래 차단 급증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F1-Score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정밀도·재현율의 조화평균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재현율 편중을 견제하는 균형 지표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ROC-AUC</a:t>
                      </a:r>
                    </a:p>
                  </a:txBody>
                  <a:tcPr marL="60000" marR="60000" marT="20000" marB="20000" anchor="ctr">
                    <a:lnL w="28575" cap="flat" cmpd="sng" algn="ctr">
                      <a:solidFill>
                        <a:srgbClr val="C00000"/>
                      </a:solidFill>
                      <a:prstDash val="solid"/>
                    </a:lnL>
                    <a:lnT w="28575" cap="flat" cmpd="sng" algn="ctr">
                      <a:solidFill>
                        <a:srgbClr val="C00000"/>
                      </a:solidFill>
                      <a:prstDash val="soli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전체 임곗값 TPR-FPR 트레이드오프</a:t>
                      </a:r>
                    </a:p>
                  </a:txBody>
                  <a:tcPr marL="60000" marR="60000" marT="20000" marB="20000" anchor="ctr">
                    <a:lnT w="28575" cap="flat" cmpd="sng" algn="ctr">
                      <a:solidFill>
                        <a:srgbClr val="C00000"/>
                      </a:solidFill>
                      <a:prstDash val="soli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모델 판별력 비교 (단독 과대평가 위험)</a:t>
                      </a:r>
                    </a:p>
                  </a:txBody>
                  <a:tcPr marL="60000" marR="60000" marT="20000" marB="20000" anchor="ctr">
                    <a:lnR w="28575" cap="flat" cmpd="sng" algn="ctr">
                      <a:solidFill>
                        <a:srgbClr val="C00000"/>
                      </a:solidFill>
                      <a:prstDash val="soli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AUPRC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Precision-Recall 곡선의 면적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극단적 불균형에서 ROC-AUC를 보완하는 핵심 지표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28700" y="6800000"/>
            <a:ext cx="162306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3970CF"/>
                </a:solidFill>
                <a:latin typeface="JASO Sans Bold"/>
              </a:rPr>
              <a:t>이 프로젝트의 핵심 의도 — 정밀도와 재현율 중 재현율을 우선한다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2.3 왜 재현율(Recall)을 우선하는가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559181" y="3096519"/>
            <a:ext cx="11169639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 사기를 놓치면(FN) 그대로 금전 손실이지만, 정상 거래를 오탐지(FP)해도 고객 확인 연락 정도의 비용에 그친다 — 그래서 FN을 줄이는 방향으로 임곗값을 조정한다.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420644" y="4500256"/>
            <a:ext cx="7141432" cy="1709734"/>
            <a:chOff x="0" y="0"/>
            <a:chExt cx="1685158" cy="40344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9910915" y="4746475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615765" y="4810293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오탐지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472115" y="4897454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FALSE POSITIVE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615765" y="5292258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정상을 사기로 오판 — 고객 재확인 비용(상대적으로 작음)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420644" y="6443364"/>
            <a:ext cx="7141432" cy="1709734"/>
            <a:chOff x="0" y="0"/>
            <a:chExt cx="1685158" cy="40344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076012" y="4500256"/>
            <a:ext cx="7141432" cy="1709734"/>
            <a:chOff x="0" y="0"/>
            <a:chExt cx="1685158" cy="40344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76012" y="6443364"/>
            <a:ext cx="7141432" cy="1709734"/>
            <a:chOff x="0" y="0"/>
            <a:chExt cx="1685158" cy="40344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2566282" y="6689583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3271132" y="6753401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탐지 실패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127482" y="6840562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FALSE NEGATIVE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271132" y="7235366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사기를 정상으로 오판 — 그대로 금전 손실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9910915" y="6689583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0615765" y="6753401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탐지 성공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472115" y="6840562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TRUE POSITIVE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615765" y="7235366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사기를 사기로 정확히 판별 — Recall의 분자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2566282" y="4746475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3271132" y="4810293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정상 예측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127482" y="4897454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TRUE NEGATIVE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271132" y="5292258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문제 없음 — 정상 거래를 정상으로 정확히 판별</a:t>
            </a:r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2800" b="1">
                <a:solidFill>
                  <a:srgbClr val="222222"/>
                </a:solidFill>
                <a:latin typeface="JASO Sans Bold"/>
              </a:rPr>
              <a:t>2.4 데이터 전처리 &amp; 클리닝</a:t>
            </a:r>
            <a:endParaRPr sz="2800" b="1">
              <a:solidFill>
                <a:srgbClr val="222222"/>
              </a:solidFill>
              <a:latin typeface="JASO Sans Bold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900000"/>
          <a:ext cx="15659100" cy="530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1535"/>
                <a:gridCol w="7061947"/>
                <a:gridCol w="4605618"/>
              </a:tblGrid>
              <a:tr h="106018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처리</a:t>
                      </a:r>
                      <a:endParaRPr sz="1400" b="1">
                        <a:solidFill>
                          <a:srgbClr val="ffffff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내용</a:t>
                      </a:r>
                      <a:endParaRPr sz="1400" b="1">
                        <a:solidFill>
                          <a:srgbClr val="ffffff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근거</a:t>
                      </a:r>
                      <a:endParaRPr sz="1400" b="1">
                        <a:solidFill>
                          <a:srgbClr val="ffffff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106018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Time 제거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거래 순번성 정보, 사기 여부와 직접 관련 없음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노이즈 제거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106018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Amount 로그 변환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log1p(Amount) → Amount_Scaled 컬럼 추가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왜도 16.98 → 0.16로 완화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106018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V14 이상치 제거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사기(Class=1) 데이터의 V14 IQR×1.5 범위 밖 값 제거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상관관계 상위권 변수의 잡음 축소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106018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train/test 분할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7:3, stratify=y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0.173% 비율을 양쪽 세트에 동일하게 유지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620000"/>
            <a:ext cx="162306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2600" b="1">
                <a:solidFill>
                  <a:srgbClr val="222222"/>
                </a:solidFill>
                <a:latin typeface="JASO Sans Bold"/>
              </a:rPr>
              <a:t>2.5 왜 리샘플링이 필요한가 — 샘플링 전략 3종 비교</a:t>
            </a:r>
            <a:endParaRPr sz="2600" b="1">
              <a:solidFill>
                <a:srgbClr val="222222"/>
              </a:solidFill>
              <a:latin typeface="JASO Sans Bold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162300" y="1333500"/>
          <a:ext cx="119634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6630600"/>
                <a:gridCol w="1065900"/>
                <a:gridCol w="1028700"/>
                <a:gridCol w="838200"/>
              </a:tblGrid>
              <a:tr h="47500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기법</a:t>
                      </a:r>
                      <a:endParaRPr sz="1400" b="1">
                        <a:solidFill>
                          <a:srgbClr val="ffffff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학습 데이터 변화</a:t>
                      </a:r>
                      <a:endParaRPr sz="1400" b="1">
                        <a:solidFill>
                          <a:srgbClr val="ffffff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정밀도</a:t>
                      </a:r>
                      <a:endParaRPr sz="1300" b="1">
                        <a:solidFill>
                          <a:srgbClr val="ffffff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재현율</a:t>
                      </a:r>
                      <a:endParaRPr sz="1300" b="1">
                        <a:solidFill>
                          <a:srgbClr val="ffffff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F1</a:t>
                      </a:r>
                      <a:endParaRPr sz="1300" b="1">
                        <a:solidFill>
                          <a:srgbClr val="ffffff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47500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언더샘플링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199,362건 → 684건 (342/342)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0.0478</a:t>
                      </a:r>
                      <a:endParaRPr sz="12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0.8844</a:t>
                      </a:r>
                      <a:endParaRPr sz="12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0.0906</a:t>
                      </a:r>
                      <a:endParaRPr sz="12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47500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SMOTE (채택)</a:t>
                      </a:r>
                      <a:endParaRPr sz="1300" b="1">
                        <a:solidFill>
                          <a:srgbClr val="2664b4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199,362건 → 398,040건 (199,020/199,020)</a:t>
                      </a:r>
                      <a:endParaRPr sz="1300" b="1">
                        <a:solidFill>
                          <a:srgbClr val="2664b4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0.8731</a:t>
                      </a:r>
                      <a:endParaRPr sz="1200" b="1">
                        <a:solidFill>
                          <a:srgbClr val="2664b4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0.7959</a:t>
                      </a:r>
                      <a:endParaRPr sz="1200" b="1">
                        <a:solidFill>
                          <a:srgbClr val="2664b4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0.8327</a:t>
                      </a:r>
                      <a:endParaRPr sz="1200" b="1">
                        <a:solidFill>
                          <a:srgbClr val="2664b4"/>
                        </a:solidFill>
                        <a:latin typeface="JASO Sans Bold"/>
                      </a:endParaRP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</a:tr>
              <a:tr h="475000">
                <a:tc>
                  <a:txBody>
                    <a:bodyPr vert="horz" wrap="square" lIns="60000" tIns="20000" rIns="60000" bIns="20000" anchor="ctr" anchorCtr="0"/>
                    <a:p>
                      <a:pPr algn="ctr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SMOTE-ENN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199,362건 → 397,717건 (199,020/198,697)</a:t>
                      </a:r>
                      <a:endParaRPr sz="13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0.7453</a:t>
                      </a:r>
                      <a:endParaRPr sz="12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0.8163</a:t>
                      </a:r>
                      <a:endParaRPr sz="12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vert="horz" wrap="square" lIns="60000" tIns="20000" rIns="60000" bIns="20000" anchor="ctr" anchorCtr="0"/>
                    <a:p>
                      <a:pPr algn="l">
                        <a:defRPr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0.7792</a:t>
                      </a:r>
                      <a:endParaRPr sz="1200" b="0">
                        <a:solidFill>
                          <a:srgbClr val="222222"/>
                        </a:solidFill>
                        <a:latin typeface="JASO Sans"/>
                      </a:endParaRP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redit_smote_scatte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759157" y="3924300"/>
            <a:ext cx="10769686" cy="469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" y="8800000"/>
            <a:ext cx="162306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SMOTE는 정상 거래 정보를 버리지 않으면서 사기 샘플을 원본의 약 582배로 증강</a:t>
            </a:r>
            <a:endParaRPr sz="1500" b="0">
              <a:solidFill>
                <a:srgbClr val="222222">
                  <a:alpha val="85000"/>
                </a:srgbClr>
              </a:solidFill>
              <a:latin typeface="JAS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8700" y="9350000"/>
            <a:ext cx="162306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500" b="1">
                <a:solidFill>
                  <a:srgbClr val="3970cf"/>
                </a:solidFill>
                <a:latin typeface="JASO Sans Bold"/>
              </a:rPr>
              <a:t>채택: SMOTE — 언더샘플링은 정밀도 0.0478로 오탐 과다, SMOTE-ENN은 SMOTE 대비 이점 미미 (§2.8)</a:t>
            </a:r>
            <a:endParaRPr sz="1500" b="1">
              <a:solidFill>
                <a:srgbClr val="3970cf"/>
              </a:solidFill>
              <a:latin typeface="JASO Sans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2.6 GridSearchCV 튜닝 — RandomForest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1600000"/>
            <a:ext cx="162306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3970CF"/>
                </a:solidFill>
                <a:latin typeface="JASO Sans Bold"/>
              </a:rPr>
              <a:t>Best Params: n_estimators=1000, max_depth=None, min_samples_leaf=1  →  CV ROC-AUC 0.9811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8700" y="2300000"/>
          <a:ext cx="16230600" cy="45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246120"/>
                <a:gridCol w="3246120"/>
                <a:gridCol w="3246120"/>
                <a:gridCol w="3246120"/>
              </a:tblGrid>
              <a:tr h="511111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n_estimators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max_depth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min_samples_leaf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CV ROC-AUC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순위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1000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None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0.9811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1000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0.9810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2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1000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None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0.9806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1000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0.9806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4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16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0.9802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5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300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0.9792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None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0.9791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300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None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0.9761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8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28700" y="7150000"/>
            <a:ext cx="162306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8개 조합의 CV ROC-AUC가 0.9761~0.9811에 밀집 — 구조적 파라미터보다 임곗값 조정에 튜닝 자원 집중 (§2.7)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222222"/>
                </a:solidFill>
                <a:latin typeface="JASO Sans Bold"/>
              </a:rPr>
              <a:t>2.7 성능 지표 결과 — RandomForest + SMOTE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750000"/>
          <a:ext cx="11400000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8571"/>
                <a:gridCol w="1628571"/>
                <a:gridCol w="1628571"/>
                <a:gridCol w="1628571"/>
                <a:gridCol w="1628571"/>
                <a:gridCol w="1628571"/>
                <a:gridCol w="1628574"/>
              </a:tblGrid>
              <a:tr h="575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임곗값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Accuracy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Precision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Recall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F1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ROC-AUC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AUPRC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575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0.500 (기본값)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0.9994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0.8712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0.7823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0.8244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0.9854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0.8314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75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0.727 (최대 F1)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-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0.9558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0.7347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0.8308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0.9854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0.8314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75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0.305 (채택)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0.9992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0.7500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0.8367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0.7910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0.9854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0.8314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p27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8700" y="2567458"/>
            <a:ext cx="4430600" cy="25650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700" y="4450000"/>
            <a:ext cx="114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채택 임곗값(0.305): TN=85,254 · FP=41 · FN=24 · TP=123 — 테스트셋 사기 147건 중 123건(84%) 탐지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" y="6100000"/>
            <a:ext cx="16230600" cy="1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최대 F1(0.727)은 재현율 0.7347에 그쳐 39건을 놓친다. 임곗값을 0.305로 낮추면 F1은 5.9%p 낮아지지만 재현율은 0.8367로 올라 놓치는 사기가 24건까지 줄어든다 — 정밀도는 0.9558→0.7500으로 하락하지만, 오탐지(FP) 비용이 탐지 실패(FN) 비용보다 훨씬 작다는 원칙에 부합한다.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2.7 파이프라인 요약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559181" y="3096519"/>
            <a:ext cx="11169639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Time 제거·Amount 로그변환부터 임곗값 조정까지, RandomForest + SMOTE 채택 파이프라인의 전체 흐름이다.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2076012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2924652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TextBox 10"/>
          <p:cNvSpPr txBox="1"/>
          <p:nvPr/>
        </p:nvSpPr>
        <p:spPr>
          <a:xfrm>
            <a:off x="2076012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218553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전처리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277862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Time 제거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Amount log1p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544168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5392808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3" name="TextBox 12"/>
          <p:cNvSpPr txBox="1"/>
          <p:nvPr/>
        </p:nvSpPr>
        <p:spPr>
          <a:xfrm>
            <a:off x="4544168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686709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데이터 분할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746018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train/test 7:3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(stratify)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012324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7860964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TextBox 13"/>
          <p:cNvSpPr txBox="1"/>
          <p:nvPr/>
        </p:nvSpPr>
        <p:spPr>
          <a:xfrm>
            <a:off x="7012324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154865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이상치 제거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214174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V14 IQR×1.5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개별 제거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480480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0329120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TextBox 14"/>
          <p:cNvSpPr txBox="1"/>
          <p:nvPr/>
        </p:nvSpPr>
        <p:spPr>
          <a:xfrm>
            <a:off x="9480480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623021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SMOTE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682330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train에만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오버샘플링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1948636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2797276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6" name="TextBox 15"/>
          <p:cNvSpPr txBox="1"/>
          <p:nvPr/>
        </p:nvSpPr>
        <p:spPr>
          <a:xfrm>
            <a:off x="11948636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5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91177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모델 학습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150486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RandomForest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(n=1000)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416792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5265432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7" name="TextBox 16"/>
          <p:cNvSpPr txBox="1"/>
          <p:nvPr/>
        </p:nvSpPr>
        <p:spPr>
          <a:xfrm>
            <a:off x="14416792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559333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임곗값 조정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618642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재현율 우선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(0.305)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22222"/>
                </a:solidFill>
                <a:latin typeface="JASO Sans Bold"/>
              </a:rPr>
              <a:t>2.8 모델별 비교 (SMOTE 적용)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750000"/>
          <a:ext cx="16230600" cy="3399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1730000"/>
                <a:gridCol w="1730000"/>
                <a:gridCol w="1730000"/>
                <a:gridCol w="1400000"/>
                <a:gridCol w="1500000"/>
                <a:gridCol w="1400000"/>
                <a:gridCol w="3540600"/>
              </a:tblGrid>
              <a:tr h="56666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모델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Accuracy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Precision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Recall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F1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ROC-AUC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AUPRC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비고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LightGBM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0.9994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0.8731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0.7959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0.8327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0.9720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0.8342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GridSearchCV 튜닝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XGBoost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0.9993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0.8276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0.8163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0.8219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0.9771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0.8350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기본 파라미터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RandomForest (채택)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0.9992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0.7500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0.8367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0.7910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0.9854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0.8314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임곗값 0.305 조정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GradientBoost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0.9993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0.8438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0.7347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0.7855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0.9749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0.6687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임곗값 0.9844 조정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LogisticRegression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0.9994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0.8550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0.7619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0.8057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0.9675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0.7024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임곗값 최적화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28700" y="5450000"/>
            <a:ext cx="162306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>
                <a:solidFill>
                  <a:srgbClr val="3970CF"/>
                </a:solidFill>
                <a:latin typeface="JASO Sans Bold"/>
              </a:rPr>
              <a:t>RandomForest 채택 근거: ROC-AUC 최고(0.9854) + 재현율 최고(0.8367) — AUPRC는 XGBoost·LightGBM이 근소하게 높지만(0.003~0.004) 이 프로젝트의 '재현율 우선' 목표에는 RandomForest가 최적이다.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JASO Sans Bold"/>
              </a:rPr>
              <a:t>2장 종합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2200000"/>
            <a:ext cx="9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3970CF"/>
                </a:solidFill>
                <a:latin typeface="JASO Sans Bold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78700" y="2300000"/>
            <a:ext cx="151806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2222">
                    <a:alpha val="90000"/>
                  </a:srgbClr>
                </a:solidFill>
                <a:latin typeface="JASO Sans"/>
              </a:rPr>
              <a:t>언더샘플링·SMOTE·SMOTE-ENN 중 정상 거래 정보를 보존하는 SMOTE가 정밀도-재현율 균형이 가장 좋았다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700" y="3750000"/>
            <a:ext cx="9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3970CF"/>
                </a:solidFill>
                <a:latin typeface="JASO Sans Bold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78700" y="3850000"/>
            <a:ext cx="151806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2222">
                    <a:alpha val="90000"/>
                  </a:srgbClr>
                </a:solidFill>
                <a:latin typeface="JASO Sans"/>
              </a:rPr>
              <a:t>SMOTE 적용 후 5개 모델을 비교한 결과 RandomForest가 ROC-AUC(0.9854)와 임곗값 조정 여지에서 가장 우수했다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5300000"/>
            <a:ext cx="9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3970CF"/>
                </a:solidFill>
                <a:latin typeface="JASO Sans Bold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8700" y="5400000"/>
            <a:ext cx="151806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2222">
                    <a:alpha val="90000"/>
                  </a:srgbClr>
                </a:solidFill>
                <a:latin typeface="JASO Sans"/>
              </a:rPr>
              <a:t>최대 F1 임곗값(0.727) 대신 재현율 우선 임곗값(0.305)을 채택해 테스트셋 사기 147건 중 123건(84%)을 탐지하고 손실을 24건까지 줄였다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7000000"/>
            <a:ext cx="162306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3970CF"/>
                </a:solidFill>
                <a:latin typeface="JASO Sans Bold"/>
              </a:rPr>
              <a:t>오탐지 비용 &lt; 탐지 실패 비용 — 하나의 원칙을 일관되게 적용한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70CF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953983" y="5057775"/>
            <a:ext cx="4380035" cy="463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50"/>
              </a:lnSpc>
            </a:pPr>
            <a:r>
              <a:rPr lang="en-US" sz="2500" spc="-125">
                <a:solidFill>
                  <a:srgbClr val="C9DFFF"/>
                </a:solidFill>
                <a:latin typeface="JASO Sans"/>
                <a:ea typeface="JASO Sans"/>
                <a:cs typeface="JASO Sans"/>
                <a:sym typeface="JASO Sans"/>
              </a:rPr>
              <a:t>MACHINE LEARNING CASE STUDY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973222" y="8933815"/>
            <a:ext cx="12341556" cy="32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20"/>
              </a:lnSpc>
            </a:pPr>
            <a:r>
              <a:rPr lang="en-US" b="true" sz="2000" spc="-100">
                <a:solidFill>
                  <a:srgbClr val="FCFCFC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서울특별시 · ML 종합보고서 4차 · 2장 Credit Card Fraud Detection · 담당 염윤호</a:t>
            </a:r>
          </a:p>
        </p:txBody>
      </p:sp>
      <p:sp>
        <p:nvSpPr>
          <p:cNvPr name="AutoShape 4" id="4"/>
          <p:cNvSpPr/>
          <p:nvPr/>
        </p:nvSpPr>
        <p:spPr>
          <a:xfrm>
            <a:off x="1218210" y="8695690"/>
            <a:ext cx="15851580" cy="0"/>
          </a:xfrm>
          <a:prstGeom prst="line">
            <a:avLst/>
          </a:prstGeom>
          <a:ln cap="flat" w="19050">
            <a:solidFill>
              <a:srgbClr val="FDFDF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5691188" y="3319462"/>
            <a:ext cx="6905625" cy="151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spc="-499">
                <a:solidFill>
                  <a:srgbClr val="FDFDFB"/>
                </a:solidFill>
                <a:latin typeface="JASO Sans"/>
                <a:ea typeface="JASO Sans"/>
                <a:cs typeface="JASO Sans"/>
                <a:sym typeface="JASO Sans"/>
              </a:rPr>
              <a:t>감사합니다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728234" y="2324100"/>
            <a:ext cx="8831531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b="true" sz="3000">
                <a:solidFill>
                  <a:srgbClr val="FDFDFB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CREDIT CARD FRAUD DETECTION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759121" y="1437323"/>
            <a:ext cx="769758" cy="190500"/>
            <a:chOff x="0" y="0"/>
            <a:chExt cx="1026344" cy="254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54000" cy="254000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>
                  <a:alpha val="29804"/>
                </a:srgbClr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386172" y="0"/>
              <a:ext cx="254000" cy="254000"/>
              <a:chOff x="0" y="0"/>
              <a:chExt cx="812800" cy="8128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>
                  <a:alpha val="60000"/>
                </a:srgbClr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772344" y="0"/>
              <a:ext cx="254000" cy="25400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971</ep:Words>
  <ep:PresentationFormat>On-screen Show (4:3)</ep:PresentationFormat>
  <ep:Paragraphs>118</ep:Paragraphs>
  <ep:Slides>16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ep:HeadingPairs>
  <ep:TitlesOfParts>
    <vt:vector size="17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ekryh</cp:lastModifiedBy>
  <dcterms:modified xsi:type="dcterms:W3CDTF">2026-09-02T16:33:43.867</dcterms:modified>
  <cp:revision>8</cp:revision>
  <dc:title>파란색 흰색 미니멀리스트 비즈니스 회사 사업 소개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