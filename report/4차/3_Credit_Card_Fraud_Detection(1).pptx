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sldIdLst>
    <p:sldId id="266" r:id="rId2"/>
    <p:sldId id="267" r:id="rId3"/>
    <p:sldId id="268" r:id="rId4"/>
    <p:sldId id="269" r:id="rId5"/>
    <p:sldId id="270" r:id="rId6"/>
    <p:sldId id="281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2" y="6362700"/>
            <a:ext cx="4380036" cy="4953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850"/>
              </a:lnSpc>
              <a:defRPr/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거래 탐지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8210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 |  염윤호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83064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작성일  |  2026. 9.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31494" y="3238499"/>
            <a:ext cx="9625012" cy="3048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99"/>
              </a:lnSpc>
              <a:defRPr/>
            </a:pPr>
            <a:r>
              <a:rPr lang="en-US" sz="9999" spc="-49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Credit Card</a:t>
            </a:r>
          </a:p>
          <a:p>
            <a:pPr algn="ctr">
              <a:lnSpc>
                <a:spcPts val="11999"/>
              </a:lnSpc>
              <a:defRPr/>
            </a:pPr>
            <a:r>
              <a:rPr lang="en-US" sz="9999" b="1" spc="-4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Fraud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300"/>
              </a:lnSpc>
              <a:defRPr/>
            </a:pPr>
            <a:r>
              <a:rPr lang="en-US" sz="2800" b="1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MACHINE LEARNING CASE STUDY</a:t>
            </a:r>
          </a:p>
        </p:txBody>
      </p:sp>
      <p:sp>
        <p:nvSpPr>
          <p:cNvPr id="7" name="AutoShape 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w="19050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33361" y="48425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81511" y="4842594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샘플링 </a:t>
            </a:r>
            <a:r>
              <a:rPr lang="en-US" altLang="ko-KR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&amp;</a:t>
            </a:r>
            <a:r>
              <a:rPr lang="ko-KR" alt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모델링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33361" y="5585544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탐색적 데이터 분석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81510" y="5585544"/>
            <a:ext cx="3215489" cy="4628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파이프라인 &amp; 성능 검증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90261" y="47806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38411" y="47806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0261" y="55236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8411" y="55236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33361" y="63284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 지표 정의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81511" y="632849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모델별 비교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0261" y="62665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8411" y="626658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3361" y="707144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전처리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81511" y="7071444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90261" y="70095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8411" y="7009532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5415" y="1797797"/>
            <a:ext cx="5217170" cy="1247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499"/>
              </a:lnSpc>
              <a:defRPr/>
            </a:pPr>
            <a:r>
              <a:rPr lang="en-US" sz="6999" b="1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2.1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00" y="1600000"/>
            <a:ext cx="1463060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28개의 PCA(주성분분석) 변환 변수(V1~V28)와 거래 시각(Time), 거래 금액(Amount)으로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사기 거래 여부(Class)를 예측하는 이진 분류 문제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222222">
                    <a:alpha val="80000"/>
                  </a:srgbClr>
                </a:solidFill>
                <a:latin typeface="JASO Sans"/>
              </a:rPr>
              <a:t>샘플링 기법 3가지(언더샘플링 · SMOTE · SMOTE-ENN)와 모델 5가지(RandomForest · LightGBM · XGBoost · GradientBoost · LogisticRegression)의 성능을 비교한다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284,807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7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전체 거래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9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389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89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컬럼 수 (Time+V1~V28+Amount+Class)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91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491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0.173%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1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사기(Class=1)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659300" y="3800000"/>
            <a:ext cx="3600000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659300" y="4100000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9300" y="5080000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결측치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거래 금액 분포 (Amount)</a:t>
            </a:r>
          </a:p>
        </p:txBody>
      </p:sp>
      <p:pic>
        <p:nvPicPr>
          <p:cNvPr id="3" name="Picture 2" descr="credit_amoun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61" y="1700000"/>
            <a:ext cx="8935677" cy="6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8800000"/>
            <a:ext cx="92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그림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2-5(좌). Amount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원본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—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왜도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(skew) 16.98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3550000"/>
            <a:ext cx="645930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왜도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(skewness) 16.98 —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오른쪽으로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극단적으로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긴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꼬리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(right-skewed)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endParaRPr sz="16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00000" y="5388900"/>
            <a:ext cx="645930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→ log1p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변환으로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왜도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16.98 → 0.16,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Amount_Scaled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컬럼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생성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근거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(§2.4)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클래스와 시간대 패턴 (Time)</a:t>
            </a:r>
          </a:p>
        </p:txBody>
      </p:sp>
      <p:pic>
        <p:nvPicPr>
          <p:cNvPr id="3" name="Picture 2" descr="credit_time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72" y="1600000"/>
            <a:ext cx="12023255" cy="4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650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그림 2-4. 시간대별 거래 건수 — 정상 거래(왼쪽)는 새벽 0~6시에 뚜렷이 감소하지만, 사기 거래(오른쪽)는 이 시간대에도 상대적으로 활발하다.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7816300"/>
            <a:ext cx="16230600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Time은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첫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거래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이후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경과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초 — (Time/3600) % 24로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환산해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하루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중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거래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시간대를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확인</a:t>
            </a:r>
            <a:endParaRPr sz="16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" y="8790000"/>
            <a:ext cx="16230600" cy="273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•  </a:t>
            </a:r>
            <a:r>
              <a:rPr lang="en-US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Time</a:t>
            </a:r>
            <a:r>
              <a:rPr lang="ko-KR" altLang="en-US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과 </a:t>
            </a:r>
            <a:r>
              <a:rPr lang="en-US" altLang="ko-KR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class</a:t>
            </a:r>
            <a:r>
              <a:rPr lang="ko-KR" altLang="en-US"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의 상관관계 파악이 되지 않아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피처로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남기지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않고</a:t>
            </a:r>
            <a:r>
              <a:rPr sz="16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6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제거</a:t>
            </a:r>
            <a:endParaRPr sz="16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클래스 분포 (Class)</a:t>
            </a:r>
          </a:p>
        </p:txBody>
      </p:sp>
      <p:pic>
        <p:nvPicPr>
          <p:cNvPr id="3" name="Picture 2" descr="credi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14" y="1420000"/>
            <a:ext cx="7227272" cy="5300000"/>
          </a:xfrm>
          <a:prstGeom prst="rect">
            <a:avLst/>
          </a:prstGeom>
        </p:spPr>
      </p:pic>
      <p:pic>
        <p:nvPicPr>
          <p:cNvPr id="4" name="Picture 3" descr="credi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1650" y="1420000"/>
            <a:ext cx="5300000" cy="5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6800000"/>
            <a:ext cx="79153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그림 2-2. Class 분포(로그 스케일) — 정상 284,315건(99.827%) vs 사기 492건(0.173%), 약 578:1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4000" y="6800000"/>
            <a:ext cx="79153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22222">
                    <a:alpha val="85000"/>
                  </a:srgbClr>
                </a:solidFill>
                <a:latin typeface="JASO Sans"/>
              </a:rPr>
              <a:t>그림 2-3. 31개 변수 전체의 피어슨 상관계수 히트맵 — V1~V28은 PCA 축이라 서로 직교, 색이 뚜렷이 갈리는 곳은 Time·Amount·Class 행뿐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7750000"/>
            <a:ext cx="79153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>
                    <a:alpha val="90000"/>
                  </a:srgbClr>
                </a:solidFill>
                <a:latin typeface="JASO Sans"/>
              </a:rPr>
              <a:t>Santander(24:1)보다 100배 이상 심한 불균형이다. 이 정도 비율에서는 ROC-AUC조차 낙관적으로 보일 수 있어, ROC-AUC와 AUPRC를 함께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4000" y="7750000"/>
            <a:ext cx="79153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2222">
                    <a:alpha val="90000"/>
                  </a:srgbClr>
                </a:solidFill>
                <a:latin typeface="JASO Sans"/>
              </a:rPr>
              <a:t>Class와 V14와의 상관관계(−0.303)가 높은 것으로 추정되어 V14의 이상치 제거 계획.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900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3970CF"/>
                </a:solidFill>
                <a:latin typeface="JASO Sans Bold"/>
              </a:rPr>
              <a:t>극단적 불균형(578:1) — ROC-AUC만으로 부족하므로 AUPRC를 함께 확인 (§2.3)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2.3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결과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지표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정의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60625"/>
              </p:ext>
            </p:extLst>
          </p:nvPr>
        </p:nvGraphicFramePr>
        <p:xfrm>
          <a:off x="1028700" y="1900000"/>
          <a:ext cx="16230600" cy="45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지표</a:t>
                      </a: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정의</a:t>
                      </a: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JASO Sans Bold"/>
                        </a:rPr>
                        <a:t>이 데이터에서의 역할</a:t>
                      </a: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Recall 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재현율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)</a:t>
                      </a: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실제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중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모델이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찾아낸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최우선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—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놓친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금전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손실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Precision (정밀도)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예측한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것 중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실제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너무 낮으면 정상 거래 차단 급증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F1-Score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정밀도·재현율의 조화평균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재현율 편중을 견제하는 균형 지표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전체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임곗값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TPR-FPR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트레이드오프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모델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판별력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비교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단독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과대평가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위험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)</a:t>
                      </a: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AUPRC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JASO Sans"/>
                        </a:rPr>
                        <a:t>Precision-Recall 곡선의 면적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극단적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불균형에서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ROC-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AUC를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보완하는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핵심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endParaRPr sz="15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700" y="680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3970CF"/>
                </a:solidFill>
                <a:latin typeface="JASO Sans Bold"/>
              </a:rPr>
              <a:t>이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프로젝트의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핵심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의도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—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정밀도와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재현율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중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재현율을</a:t>
            </a:r>
            <a:r>
              <a:rPr sz="18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1800" b="1" dirty="0" err="1">
                <a:solidFill>
                  <a:srgbClr val="3970CF"/>
                </a:solidFill>
                <a:latin typeface="JASO Sans Bold"/>
              </a:rPr>
              <a:t>우선한다</a:t>
            </a:r>
            <a:endParaRPr sz="1800" b="1" dirty="0">
              <a:solidFill>
                <a:srgbClr val="3970CF"/>
              </a:solidFill>
              <a:latin typeface="JASO Sans Bol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6EE8F0-2A87-A6B7-5917-C284B023B4F1}"/>
              </a:ext>
            </a:extLst>
          </p:cNvPr>
          <p:cNvSpPr/>
          <p:nvPr/>
        </p:nvSpPr>
        <p:spPr>
          <a:xfrm>
            <a:off x="990600" y="2628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472F8E-7CCC-EBA3-AB04-106BA661CA8A}"/>
              </a:ext>
            </a:extLst>
          </p:cNvPr>
          <p:cNvSpPr/>
          <p:nvPr/>
        </p:nvSpPr>
        <p:spPr>
          <a:xfrm>
            <a:off x="990600" y="4914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2.4 데이터 전처리 &amp; 클리닝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54245"/>
              </p:ext>
            </p:extLst>
          </p:nvPr>
        </p:nvGraphicFramePr>
        <p:xfrm>
          <a:off x="1028700" y="1900000"/>
          <a:ext cx="15659100" cy="530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처리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내용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근거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Time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거래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순번성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정보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여부와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직접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관련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없음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노이즈 제거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Amount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로그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변환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log1p(Amount) →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Amount_Scaled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컬럼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추가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왜도 16.98 → 0.16로 완화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V14 이상치 제거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(Class=1)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데이터의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V14 IQR×1.5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범위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밖 값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상관관계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상위권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변수의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잡음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축소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train/test 분할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7:3, stratify=y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0.173%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양쪽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세트에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동일하게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유지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620000"/>
            <a:ext cx="162306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222222"/>
                </a:solidFill>
                <a:latin typeface="JASO Sans Bold"/>
              </a:rPr>
              <a:t>2.5 왜 리샘플링이 필요한가 — 샘플링 전략 3종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62300" y="1333500"/>
          <a:ext cx="119634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기법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학습 데이터 변화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정밀도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재현율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언더샘플링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199,362건 → 684건 (342/342)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0.0478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0.8844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0.0906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SMOTE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199,362건 → 398,040건 (199,020/199,020)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2664B4"/>
                          </a:solidFill>
                          <a:latin typeface="JASO Sans Bold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SMOTE-ENN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199,362건 → 397,717건 (199,020/198,697)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0.7453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JASO Sans"/>
                        </a:rPr>
                        <a:t>0.7792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credit_smote_scatter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59157" y="3924300"/>
            <a:ext cx="10769686" cy="469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800" b="1" dirty="0">
                <a:solidFill>
                  <a:srgbClr val="222222"/>
                </a:solidFill>
                <a:latin typeface="JASO Sans Bold"/>
              </a:rPr>
              <a:t>5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GridSearchCV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튜닝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8700" y="1600000"/>
            <a:ext cx="162306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3970CF"/>
                </a:solidFill>
                <a:latin typeface="JASO Sans Bold"/>
              </a:rPr>
              <a:t>Best Params: n_estimators=1000, max_depth=None, min_samples_leaf=1  →  CV ROC-AUC 0.9811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8700" y="2300000"/>
          <a:ext cx="16230600" cy="45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11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n_estimators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max_depth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min_samples_leaf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CV 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순위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0.9811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0.9810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0.9761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8700" y="7150000"/>
            <a:ext cx="162306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222222">
                    <a:alpha val="85000"/>
                  </a:srgbClr>
                </a:solidFill>
                <a:latin typeface="JASO Sans"/>
              </a:rPr>
              <a:t>8개 조합의 CV ROC-AUC가 0.9761~0.9811에 밀집 — 구조적 파라미터보다 임곗값 조정에 튜닝 자원 집중 (§2.7)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8144">
            <a:off x="6329346" y="709844"/>
            <a:ext cx="5979394" cy="884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500"/>
              </a:lnSpc>
            </a:pP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2.6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파이프라인</a:t>
            </a:r>
            <a:r>
              <a:rPr lang="en-US" sz="5000" b="1" spc="-250" dirty="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000" b="1" spc="-250" dirty="0" err="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요약</a:t>
            </a:r>
            <a:endParaRPr lang="en-US" sz="5000" b="1" spc="-250" dirty="0">
              <a:solidFill>
                <a:srgbClr val="222222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2508101"/>
            <a:ext cx="16580689" cy="6630853"/>
            <a:chOff x="0" y="0"/>
            <a:chExt cx="4366930" cy="1746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59181" y="3096519"/>
            <a:ext cx="11169639" cy="73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Time 제거·Amount 로그변환부터 임곗값 조정까지, RandomForest + SMOTE 채택 파이프라인의 전체 흐름이다.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76012" y="4444455"/>
            <a:ext cx="2144954" cy="3705225"/>
            <a:chOff x="0" y="0"/>
            <a:chExt cx="610115" cy="874319"/>
          </a:xfrm>
        </p:grpSpPr>
        <p:sp>
          <p:nvSpPr>
            <p:cNvPr id="1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924652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2076012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8553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전처리</a:t>
            </a:r>
          </a:p>
        </p:txBody>
      </p:sp>
      <p:sp>
        <p:nvSpPr>
          <p:cNvPr id="20" name="TextBox 11"/>
          <p:cNvSpPr txBox="1"/>
          <p:nvPr/>
        </p:nvSpPr>
        <p:spPr>
          <a:xfrm>
            <a:off x="2277862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Time 제거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Amount log1p</a:t>
            </a:r>
          </a:p>
        </p:txBody>
      </p:sp>
      <p:grpSp>
        <p:nvGrpSpPr>
          <p:cNvPr id="21" name="Group 7"/>
          <p:cNvGrpSpPr/>
          <p:nvPr/>
        </p:nvGrpSpPr>
        <p:grpSpPr>
          <a:xfrm>
            <a:off x="4544168" y="4444455"/>
            <a:ext cx="2144954" cy="3705225"/>
            <a:chOff x="0" y="0"/>
            <a:chExt cx="610115" cy="874319"/>
          </a:xfrm>
        </p:grpSpPr>
        <p:sp>
          <p:nvSpPr>
            <p:cNvPr id="22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3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4" name="Freeform 10"/>
          <p:cNvSpPr/>
          <p:nvPr/>
        </p:nvSpPr>
        <p:spPr>
          <a:xfrm>
            <a:off x="5392808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4544168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2</a:t>
            </a:r>
          </a:p>
        </p:txBody>
      </p:sp>
      <p:sp>
        <p:nvSpPr>
          <p:cNvPr id="25" name="TextBox 12"/>
          <p:cNvSpPr txBox="1"/>
          <p:nvPr/>
        </p:nvSpPr>
        <p:spPr>
          <a:xfrm>
            <a:off x="4626987" y="5727409"/>
            <a:ext cx="2002413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분할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4746018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train/test 7:3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(stratify)</a:t>
            </a:r>
          </a:p>
        </p:txBody>
      </p:sp>
      <p:grpSp>
        <p:nvGrpSpPr>
          <p:cNvPr id="27" name="Group 7"/>
          <p:cNvGrpSpPr/>
          <p:nvPr/>
        </p:nvGrpSpPr>
        <p:grpSpPr>
          <a:xfrm>
            <a:off x="7012324" y="4444455"/>
            <a:ext cx="2144954" cy="3705225"/>
            <a:chOff x="0" y="0"/>
            <a:chExt cx="610115" cy="874319"/>
          </a:xfrm>
        </p:grpSpPr>
        <p:sp>
          <p:nvSpPr>
            <p:cNvPr id="2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0" name="Freeform 10"/>
          <p:cNvSpPr/>
          <p:nvPr/>
        </p:nvSpPr>
        <p:spPr>
          <a:xfrm>
            <a:off x="7860964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012324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3</a:t>
            </a:r>
          </a:p>
        </p:txBody>
      </p:sp>
      <p:sp>
        <p:nvSpPr>
          <p:cNvPr id="31" name="TextBox 12"/>
          <p:cNvSpPr txBox="1"/>
          <p:nvPr/>
        </p:nvSpPr>
        <p:spPr>
          <a:xfrm>
            <a:off x="7086600" y="5727409"/>
            <a:ext cx="1989135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이상치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제거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2" name="TextBox 11"/>
          <p:cNvSpPr txBox="1"/>
          <p:nvPr/>
        </p:nvSpPr>
        <p:spPr>
          <a:xfrm>
            <a:off x="7214174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V14 IQR×1.5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개별 제거</a:t>
            </a:r>
          </a:p>
        </p:txBody>
      </p:sp>
      <p:grpSp>
        <p:nvGrpSpPr>
          <p:cNvPr id="33" name="Group 7"/>
          <p:cNvGrpSpPr/>
          <p:nvPr/>
        </p:nvGrpSpPr>
        <p:grpSpPr>
          <a:xfrm>
            <a:off x="9480480" y="4444455"/>
            <a:ext cx="2144954" cy="3705225"/>
            <a:chOff x="0" y="0"/>
            <a:chExt cx="610115" cy="874319"/>
          </a:xfrm>
        </p:grpSpPr>
        <p:sp>
          <p:nvSpPr>
            <p:cNvPr id="34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5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6" name="Freeform 10"/>
          <p:cNvSpPr/>
          <p:nvPr/>
        </p:nvSpPr>
        <p:spPr>
          <a:xfrm>
            <a:off x="10329120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9480480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4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9623021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SMOTE</a:t>
            </a:r>
          </a:p>
        </p:txBody>
      </p:sp>
      <p:sp>
        <p:nvSpPr>
          <p:cNvPr id="38" name="TextBox 11"/>
          <p:cNvSpPr txBox="1"/>
          <p:nvPr/>
        </p:nvSpPr>
        <p:spPr>
          <a:xfrm>
            <a:off x="9682330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train에만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오버샘플링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39" name="Group 7"/>
          <p:cNvGrpSpPr/>
          <p:nvPr/>
        </p:nvGrpSpPr>
        <p:grpSpPr>
          <a:xfrm>
            <a:off x="11948636" y="4444455"/>
            <a:ext cx="2144954" cy="3705225"/>
            <a:chOff x="0" y="0"/>
            <a:chExt cx="610115" cy="874319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42" name="Freeform 10"/>
          <p:cNvSpPr/>
          <p:nvPr/>
        </p:nvSpPr>
        <p:spPr>
          <a:xfrm>
            <a:off x="12797276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11948636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5</a:t>
            </a:r>
          </a:p>
        </p:txBody>
      </p:sp>
      <p:sp>
        <p:nvSpPr>
          <p:cNvPr id="43" name="TextBox 12"/>
          <p:cNvSpPr txBox="1"/>
          <p:nvPr/>
        </p:nvSpPr>
        <p:spPr>
          <a:xfrm>
            <a:off x="12091177" y="5727409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 학습</a:t>
            </a:r>
          </a:p>
        </p:txBody>
      </p:sp>
      <p:sp>
        <p:nvSpPr>
          <p:cNvPr id="44" name="TextBox 11"/>
          <p:cNvSpPr txBox="1"/>
          <p:nvPr/>
        </p:nvSpPr>
        <p:spPr>
          <a:xfrm>
            <a:off x="12150486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RandomForest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(n=1000)</a:t>
            </a:r>
          </a:p>
        </p:txBody>
      </p:sp>
      <p:grpSp>
        <p:nvGrpSpPr>
          <p:cNvPr id="45" name="Group 7"/>
          <p:cNvGrpSpPr/>
          <p:nvPr/>
        </p:nvGrpSpPr>
        <p:grpSpPr>
          <a:xfrm>
            <a:off x="14416792" y="4444455"/>
            <a:ext cx="2144954" cy="3705225"/>
            <a:chOff x="0" y="0"/>
            <a:chExt cx="610115" cy="874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46" name="Freeform 10"/>
          <p:cNvSpPr/>
          <p:nvPr/>
        </p:nvSpPr>
        <p:spPr>
          <a:xfrm>
            <a:off x="15265432" y="5001109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/>
          <p:cNvSpPr txBox="1"/>
          <p:nvPr/>
        </p:nvSpPr>
        <p:spPr>
          <a:xfrm>
            <a:off x="14416792" y="4620000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6</a:t>
            </a:r>
          </a:p>
        </p:txBody>
      </p:sp>
      <p:sp>
        <p:nvSpPr>
          <p:cNvPr id="47" name="TextBox 12"/>
          <p:cNvSpPr txBox="1"/>
          <p:nvPr/>
        </p:nvSpPr>
        <p:spPr>
          <a:xfrm>
            <a:off x="14478000" y="5727409"/>
            <a:ext cx="2002413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임곗값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조정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8" name="TextBox 11"/>
          <p:cNvSpPr txBox="1"/>
          <p:nvPr/>
        </p:nvSpPr>
        <p:spPr>
          <a:xfrm>
            <a:off x="14618642" y="6715080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재현율 우선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(0.305)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600" b="1" dirty="0">
                <a:solidFill>
                  <a:srgbClr val="222222"/>
                </a:solidFill>
                <a:latin typeface="JASO Sans Bold"/>
              </a:rPr>
              <a:t>6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성능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지표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결과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+ SMOTE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28700" y="1750000"/>
          <a:ext cx="114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85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5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임곗값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0.500 (기본값)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0.8712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0.7823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0.8244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0.727 (최대 F1)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-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0.9558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0.8308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0.305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p2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381500"/>
            <a:ext cx="9372600" cy="5426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0" y="3619500"/>
            <a:ext cx="3733800" cy="2739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테스트셋</a:t>
            </a:r>
            <a:r>
              <a:rPr sz="15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5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사기</a:t>
            </a:r>
            <a:r>
              <a:rPr sz="15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147건 중 123건(84%) </a:t>
            </a:r>
            <a:r>
              <a:rPr sz="15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탐지</a:t>
            </a:r>
            <a:endParaRPr sz="15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700" b="1" dirty="0">
                <a:solidFill>
                  <a:srgbClr val="222222"/>
                </a:solidFill>
                <a:latin typeface="JASO Sans Bold"/>
              </a:rPr>
              <a:t>7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모델별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비교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(SMOTE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적용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06124"/>
              </p:ext>
            </p:extLst>
          </p:nvPr>
        </p:nvGraphicFramePr>
        <p:xfrm>
          <a:off x="1818599" y="2019300"/>
          <a:ext cx="14650802" cy="5374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1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95783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모델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LightGBM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0.9720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0.8342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XGBoost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0.8276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0.8219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0.9771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0.8350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RandomForest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GradientBoost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0.8438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0.7855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0.9749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0.6687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LogisticRegression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0.8550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0.7619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0.8057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0.9675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0.7024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JASO Sans Bold"/>
              </a:rPr>
              <a:t>2장 종합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2200000"/>
            <a:ext cx="9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8700" y="2300000"/>
            <a:ext cx="151806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언더샘플링·SMOTE·SMOTE-ENN 중 정상 거래 정보를 보존하는 SMOTE가 정밀도-재현율 균형이 가장 좋았다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3750000"/>
            <a:ext cx="9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8700" y="3850000"/>
            <a:ext cx="151806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SMOTE 적용 후 5개 모델을 비교한 결과 RandomForest가 ROC-AUC(0.9854)와 임곗값 조정 여지에서 가장 우수했다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300000"/>
            <a:ext cx="9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3970CF"/>
                </a:solidFill>
                <a:latin typeface="JASO Sans Bold"/>
              </a:rPr>
              <a:t>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8700" y="5400000"/>
            <a:ext cx="151806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22222">
                    <a:alpha val="90000"/>
                  </a:srgbClr>
                </a:solidFill>
                <a:latin typeface="JASO Sans"/>
              </a:rPr>
              <a:t>최대 F1 임곗값(0.727) 대신 재현율 우선 임곗값(0.305)을 채택해 테스트셋 사기 147건 중 123건(84%)을 탐지하고 손실을 24건까지 줄였다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3" y="5057775"/>
            <a:ext cx="4380035" cy="46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0"/>
              </a:lnSpc>
            </a:pPr>
            <a:r>
              <a:rPr lang="en-US" sz="2500" spc="-125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MACHINE LEARNING 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73222" y="8933815"/>
            <a:ext cx="12341556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0"/>
              </a:lnSpc>
            </a:pPr>
            <a:r>
              <a:rPr lang="en-US" sz="2000" b="1" spc="-10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서울특별시 · ML 종합보고서 4차 · 2장 Credit Card Fraud Detection · 담당 염윤호</a:t>
            </a:r>
          </a:p>
        </p:txBody>
      </p:sp>
      <p:sp>
        <p:nvSpPr>
          <p:cNvPr id="4" name="AutoShape 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w="19050" cap="flat">
            <a:solidFill>
              <a:srgbClr val="FDFDF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691188" y="3319462"/>
            <a:ext cx="690562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000" b="1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CREDIT CARD FRAUD DETECTION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1019</Words>
  <Application>Microsoft Office PowerPoint</Application>
  <PresentationFormat>사용자 지정</PresentationFormat>
  <Paragraphs>264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JASO Sans</vt:lpstr>
      <vt:lpstr>JASO Sans Bold</vt:lpstr>
      <vt:lpstr>JASO Sans Heavy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미니멀리스트 비즈니스 회사 사업 소개 프레젠테이션</dc:title>
  <cp:lastModifiedBy>admin</cp:lastModifiedBy>
  <cp:revision>9</cp:revision>
  <dcterms:created xsi:type="dcterms:W3CDTF">2006-08-16T00:00:00Z</dcterms:created>
  <dcterms:modified xsi:type="dcterms:W3CDTF">2026-09-03T07:41:16Z</dcterms:modified>
  <cp:version/>
</cp:coreProperties>
</file>