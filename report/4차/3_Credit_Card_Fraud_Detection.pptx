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3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slide" Target="slides/slide1.xml"  /><Relationship Id="rId20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sv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sv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2" y="6362700"/>
            <a:ext cx="4380036" cy="4953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850"/>
              </a:lnSpc>
              <a:defRPr/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거래 탐지 </a:t>
            </a:r>
            <a:endParaRPr lang="en-US" sz="2500" spc="-125">
              <a:solidFill>
                <a:srgbClr val="3970cf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18210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 |  염윤호</a:t>
            </a:r>
            <a:endParaRPr lang="en-US" sz="2000" b="1" spc="-100">
              <a:solidFill>
                <a:srgbClr val="3970cf">
                  <a:alpha val="93720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83064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작성일  |  2026. 9. 2</a:t>
            </a:r>
            <a:endParaRPr lang="en-US" sz="2000" b="1" spc="-100">
              <a:solidFill>
                <a:srgbClr val="3970cf">
                  <a:alpha val="93720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1494" y="3238499"/>
            <a:ext cx="9625012" cy="3048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99"/>
              </a:lnSpc>
              <a:defRPr/>
            </a:pPr>
            <a:r>
              <a:rPr lang="en-US" sz="9999" spc="-49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Credit Card</a:t>
            </a:r>
            <a:endParaRPr lang="en-US" sz="9999" spc="-498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11999"/>
              </a:lnSpc>
              <a:defRPr/>
            </a:pPr>
            <a:r>
              <a:rPr lang="en-US" sz="9999" b="1" spc="-4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Fraud Detection</a:t>
            </a:r>
            <a:endParaRPr lang="en-US" sz="9999" b="1" spc="-498">
              <a:solidFill>
                <a:srgbClr val="222222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300"/>
              </a:lnSpc>
              <a:defRPr/>
            </a:pPr>
            <a:r>
              <a:rPr lang="en-US" sz="2800" b="1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MACHINE LEARNING CASE STUDY</a:t>
            </a:r>
            <a:endParaRPr lang="en-US" sz="2800" b="1">
              <a:solidFill>
                <a:srgbClr val="3970cf"/>
              </a:solidFill>
              <a:latin typeface="JASO Sans Heavy"/>
              <a:ea typeface="JASO Sans Heavy"/>
              <a:cs typeface="JASO Sans Heavy"/>
              <a:sym typeface="JASO Sans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w="19050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 rot="0"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0"/>
                </a:srgbClr>
              </a:solidFill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397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33361" y="48425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81511" y="48425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모델링 &amp; 샘플링 전략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33361" y="5585544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탐색적 데이터 분석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881510" y="5585544"/>
            <a:ext cx="3215489" cy="4628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파이프라인 &amp; 성능 검증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90261" y="47806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738411" y="47806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90261" y="55236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38411" y="55236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33361" y="63284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 지표 정의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81511" y="63284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모델별 비교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90261" y="62665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38411" y="62665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33361" y="707144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전처리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881511" y="707144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  <a:endParaRPr lang="en-US" sz="2499" b="1" spc="-124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490261" y="70095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38411" y="70095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  <a:endParaRPr lang="en-US" sz="3000" b="1" spc="-15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35415" y="1797797"/>
            <a:ext cx="5217170" cy="1247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499"/>
              </a:lnSpc>
              <a:defRPr/>
            </a:pPr>
            <a:r>
              <a:rPr lang="en-US" sz="6999" b="1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  <a:endParaRPr lang="en-US" sz="6999" b="1" spc="-349">
              <a:solidFill>
                <a:srgbClr val="fcfcfc"/>
              </a:solidFill>
              <a:latin typeface="JASO Sans Heavy"/>
              <a:ea typeface="JASO Sans Heavy"/>
              <a:cs typeface="JASO Sans Heavy"/>
              <a:sym typeface="JASO Sans Heav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3.1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00" y="1650000"/>
            <a:ext cx="146306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28개의 PCA 변환 변수(V1~V28)와 거래 시각(Time), 거래 금액(Amount)으로 사기 거래 여부(Class)를 예측하는 이진 분류 문제. 담당 모델은 RandomForest + SMOTE이며, 임곗값을 재현율 중심으로 조정한 것이 최종 채택안이다.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400000"/>
            <a:ext cx="3600000" cy="2200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3530000"/>
            <a:ext cx="36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284,807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700" y="5200000"/>
            <a:ext cx="34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전체 거래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900" y="3400000"/>
            <a:ext cx="3600000" cy="2200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8900" y="3530000"/>
            <a:ext cx="36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8900" y="5200000"/>
            <a:ext cx="34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컬럼 수 (Time+V1~V28+Amount+Class)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9100" y="3400000"/>
            <a:ext cx="3600000" cy="2200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9100" y="3530000"/>
            <a:ext cx="36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0.173%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100" y="5200000"/>
            <a:ext cx="34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사기(Class=1)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659300" y="3400000"/>
            <a:ext cx="3600000" cy="2200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59300" y="3530000"/>
            <a:ext cx="36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9300" y="5200000"/>
            <a:ext cx="34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결측치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3.1 EDA — 거래 금액 분포 (Amount)</a:t>
            </a:r>
          </a:p>
        </p:txBody>
      </p:sp>
      <p:pic>
        <p:nvPicPr>
          <p:cNvPr id="3" name="Picture 2" descr="p1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395714"/>
            <a:ext cx="9600000" cy="630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00000" y="2200000"/>
            <a:ext cx="61593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>
                    <a:alpha val="85000"/>
                  </a:srgbClr>
                </a:solidFill>
                <a:latin typeface="JASO Sans"/>
              </a:rPr>
              <a:t>•  평균 $88.35 &gt; 중앙값 $22.00 — 오른쪽 꼬리 분포 (왜도 16.98)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000" y="3100000"/>
            <a:ext cx="61593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>
                    <a:alpha val="85000"/>
                  </a:srgbClr>
                </a:solidFill>
                <a:latin typeface="JASO Sans"/>
              </a:rPr>
              <a:t>•  사기 거래: 평균 $122.21(+38%) vs 중앙값 $9.25(-58%)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000" y="4000000"/>
            <a:ext cx="61593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>
                    <a:alpha val="85000"/>
                  </a:srgbClr>
                </a:solidFill>
                <a:latin typeface="JASO Sans"/>
              </a:rPr>
              <a:t>•  소액 "테스트 결제"와 일부 고액 사기가 공존하는 양극화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0" y="4900000"/>
            <a:ext cx="61593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>
                    <a:alpha val="85000"/>
                  </a:srgbClr>
                </a:solidFill>
                <a:latin typeface="JASO Sans"/>
              </a:rPr>
              <a:t>•  → Amount에 log1p 변환 적용 근거 (§3.3)</a:t>
            </a: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3.1 EDA — 클래스 불균형과 시간대 패턴</a:t>
            </a:r>
            <a:endParaRPr sz="2800" b="1">
              <a:solidFill>
                <a:srgbClr val="222222"/>
              </a:solidFill>
              <a:latin typeface="JASO Sans Bold"/>
            </a:endParaRPr>
          </a:p>
        </p:txBody>
      </p:sp>
      <p:pic>
        <p:nvPicPr>
          <p:cNvPr id="3" name="Picture 2" descr="p18_0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68168" y="1650000"/>
            <a:ext cx="7636363" cy="56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7350000"/>
            <a:ext cx="79153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정상 284,315건(99.827%) vs 사기 492건(0.173%) — 약 578:1</a:t>
            </a:r>
            <a:endParaRPr sz="1500" b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pic>
        <p:nvPicPr>
          <p:cNvPr id="5" name="Picture 4" descr="p20_0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44000" y="2902919"/>
            <a:ext cx="7915300" cy="30941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44000" y="7350000"/>
            <a:ext cx="79153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새벽 0~6시 사기 비중 25.20% vs 정상 8.37% — 약 3배</a:t>
            </a:r>
            <a:endParaRPr sz="1500" b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3.2 결과 지표 정의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900000"/>
          <a:ext cx="16230600" cy="45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6200000"/>
                <a:gridCol w="6830600"/>
              </a:tblGrid>
              <a:tr h="76666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지표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정의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이 데이터에서의 역할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76666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Recall (재현율)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실제 사기 중 모델이 찾아낸 비율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최우선 지표 — 놓친 사기는 금전 손실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76666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Precision (정밀도)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사기로 예측한 것 중 실제 사기 비율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너무 낮으면 정상 거래 차단 급증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76666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F1-Score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정밀도·재현율의 조화평균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재현율 편중을 견제하는 균형 지표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76666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전체 임곗값 TPR-FPR 트레이드오프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모델 판별력 비교 (단독 과대평가 위험)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76666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Precision-Recall 곡선의 면적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극단적 불균형에서 ROC-AUC를 보완하는 핵심 지표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700" y="6800000"/>
            <a:ext cx="162306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970CF"/>
                </a:solidFill>
                <a:latin typeface="JASO Sans Bold"/>
              </a:rPr>
              <a:t>이 프로젝트의 핵심 의도 — 정밀도와 재현율 중 재현율을 우선한다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3.2 왜 재현율(Recall)을 우선하는가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59181" y="3096519"/>
            <a:ext cx="11169639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카드 사기를 놓치면(FN) 그대로 금전 손실이지만, 정상 거래를 오탐지(FP)해도 고객 확인 연락 정도의 비용에 그친다 — 그래서 FN을 줄이는 방향으로 임곗값을 조정한다.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20644" y="4500256"/>
            <a:ext cx="7141432" cy="1709734"/>
            <a:chOff x="0" y="0"/>
            <a:chExt cx="1685158" cy="403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910915" y="4746475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15765" y="4810293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오탐지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72115" y="4897454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FALSE POSITIVE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15765" y="5292258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정상을 사기로 오판 — 고객 재확인 비용(상대적으로 작음)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0644" y="6443364"/>
            <a:ext cx="7141432" cy="1709734"/>
            <a:chOff x="0" y="0"/>
            <a:chExt cx="1685158" cy="4034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76012" y="4500256"/>
            <a:ext cx="7141432" cy="1709734"/>
            <a:chOff x="0" y="0"/>
            <a:chExt cx="1685158" cy="403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76012" y="6443364"/>
            <a:ext cx="7141432" cy="1709734"/>
            <a:chOff x="0" y="0"/>
            <a:chExt cx="1685158" cy="4034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566282" y="6689583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271132" y="6753401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탐지 실패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27482" y="6840562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FALSE NEGATIVE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71132" y="7235366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사기를 정상으로 오판 — 그대로 금전 손실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910915" y="6689583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615765" y="6753401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탐지 성공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2115" y="6840562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TRUE POSITIVE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15765" y="7235366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사기를 사기로 정확히 판별 — Recall의 분자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566282" y="4746475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271132" y="4810293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정상 예측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27482" y="4897454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TRUE NEGATIVE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71132" y="5292258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문제 없음 — 정상 거래를 정상으로 정확히 판별</a:t>
            </a: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3.3 데이터 전처리 &amp; 클리닝</a:t>
            </a:r>
            <a:endParaRPr sz="2800" b="1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900000"/>
          <a:ext cx="15659100" cy="530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535"/>
                <a:gridCol w="7061947"/>
                <a:gridCol w="4605618"/>
              </a:tblGrid>
              <a:tr h="1060180"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처리</a:t>
                      </a:r>
                      <a:endParaRPr sz="14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내용</a:t>
                      </a:r>
                      <a:endParaRPr sz="14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근거</a:t>
                      </a:r>
                      <a:endParaRPr sz="1400" b="1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1060180"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Time 제거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거래 순번성 정보, 사기 여부와 직접 관련 없음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노이즈 제거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1060180"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Amount 로그 변환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log1p(Amount) → Amount_Scaled 컬럼 추가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왜도 16.98 → 0.16로 완화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1060180"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V14 이상치 제거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사기(Class=1) 데이터의 V14 IQR×1.5 범위 밖 값 제거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상관관계 상위권 변수의 잡음 축소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1060180">
                <a:tc>
                  <a:txBody>
                    <a:bodyPr vert="horz" wrap="square" lIns="60000" tIns="20000" rIns="60000" bIns="20000" anchor="ctr" anchorCtr="0"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train/test 분할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7:3, stratify=y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vert="horz" wrap="square" lIns="60000" tIns="20000" rIns="60000" bIns="20000" anchor="ctr" anchorCtr="0"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0.173% 비율을 양쪽 세트에 동일하게 유지</a:t>
                      </a:r>
                      <a:endParaRPr sz="1300" b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JASO Sans Bold"/>
              </a:rPr>
              <a:t>3.5 왜 리샘플링이 필요한가 — 샘플링 전략 3종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750000"/>
          <a:ext cx="162306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7200000"/>
                <a:gridCol w="6630600"/>
              </a:tblGrid>
              <a:tr h="65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기법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방식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학습 데이터 변화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언더샘플링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정상 거래를 사기 건수만큼 무작위로 축소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199,362건 → 684건 (342/342)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SMOTE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사기 샘플 주변에 합성 데이터 생성해 오버샘플링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199,362건 → 398,040건 (199,020/199,020)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SMOTE-ENN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SMOTE 이후 경계가 모호한 샘플을 ENN으로 추가 제거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199,362건 → 397,717건 (199,020/198,697)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p2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750" y="4700000"/>
            <a:ext cx="7562499" cy="3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8200000"/>
            <a:ext cx="162306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SMOTE는 정상 거래 정보를 버리지 않으면서 사기 샘플을 원본의 약 582배로 증강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8650000"/>
            <a:ext cx="162306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3970CF"/>
                </a:solidFill>
                <a:latin typeface="JASO Sans Bold"/>
              </a:rPr>
              <a:t>채택: SMOTE — 언더샘플링은 정상 정보 손실 과다, SMOTE-ENN은 SMOTE 대비 이점 미미 (§3.6.4)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3.5 GridSearchCV 튜닝 — RandomForest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1600000"/>
            <a:ext cx="162306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970CF"/>
                </a:solidFill>
                <a:latin typeface="JASO Sans Bold"/>
              </a:rPr>
              <a:t>Best Params: n_estimators=1000, max_depth=None, min_samples_leaf=1  →  CV ROC-AUC 0.9811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8700" y="2300000"/>
          <a:ext cx="16230600" cy="45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  <a:gridCol w="3246120"/>
                <a:gridCol w="3246120"/>
                <a:gridCol w="3246120"/>
              </a:tblGrid>
              <a:tr h="511111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n_estimators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max_depth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min_samples_leaf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CV 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순위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0.9811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0.9810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511111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0.9761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8700" y="7150000"/>
            <a:ext cx="162306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8개 조합의 CV ROC-AUC가 0.9761~0.9811에 밀집 — 구조적 파라미터보다 임곗값 조정에 튜닝 자원 집중 (§3.6.2)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3.6 파이프라인 요약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59181" y="3096519"/>
            <a:ext cx="11169639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Time 제거·Amount 로그변환부터 임곗값 조정까지, RandomForest + SMOTE 채택 파이프라인의 전체 흐름이다.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76012" y="4444455"/>
            <a:ext cx="2144954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924652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2076012" y="4620000"/>
            <a:ext cx="2144954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18553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전처리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7862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Time 제거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Amount log1p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544168" y="4444455"/>
            <a:ext cx="2144954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392808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4544168" y="4620000"/>
            <a:ext cx="2144954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86709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분할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46018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train/test 7:3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(stratify)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012324" y="4444455"/>
            <a:ext cx="2144954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860964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012324" y="4620000"/>
            <a:ext cx="2144954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54865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이상치 제거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14174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V14 IQR×1.5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개별 제거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80480" y="4444455"/>
            <a:ext cx="2144954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29120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9480480" y="4620000"/>
            <a:ext cx="2144954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3021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SMOTE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82330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train에만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오버샘플링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48636" y="4444455"/>
            <a:ext cx="2144954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97276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11948636" y="4620000"/>
            <a:ext cx="2144954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1177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 학습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0486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RandomForest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(n=1000)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16792" y="4444455"/>
            <a:ext cx="2144954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65432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TextBox 16"/>
          <p:cNvSpPr txBox="1"/>
          <p:nvPr/>
        </p:nvSpPr>
        <p:spPr>
          <a:xfrm>
            <a:off x="14416792" y="4620000"/>
            <a:ext cx="2144954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59333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임곗값 조정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18642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재현율 우선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(0.305)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JASO Sans Bold"/>
              </a:rPr>
              <a:t>3.6 성능 지표 결과 — RandomForest + SMOTE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750000"/>
          <a:ext cx="114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571"/>
                <a:gridCol w="1628571"/>
                <a:gridCol w="1628571"/>
                <a:gridCol w="1628571"/>
                <a:gridCol w="1628571"/>
                <a:gridCol w="1628571"/>
                <a:gridCol w="1628574"/>
              </a:tblGrid>
              <a:tr h="575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임곗값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0.500 (기본값)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0.8712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0.7823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0.8244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0.727 (최대 F1)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-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0.9558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0.8308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0.305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p2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700" y="2567458"/>
            <a:ext cx="4430600" cy="2565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4450000"/>
            <a:ext cx="114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채택 임곗값(0.305): TN=85,254 · FP=41 · FN=24 · TP=123 — 테스트셋 사기 147건 중 123건(84%) 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6100000"/>
            <a:ext cx="162306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최대 F1(0.727)은 재현율 0.7347에 그쳐 39건을 놓친다. 임곗값을 0.305로 낮추면 F1은 5.9%p 낮아지지만 재현율은 0.8367로 올라 놓치는 사기가 24건까지 줄어든다 — 정밀도는 0.9558→0.7500으로 하락하지만, 오탐지(FP) 비용이 탐지 실패(FN) 비용보다 훨씬 작다는 원칙에 부합한다.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222222"/>
                </a:solidFill>
                <a:latin typeface="JASO Sans Bold"/>
              </a:rPr>
              <a:t>3.6 모델별 비교 (SMOTE 적용)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750000"/>
          <a:ext cx="16230600" cy="33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1730000"/>
                <a:gridCol w="1730000"/>
                <a:gridCol w="1730000"/>
                <a:gridCol w="1400000"/>
                <a:gridCol w="1500000"/>
                <a:gridCol w="1400000"/>
                <a:gridCol w="3540600"/>
              </a:tblGrid>
              <a:tr h="56666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모델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비고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LightGBM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0.9720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0.8342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GridSearchCV 튜닝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XGBoost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0.8276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0.8219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0.9771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0.8350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기본 파라미터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RandomForest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임곗값 0.305 조정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GradientBoost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0.8438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0.7855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0.9749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0.6687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임곗값 0.9844 조정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LogisticRegression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0.8550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0.7619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0.8057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0.9675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0.7024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임곗값 최적화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700" y="5450000"/>
            <a:ext cx="162306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3970CF"/>
                </a:solidFill>
                <a:latin typeface="JASO Sans Bold"/>
              </a:rPr>
              <a:t>RandomForest 채택 근거: ROC-AUC 최고(0.9854) + 재현율 최고(0.8367) — AUPRC는 XGBoost·LightGBM이 근소하게 높지만(0.003~0.004) 이 프로젝트의 '재현율 우선' 목표에는 RandomForest가 최적이다.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JASO Sans Bold"/>
              </a:rPr>
              <a:t>3장 종합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00000"/>
            <a:ext cx="9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8700" y="2300000"/>
            <a:ext cx="151806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언더샘플링·SMOTE·SMOTE-ENN 중 정상 거래 정보를 보존하는 SMOTE가 정밀도-재현율 균형이 가장 좋았다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750000"/>
            <a:ext cx="9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8700" y="3850000"/>
            <a:ext cx="151806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SMOTE 적용 후 5개 모델을 비교한 결과 RandomForest가 ROC-AUC(0.9854)와 임곗값 조정 여지에서 가장 우수했다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300000"/>
            <a:ext cx="9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8700" y="5400000"/>
            <a:ext cx="151806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최대 F1 임곗값(0.727) 대신 재현율 우선 임곗값(0.305)을 채택해 테스트셋 사기 147건 중 123건(84%)을 탐지하고 손실을 24건까지 줄였다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7000000"/>
            <a:ext cx="162306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970CF"/>
                </a:solidFill>
                <a:latin typeface="JASO Sans Bold"/>
              </a:rPr>
              <a:t>오탐지 비용 &lt; 탐지 실패 비용 — 하나의 원칙을 일관되게 적용한 결과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70CF"/>
        </a:solidFill>
      </p:bgPr>
    </p:bg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6953983" y="5057775"/>
            <a:ext cx="4380035" cy="46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0"/>
              </a:lnSpc>
            </a:pPr>
            <a:r>
              <a:rPr lang="en-US" sz="2500" spc="-125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MACHINE LEARNING CASE STUDY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3222" y="8933815"/>
            <a:ext cx="12341556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0"/>
              </a:lnSpc>
            </a:pPr>
            <a:r>
              <a:rPr lang="en-US" b="true" sz="2000" spc="-10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서울특별시 · ML 종합보고서 4차 · 3장 Credit Card Fraud Detection · 담당 염윤호</a:t>
            </a:r>
          </a:p>
        </p:txBody>
      </p:sp>
      <p:sp>
        <p:nvSpPr>
          <p:cNvPr name="AutoShape 4" id="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cap="flat" w="19050">
            <a:solidFill>
              <a:srgbClr val="FDFD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691188" y="3319462"/>
            <a:ext cx="6905625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28234" y="2324100"/>
            <a:ext cx="883153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3000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CREDIT CARD FRAUD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59121" y="1437323"/>
            <a:ext cx="769758" cy="190500"/>
            <a:chOff x="0" y="0"/>
            <a:chExt cx="1026344" cy="254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54000" cy="2540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4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826</ep:Words>
  <ep:PresentationFormat>On-screen Show (4:3)</ep:PresentationFormat>
  <ep:Paragraphs>107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ekryh</cp:lastModifiedBy>
  <dcterms:modified xsi:type="dcterms:W3CDTF">2026-09-02T15:34:22.771</dcterms:modified>
  <cp:revision>5</cp:revision>
  <dc:title>파란색 흰색 미니멀리스트 비즈니스 회사 사업 소개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