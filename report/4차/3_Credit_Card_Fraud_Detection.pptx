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</p:sldIdLst>
  <p:sldSz cx="18288000" cy="10287000"/>
  <p:notesSz cx="6858000" cy="9144000"/>
  <p:embeddedFontLst>
    <p:embeddedFont>
      <p:font typeface="JASO Sans" charset="1" panose="020E0002060000000900"/>
      <p:regular r:id="rId16"/>
    </p:embeddedFont>
    <p:embeddedFont>
      <p:font typeface="JASO Sans Bold" charset="1" panose="020E0002060000000900"/>
      <p:regular r:id="rId17"/>
    </p:embeddedFont>
    <p:embeddedFont>
      <p:font typeface="JASO Sans Heavy" charset="1" panose="020E000206000000090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953983" y="6486525"/>
            <a:ext cx="4380035" cy="4635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850"/>
              </a:lnSpc>
            </a:pPr>
            <a:r>
              <a:rPr lang="en-US" sz="2500" spc="-125">
                <a:solidFill>
                  <a:srgbClr val="3970CF"/>
                </a:solidFill>
                <a:latin typeface="JASO Sans"/>
                <a:ea typeface="JASO Sans"/>
                <a:cs typeface="JASO Sans"/>
                <a:sym typeface="JASO Sans"/>
              </a:rPr>
              <a:t>비전을 현실로, 혁신을 가치로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218210" y="9101518"/>
            <a:ext cx="4086726" cy="324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620"/>
              </a:lnSpc>
            </a:pPr>
            <a:r>
              <a:rPr lang="en-US" b="true" sz="2000" spc="-100">
                <a:solidFill>
                  <a:srgbClr val="3970CF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영업팀  |  서승준 대리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2983064" y="9101518"/>
            <a:ext cx="4086726" cy="324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620"/>
              </a:lnSpc>
            </a:pPr>
            <a:r>
              <a:rPr lang="en-US" b="true" sz="2000" spc="-100">
                <a:solidFill>
                  <a:srgbClr val="3970CF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작성일  |  20230년 6월 7일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5691188" y="3267075"/>
            <a:ext cx="6905625" cy="3028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sz="9999" spc="-499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심플한</a:t>
            </a:r>
          </a:p>
          <a:p>
            <a:pPr algn="ctr">
              <a:lnSpc>
                <a:spcPts val="11999"/>
              </a:lnSpc>
            </a:pPr>
            <a:r>
              <a:rPr lang="en-US" b="true" sz="9999" spc="-499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사업 계획서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4728234" y="2324100"/>
            <a:ext cx="8831531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300"/>
              </a:lnSpc>
            </a:pPr>
            <a:r>
              <a:rPr lang="en-US" b="true" sz="4500">
                <a:solidFill>
                  <a:srgbClr val="3970CF"/>
                </a:solidFill>
                <a:latin typeface="JASO Sans Heavy"/>
                <a:ea typeface="JASO Sans Heavy"/>
                <a:cs typeface="JASO Sans Heavy"/>
                <a:sym typeface="JASO Sans Heavy"/>
              </a:rPr>
              <a:t>BUSINESS PLAN</a:t>
            </a:r>
          </a:p>
        </p:txBody>
      </p:sp>
      <p:sp>
        <p:nvSpPr>
          <p:cNvPr name="AutoShape 7" id="7"/>
          <p:cNvSpPr/>
          <p:nvPr/>
        </p:nvSpPr>
        <p:spPr>
          <a:xfrm>
            <a:off x="1218210" y="8789415"/>
            <a:ext cx="15851580" cy="0"/>
          </a:xfrm>
          <a:prstGeom prst="line">
            <a:avLst/>
          </a:prstGeom>
          <a:ln cap="flat" w="19050">
            <a:solidFill>
              <a:srgbClr val="3970C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8" id="8"/>
          <p:cNvGrpSpPr/>
          <p:nvPr/>
        </p:nvGrpSpPr>
        <p:grpSpPr>
          <a:xfrm rot="0">
            <a:off x="8759121" y="1437323"/>
            <a:ext cx="769758" cy="190500"/>
            <a:chOff x="0" y="0"/>
            <a:chExt cx="1026344" cy="254000"/>
          </a:xfrm>
        </p:grpSpPr>
        <p:grpSp>
          <p:nvGrpSpPr>
            <p:cNvPr name="Group 9" id="9"/>
            <p:cNvGrpSpPr/>
            <p:nvPr/>
          </p:nvGrpSpPr>
          <p:grpSpPr>
            <a:xfrm rot="0">
              <a:off x="0" y="0"/>
              <a:ext cx="254000" cy="25400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3970CF">
                  <a:alpha val="29804"/>
                </a:srgbClr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893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386172" y="0"/>
              <a:ext cx="254000" cy="25400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3970CF">
                  <a:alpha val="60000"/>
                </a:srgbClr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893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772344" y="0"/>
              <a:ext cx="254000" cy="25400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3970CF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893"/>
                  </a:lnSpc>
                </a:pPr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3970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633361" y="4842594"/>
            <a:ext cx="2868728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49"/>
              </a:lnSpc>
            </a:pPr>
            <a:r>
              <a:rPr lang="en-US" b="true" sz="2499" spc="-124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회사 소개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881511" y="4842594"/>
            <a:ext cx="2868728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49"/>
              </a:lnSpc>
            </a:pPr>
            <a:r>
              <a:rPr lang="en-US" b="true" sz="2499" spc="-124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타깃 고객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633361" y="5585544"/>
            <a:ext cx="2868728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49"/>
              </a:lnSpc>
            </a:pPr>
            <a:r>
              <a:rPr lang="en-US" b="true" sz="2499" spc="-124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문제 정의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881511" y="5585544"/>
            <a:ext cx="2868728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49"/>
              </a:lnSpc>
            </a:pPr>
            <a:r>
              <a:rPr lang="en-US" b="true" sz="2499" spc="-124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SWOT 분석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5490261" y="4780682"/>
            <a:ext cx="792278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4500"/>
              </a:lnSpc>
            </a:pPr>
            <a:r>
              <a:rPr lang="en-US" b="true" sz="3000" spc="-150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01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738411" y="4780682"/>
            <a:ext cx="792278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4500"/>
              </a:lnSpc>
            </a:pPr>
            <a:r>
              <a:rPr lang="en-US" b="true" sz="3000" spc="-150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05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490261" y="5523632"/>
            <a:ext cx="792278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4500"/>
              </a:lnSpc>
            </a:pPr>
            <a:r>
              <a:rPr lang="en-US" b="true" sz="3000" spc="-150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02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738411" y="5523632"/>
            <a:ext cx="792278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4500"/>
              </a:lnSpc>
            </a:pPr>
            <a:r>
              <a:rPr lang="en-US" b="true" sz="3000" spc="-150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06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633361" y="6328494"/>
            <a:ext cx="2868728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49"/>
              </a:lnSpc>
            </a:pPr>
            <a:r>
              <a:rPr lang="en-US" b="true" sz="2499" spc="-124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솔루션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881511" y="6328494"/>
            <a:ext cx="2868728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49"/>
              </a:lnSpc>
            </a:pPr>
            <a:r>
              <a:rPr lang="en-US" b="true" sz="2499" spc="-124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성장 전략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490261" y="6266582"/>
            <a:ext cx="792278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4500"/>
              </a:lnSpc>
            </a:pPr>
            <a:r>
              <a:rPr lang="en-US" b="true" sz="3000" spc="-150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03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738411" y="6266582"/>
            <a:ext cx="792278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4500"/>
              </a:lnSpc>
            </a:pPr>
            <a:r>
              <a:rPr lang="en-US" b="true" sz="3000" spc="-150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07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633361" y="7071444"/>
            <a:ext cx="2868728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49"/>
              </a:lnSpc>
            </a:pPr>
            <a:r>
              <a:rPr lang="en-US" b="true" sz="2499" spc="-124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시장 분석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881511" y="7071444"/>
            <a:ext cx="2868728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49"/>
              </a:lnSpc>
            </a:pPr>
            <a:r>
              <a:rPr lang="en-US" b="true" sz="2499" spc="-124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Q&amp;A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5490261" y="7009532"/>
            <a:ext cx="792278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4500"/>
              </a:lnSpc>
            </a:pPr>
            <a:r>
              <a:rPr lang="en-US" b="true" sz="3000" spc="-150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04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738411" y="7009532"/>
            <a:ext cx="792278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4500"/>
              </a:lnSpc>
            </a:pPr>
            <a:r>
              <a:rPr lang="en-US" b="true" sz="3000" spc="-150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08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535415" y="1797797"/>
            <a:ext cx="5217170" cy="1247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499"/>
              </a:lnSpc>
            </a:pPr>
            <a:r>
              <a:rPr lang="en-US" b="true" sz="6999" spc="-349">
                <a:solidFill>
                  <a:srgbClr val="FCFCFC"/>
                </a:solidFill>
                <a:latin typeface="JASO Sans Heavy"/>
                <a:ea typeface="JASO Sans Heavy"/>
                <a:cs typeface="JASO Sans Heavy"/>
                <a:sym typeface="JASO Sans Heavy"/>
              </a:rP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2508101"/>
            <a:ext cx="16580689" cy="6630853"/>
            <a:chOff x="0" y="0"/>
            <a:chExt cx="4366930" cy="174639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366930" cy="1746398"/>
            </a:xfrm>
            <a:custGeom>
              <a:avLst/>
              <a:gdLst/>
              <a:ahLst/>
              <a:cxnLst/>
              <a:rect r="r" b="b" t="t" l="l"/>
              <a:pathLst>
                <a:path h="1746398" w="4366930">
                  <a:moveTo>
                    <a:pt x="0" y="0"/>
                  </a:moveTo>
                  <a:lnTo>
                    <a:pt x="4366930" y="0"/>
                  </a:lnTo>
                  <a:lnTo>
                    <a:pt x="4366930" y="1746398"/>
                  </a:lnTo>
                  <a:lnTo>
                    <a:pt x="0" y="1746398"/>
                  </a:lnTo>
                  <a:close/>
                </a:path>
              </a:pathLst>
            </a:custGeom>
            <a:solidFill>
              <a:srgbClr val="FCFCFC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4366930" cy="17749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33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076012" y="4444455"/>
            <a:ext cx="14486065" cy="3705225"/>
            <a:chOff x="0" y="0"/>
            <a:chExt cx="3418265" cy="87431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418265" cy="874319"/>
            </a:xfrm>
            <a:custGeom>
              <a:avLst/>
              <a:gdLst/>
              <a:ahLst/>
              <a:cxnLst/>
              <a:rect r="r" b="b" t="t" l="l"/>
              <a:pathLst>
                <a:path h="874319" w="3418265">
                  <a:moveTo>
                    <a:pt x="0" y="0"/>
                  </a:moveTo>
                  <a:lnTo>
                    <a:pt x="3418265" y="0"/>
                  </a:lnTo>
                  <a:lnTo>
                    <a:pt x="3418265" y="874319"/>
                  </a:lnTo>
                  <a:lnTo>
                    <a:pt x="0" y="874319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9525"/>
              <a:ext cx="3418265" cy="8838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AutoShape 8" id="8"/>
          <p:cNvSpPr/>
          <p:nvPr/>
        </p:nvSpPr>
        <p:spPr>
          <a:xfrm>
            <a:off x="3429692" y="5535646"/>
            <a:ext cx="11778705" cy="0"/>
          </a:xfrm>
          <a:prstGeom prst="line">
            <a:avLst/>
          </a:prstGeom>
          <a:ln cap="flat" w="28575">
            <a:solidFill>
              <a:srgbClr val="3970C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9" id="9"/>
          <p:cNvSpPr txBox="true"/>
          <p:nvPr/>
        </p:nvSpPr>
        <p:spPr>
          <a:xfrm rot="0">
            <a:off x="5228788" y="6431631"/>
            <a:ext cx="2373312" cy="674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브랜드 런칭</a:t>
            </a:r>
          </a:p>
          <a:p>
            <a:pPr algn="ctr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첫 제품 출시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325189" y="6364956"/>
            <a:ext cx="2373312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49"/>
              </a:lnSpc>
            </a:pPr>
            <a:r>
              <a:rPr lang="en-US" b="true" sz="2499" spc="-124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회사 설립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132388" y="6431631"/>
            <a:ext cx="2373312" cy="674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누적 고객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 1만명 달성</a:t>
            </a:r>
          </a:p>
          <a:p>
            <a:pPr algn="ctr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팝업스토어 진행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891753" y="5806156"/>
            <a:ext cx="1240185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49"/>
              </a:lnSpc>
            </a:pPr>
            <a:r>
              <a:rPr lang="en-US" b="true" sz="2499" spc="-124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2000년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795352" y="5806156"/>
            <a:ext cx="1240185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49"/>
              </a:lnSpc>
            </a:pPr>
            <a:r>
              <a:rPr lang="en-US" b="true" sz="2499" spc="-124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2002년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698952" y="5806156"/>
            <a:ext cx="1240185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49"/>
              </a:lnSpc>
            </a:pPr>
            <a:r>
              <a:rPr lang="en-US" b="true" sz="2499" spc="-124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2010년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602552" y="5806156"/>
            <a:ext cx="1240185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49"/>
              </a:lnSpc>
            </a:pPr>
            <a:r>
              <a:rPr lang="en-US" b="true" sz="2499" spc="-124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2020년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3347539" y="5371340"/>
            <a:ext cx="328612" cy="328612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970CF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3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251138" y="5371340"/>
            <a:ext cx="328612" cy="328612"/>
            <a:chOff x="0" y="0"/>
            <a:chExt cx="812800" cy="812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970CF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3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9154738" y="5371340"/>
            <a:ext cx="328612" cy="328612"/>
            <a:chOff x="0" y="0"/>
            <a:chExt cx="812800" cy="8128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970CF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3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2058338" y="5371340"/>
            <a:ext cx="328612" cy="328612"/>
            <a:chOff x="0" y="0"/>
            <a:chExt cx="812800" cy="8128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970C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3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4961937" y="5371340"/>
            <a:ext cx="328612" cy="328612"/>
            <a:chOff x="0" y="0"/>
            <a:chExt cx="812800" cy="8128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970CF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3"/>
                </a:lnSpc>
              </a:pP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4506151" y="5806156"/>
            <a:ext cx="1240185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49"/>
              </a:lnSpc>
            </a:pPr>
            <a:r>
              <a:rPr lang="en-US" b="true" sz="2499" spc="-124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2025년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1035988" y="6431631"/>
            <a:ext cx="2373312" cy="674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협업 프로젝트 진행</a:t>
            </a:r>
          </a:p>
          <a:p>
            <a:pPr algn="ctr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해외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 판매 시작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3939587" y="6431631"/>
            <a:ext cx="2373312" cy="674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오프라인 입점 확대</a:t>
            </a:r>
          </a:p>
          <a:p>
            <a:pPr algn="ctr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신규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 서비스 런칭</a:t>
            </a:r>
          </a:p>
        </p:txBody>
      </p:sp>
      <p:sp>
        <p:nvSpPr>
          <p:cNvPr name="TextBox 34" id="34"/>
          <p:cNvSpPr txBox="true"/>
          <p:nvPr/>
        </p:nvSpPr>
        <p:spPr>
          <a:xfrm rot="-18144">
            <a:off x="7051311" y="801614"/>
            <a:ext cx="4184623" cy="904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500"/>
              </a:lnSpc>
            </a:pPr>
            <a:r>
              <a:rPr lang="en-US" b="true" sz="5000" spc="-250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회사 소개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4098892" y="3096519"/>
            <a:ext cx="10090216" cy="733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926"/>
              </a:lnSpc>
            </a:pPr>
            <a:r>
              <a:rPr lang="en-US" sz="2004" spc="-100">
                <a:solidFill>
                  <a:srgbClr val="222222">
                    <a:alpha val="6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2025년에는 오프라인 입점을 확대하며 신규 서비스를 런칭하였습니다. </a:t>
            </a:r>
          </a:p>
          <a:p>
            <a:pPr algn="ctr" marL="0" indent="0" lvl="0">
              <a:lnSpc>
                <a:spcPts val="2926"/>
              </a:lnSpc>
            </a:pPr>
            <a:r>
              <a:rPr lang="en-US" sz="2004" spc="-100">
                <a:solidFill>
                  <a:srgbClr val="222222">
                    <a:alpha val="6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이러한 연혁을 통해 우리는 끊임없이 성장하고 발전하는 모습을 보여드리고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2508101"/>
            <a:ext cx="16580689" cy="6630853"/>
            <a:chOff x="0" y="0"/>
            <a:chExt cx="4366930" cy="174639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366930" cy="1746398"/>
            </a:xfrm>
            <a:custGeom>
              <a:avLst/>
              <a:gdLst/>
              <a:ahLst/>
              <a:cxnLst/>
              <a:rect r="r" b="b" t="t" l="l"/>
              <a:pathLst>
                <a:path h="1746398" w="4366930">
                  <a:moveTo>
                    <a:pt x="0" y="0"/>
                  </a:moveTo>
                  <a:lnTo>
                    <a:pt x="4366930" y="0"/>
                  </a:lnTo>
                  <a:lnTo>
                    <a:pt x="4366930" y="1746398"/>
                  </a:lnTo>
                  <a:lnTo>
                    <a:pt x="0" y="1746398"/>
                  </a:lnTo>
                  <a:close/>
                </a:path>
              </a:pathLst>
            </a:custGeom>
            <a:solidFill>
              <a:srgbClr val="FCFCFC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4366930" cy="17749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33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-18144">
            <a:off x="7051311" y="801614"/>
            <a:ext cx="4184623" cy="904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500"/>
              </a:lnSpc>
            </a:pPr>
            <a:r>
              <a:rPr lang="en-US" b="true" sz="5000" spc="-250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문제 정의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774792" y="3096519"/>
            <a:ext cx="14738416" cy="733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926"/>
              </a:lnSpc>
            </a:pPr>
            <a:r>
              <a:rPr lang="en-US" sz="2004" spc="-100">
                <a:solidFill>
                  <a:srgbClr val="222222">
                    <a:alpha val="6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고객은</a:t>
            </a:r>
            <a:r>
              <a:rPr lang="en-US" sz="2004" spc="-100">
                <a:solidFill>
                  <a:srgbClr val="222222">
                    <a:alpha val="6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더 간편하고 효율적인 솔루션을 필요로 합니다.이를 위해 우리는 지속적으로 혁신을 추구하고 있으며, </a:t>
            </a:r>
          </a:p>
          <a:p>
            <a:pPr algn="ctr" marL="0" indent="0" lvl="0">
              <a:lnSpc>
                <a:spcPts val="2926"/>
              </a:lnSpc>
            </a:pPr>
            <a:r>
              <a:rPr lang="en-US" sz="2004" spc="-100">
                <a:solidFill>
                  <a:srgbClr val="222222">
                    <a:alpha val="6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고객의 요구에 맞춘 맞춤형 서비스를 제공하고자 합니다. 고객의 피드백을 적극 반영하여 제품과 서비스를 개선하고 있습니다.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7134492" y="4444455"/>
            <a:ext cx="4019016" cy="3705225"/>
            <a:chOff x="0" y="0"/>
            <a:chExt cx="948364" cy="87431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948364" cy="874319"/>
            </a:xfrm>
            <a:custGeom>
              <a:avLst/>
              <a:gdLst/>
              <a:ahLst/>
              <a:cxnLst/>
              <a:rect r="r" b="b" t="t" l="l"/>
              <a:pathLst>
                <a:path h="874319" w="948364">
                  <a:moveTo>
                    <a:pt x="0" y="0"/>
                  </a:moveTo>
                  <a:lnTo>
                    <a:pt x="948364" y="0"/>
                  </a:lnTo>
                  <a:lnTo>
                    <a:pt x="948364" y="874319"/>
                  </a:lnTo>
                  <a:lnTo>
                    <a:pt x="0" y="874319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948364" cy="8838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8920162" y="4905859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6" y="0"/>
                </a:lnTo>
                <a:lnTo>
                  <a:pt x="447676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7626583" y="6619830"/>
            <a:ext cx="3034833" cy="1017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중소기업은 더 경제적이고</a:t>
            </a:r>
          </a:p>
          <a:p>
            <a:pPr algn="ctr" marL="0" indent="0" lvl="0">
              <a:lnSpc>
                <a:spcPts val="2700"/>
              </a:lnSpc>
            </a:pPr>
            <a:r>
              <a:rPr lang="en-US" b="true" sz="1800" spc="-90">
                <a:solidFill>
                  <a:srgbClr val="2664B4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단순한 대안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을 찾기 위해</a:t>
            </a:r>
          </a:p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고군분투하고 있습니다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2076012" y="4444455"/>
            <a:ext cx="4019016" cy="3705225"/>
            <a:chOff x="0" y="0"/>
            <a:chExt cx="948364" cy="87431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948364" cy="874319"/>
            </a:xfrm>
            <a:custGeom>
              <a:avLst/>
              <a:gdLst/>
              <a:ahLst/>
              <a:cxnLst/>
              <a:rect r="r" b="b" t="t" l="l"/>
              <a:pathLst>
                <a:path h="874319" w="948364">
                  <a:moveTo>
                    <a:pt x="0" y="0"/>
                  </a:moveTo>
                  <a:lnTo>
                    <a:pt x="948364" y="0"/>
                  </a:lnTo>
                  <a:lnTo>
                    <a:pt x="948364" y="874319"/>
                  </a:lnTo>
                  <a:lnTo>
                    <a:pt x="0" y="874319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948364" cy="8838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0">
            <a:off x="3861682" y="4905859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2568103" y="6619830"/>
            <a:ext cx="3034833" cy="1017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기존 솔루션은 복잡하고 </a:t>
            </a:r>
          </a:p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비용이 높아 중소기업의 </a:t>
            </a:r>
          </a:p>
          <a:p>
            <a:pPr algn="ctr" marL="0" indent="0" lvl="0">
              <a:lnSpc>
                <a:spcPts val="2700"/>
              </a:lnSpc>
            </a:pPr>
            <a:r>
              <a:rPr lang="en-US" b="true" sz="1800" spc="-90">
                <a:solidFill>
                  <a:srgbClr val="2664B4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접근성이 낮습니다.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821919" y="5632159"/>
            <a:ext cx="2527201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높은 비용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880399" y="5632159"/>
            <a:ext cx="2527201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복잡성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2543061" y="4444455"/>
            <a:ext cx="4019016" cy="3705225"/>
            <a:chOff x="0" y="0"/>
            <a:chExt cx="948364" cy="874319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948364" cy="874319"/>
            </a:xfrm>
            <a:custGeom>
              <a:avLst/>
              <a:gdLst/>
              <a:ahLst/>
              <a:cxnLst/>
              <a:rect r="r" b="b" t="t" l="l"/>
              <a:pathLst>
                <a:path h="874319" w="948364">
                  <a:moveTo>
                    <a:pt x="0" y="0"/>
                  </a:moveTo>
                  <a:lnTo>
                    <a:pt x="948364" y="0"/>
                  </a:lnTo>
                  <a:lnTo>
                    <a:pt x="948364" y="874319"/>
                  </a:lnTo>
                  <a:lnTo>
                    <a:pt x="0" y="874319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948364" cy="8838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3035152" y="6619830"/>
            <a:ext cx="3034833" cy="1017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00"/>
              </a:lnSpc>
            </a:pPr>
            <a:r>
              <a:rPr lang="en-US" b="true" sz="1800" spc="-90">
                <a:solidFill>
                  <a:srgbClr val="2664B4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비효율적인</a:t>
            </a:r>
            <a:r>
              <a:rPr lang="en-US" b="true" sz="1800" spc="-90">
                <a:solidFill>
                  <a:srgbClr val="2664B4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프로세스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로 인해 </a:t>
            </a:r>
          </a:p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시간과 자원이 </a:t>
            </a:r>
          </a:p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낭비되고 있습니다.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288968" y="5632159"/>
            <a:ext cx="2527201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낮</a:t>
            </a: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은 효율성</a:t>
            </a:r>
          </a:p>
        </p:txBody>
      </p:sp>
      <p:sp>
        <p:nvSpPr>
          <p:cNvPr name="Freeform 24" id="24"/>
          <p:cNvSpPr/>
          <p:nvPr/>
        </p:nvSpPr>
        <p:spPr>
          <a:xfrm flipH="false" flipV="false" rot="0">
            <a:off x="14328731" y="4905859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2508101"/>
            <a:ext cx="16580689" cy="6630853"/>
            <a:chOff x="0" y="0"/>
            <a:chExt cx="4366930" cy="174639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366930" cy="1746398"/>
            </a:xfrm>
            <a:custGeom>
              <a:avLst/>
              <a:gdLst/>
              <a:ahLst/>
              <a:cxnLst/>
              <a:rect r="r" b="b" t="t" l="l"/>
              <a:pathLst>
                <a:path h="1746398" w="4366930">
                  <a:moveTo>
                    <a:pt x="0" y="0"/>
                  </a:moveTo>
                  <a:lnTo>
                    <a:pt x="4366930" y="0"/>
                  </a:lnTo>
                  <a:lnTo>
                    <a:pt x="4366930" y="1746398"/>
                  </a:lnTo>
                  <a:lnTo>
                    <a:pt x="0" y="1746398"/>
                  </a:lnTo>
                  <a:close/>
                </a:path>
              </a:pathLst>
            </a:custGeom>
            <a:solidFill>
              <a:srgbClr val="FCFCFC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4366930" cy="17749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33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-18144">
            <a:off x="7051311" y="801614"/>
            <a:ext cx="4184623" cy="904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500"/>
              </a:lnSpc>
            </a:pPr>
            <a:r>
              <a:rPr lang="en-US" b="true" sz="5000" spc="-250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솔루션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774792" y="3096519"/>
            <a:ext cx="14738416" cy="733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926"/>
              </a:lnSpc>
            </a:pPr>
            <a:r>
              <a:rPr lang="en-US" sz="2004" spc="-100">
                <a:solidFill>
                  <a:srgbClr val="222222">
                    <a:alpha val="6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기업별</a:t>
            </a:r>
            <a:r>
              <a:rPr lang="en-US" sz="2004" spc="-100">
                <a:solidFill>
                  <a:srgbClr val="222222">
                    <a:alpha val="6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최적화된 솔루션을 제공합니다.이러한 솔루션은 중소기업의 특정 요구에 맞춰 설계되어, </a:t>
            </a:r>
          </a:p>
          <a:p>
            <a:pPr algn="ctr" marL="0" indent="0" lvl="0">
              <a:lnSpc>
                <a:spcPts val="2926"/>
              </a:lnSpc>
            </a:pPr>
            <a:r>
              <a:rPr lang="en-US" sz="2004" spc="-100">
                <a:solidFill>
                  <a:srgbClr val="222222">
                    <a:alpha val="6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효율성을 극대화하고 비용을 절감할 수 있도록 지원합니다. 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2076012" y="4444455"/>
            <a:ext cx="14486065" cy="1114574"/>
            <a:chOff x="0" y="0"/>
            <a:chExt cx="3418265" cy="26300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418265" cy="263005"/>
            </a:xfrm>
            <a:custGeom>
              <a:avLst/>
              <a:gdLst/>
              <a:ahLst/>
              <a:cxnLst/>
              <a:rect r="r" b="b" t="t" l="l"/>
              <a:pathLst>
                <a:path h="263005" w="3418265">
                  <a:moveTo>
                    <a:pt x="0" y="0"/>
                  </a:moveTo>
                  <a:lnTo>
                    <a:pt x="3418265" y="0"/>
                  </a:lnTo>
                  <a:lnTo>
                    <a:pt x="3418265" y="263005"/>
                  </a:lnTo>
                  <a:lnTo>
                    <a:pt x="0" y="263005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3418265" cy="27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2566282" y="4776476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3271132" y="4871726"/>
            <a:ext cx="185965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99"/>
              </a:lnSpc>
            </a:pPr>
            <a:r>
              <a:rPr lang="en-US" b="true" sz="2499" spc="-124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솔루션 01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706555" y="4806004"/>
            <a:ext cx="6221074" cy="331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AI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 기반 자동화 시스템으로 업무 </a:t>
            </a:r>
            <a:r>
              <a:rPr lang="en-US" b="true" sz="1800" spc="-90">
                <a:solidFill>
                  <a:srgbClr val="2664B4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효율성을 200% 향상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시킵니다.</a:t>
            </a:r>
          </a:p>
        </p:txBody>
      </p:sp>
      <p:sp>
        <p:nvSpPr>
          <p:cNvPr name="AutoShape 13" id="13"/>
          <p:cNvSpPr/>
          <p:nvPr/>
        </p:nvSpPr>
        <p:spPr>
          <a:xfrm>
            <a:off x="5279209" y="4671140"/>
            <a:ext cx="0" cy="661204"/>
          </a:xfrm>
          <a:prstGeom prst="line">
            <a:avLst/>
          </a:prstGeom>
          <a:ln cap="flat" w="28575">
            <a:solidFill>
              <a:srgbClr val="3970C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" id="14"/>
          <p:cNvGrpSpPr/>
          <p:nvPr/>
        </p:nvGrpSpPr>
        <p:grpSpPr>
          <a:xfrm rot="0">
            <a:off x="2076012" y="5739781"/>
            <a:ext cx="14486065" cy="1114574"/>
            <a:chOff x="0" y="0"/>
            <a:chExt cx="3418265" cy="26300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418265" cy="263005"/>
            </a:xfrm>
            <a:custGeom>
              <a:avLst/>
              <a:gdLst/>
              <a:ahLst/>
              <a:cxnLst/>
              <a:rect r="r" b="b" t="t" l="l"/>
              <a:pathLst>
                <a:path h="263005" w="3418265">
                  <a:moveTo>
                    <a:pt x="0" y="0"/>
                  </a:moveTo>
                  <a:lnTo>
                    <a:pt x="3418265" y="0"/>
                  </a:lnTo>
                  <a:lnTo>
                    <a:pt x="3418265" y="263005"/>
                  </a:lnTo>
                  <a:lnTo>
                    <a:pt x="0" y="263005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3418265" cy="27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2566282" y="6071801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3271132" y="6167052"/>
            <a:ext cx="185965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99"/>
              </a:lnSpc>
            </a:pPr>
            <a:r>
              <a:rPr lang="en-US" b="true" sz="2499" spc="-124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솔루션 02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5706555" y="6102758"/>
            <a:ext cx="6221074" cy="331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클라우드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 통합 플랫폼으로 </a:t>
            </a:r>
            <a:r>
              <a:rPr lang="en-US" b="true" sz="1800" spc="-90">
                <a:solidFill>
                  <a:srgbClr val="2664B4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실시간 데이터 분석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이 가능합니다.</a:t>
            </a:r>
          </a:p>
        </p:txBody>
      </p:sp>
      <p:sp>
        <p:nvSpPr>
          <p:cNvPr name="AutoShape 20" id="20"/>
          <p:cNvSpPr/>
          <p:nvPr/>
        </p:nvSpPr>
        <p:spPr>
          <a:xfrm>
            <a:off x="5279209" y="5966466"/>
            <a:ext cx="0" cy="661204"/>
          </a:xfrm>
          <a:prstGeom prst="line">
            <a:avLst/>
          </a:prstGeom>
          <a:ln cap="flat" w="28575">
            <a:solidFill>
              <a:srgbClr val="3970C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1" id="21"/>
          <p:cNvGrpSpPr/>
          <p:nvPr/>
        </p:nvGrpSpPr>
        <p:grpSpPr>
          <a:xfrm rot="0">
            <a:off x="2076012" y="7035106"/>
            <a:ext cx="14486065" cy="1114574"/>
            <a:chOff x="0" y="0"/>
            <a:chExt cx="3418265" cy="26300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418265" cy="263005"/>
            </a:xfrm>
            <a:custGeom>
              <a:avLst/>
              <a:gdLst/>
              <a:ahLst/>
              <a:cxnLst/>
              <a:rect r="r" b="b" t="t" l="l"/>
              <a:pathLst>
                <a:path h="263005" w="3418265">
                  <a:moveTo>
                    <a:pt x="0" y="0"/>
                  </a:moveTo>
                  <a:lnTo>
                    <a:pt x="3418265" y="0"/>
                  </a:lnTo>
                  <a:lnTo>
                    <a:pt x="3418265" y="263005"/>
                  </a:lnTo>
                  <a:lnTo>
                    <a:pt x="0" y="263005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3418265" cy="27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Freeform 24" id="24"/>
          <p:cNvSpPr/>
          <p:nvPr/>
        </p:nvSpPr>
        <p:spPr>
          <a:xfrm flipH="false" flipV="false" rot="0">
            <a:off x="2566282" y="7367127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3271132" y="7462377"/>
            <a:ext cx="185965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99"/>
              </a:lnSpc>
            </a:pPr>
            <a:r>
              <a:rPr lang="en-US" b="true" sz="2499" spc="-124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솔루션 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5706555" y="7398083"/>
            <a:ext cx="6221074" cy="331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맞춤형 컨설팅으로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 기업별 </a:t>
            </a:r>
            <a:r>
              <a:rPr lang="en-US" b="true" sz="1800" spc="-90">
                <a:solidFill>
                  <a:srgbClr val="2664B4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최적화된 솔루션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을 제공합니다.</a:t>
            </a:r>
          </a:p>
        </p:txBody>
      </p:sp>
      <p:sp>
        <p:nvSpPr>
          <p:cNvPr name="AutoShape 27" id="27"/>
          <p:cNvSpPr/>
          <p:nvPr/>
        </p:nvSpPr>
        <p:spPr>
          <a:xfrm>
            <a:off x="5279209" y="7261791"/>
            <a:ext cx="0" cy="661204"/>
          </a:xfrm>
          <a:prstGeom prst="line">
            <a:avLst/>
          </a:prstGeom>
          <a:ln cap="flat" w="28575">
            <a:solidFill>
              <a:srgbClr val="3970CF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2508101"/>
            <a:ext cx="16580689" cy="6630853"/>
            <a:chOff x="0" y="0"/>
            <a:chExt cx="4366930" cy="174639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366930" cy="1746398"/>
            </a:xfrm>
            <a:custGeom>
              <a:avLst/>
              <a:gdLst/>
              <a:ahLst/>
              <a:cxnLst/>
              <a:rect r="r" b="b" t="t" l="l"/>
              <a:pathLst>
                <a:path h="1746398" w="4366930">
                  <a:moveTo>
                    <a:pt x="0" y="0"/>
                  </a:moveTo>
                  <a:lnTo>
                    <a:pt x="4366930" y="0"/>
                  </a:lnTo>
                  <a:lnTo>
                    <a:pt x="4366930" y="1746398"/>
                  </a:lnTo>
                  <a:lnTo>
                    <a:pt x="0" y="1746398"/>
                  </a:lnTo>
                  <a:close/>
                </a:path>
              </a:pathLst>
            </a:custGeom>
            <a:solidFill>
              <a:srgbClr val="FCFCFC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4366930" cy="17749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33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076012" y="6161332"/>
            <a:ext cx="4019016" cy="1988349"/>
            <a:chOff x="0" y="0"/>
            <a:chExt cx="948364" cy="46918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48364" cy="469189"/>
            </a:xfrm>
            <a:custGeom>
              <a:avLst/>
              <a:gdLst/>
              <a:ahLst/>
              <a:cxnLst/>
              <a:rect r="r" b="b" t="t" l="l"/>
              <a:pathLst>
                <a:path h="469189" w="948364">
                  <a:moveTo>
                    <a:pt x="0" y="0"/>
                  </a:moveTo>
                  <a:lnTo>
                    <a:pt x="948364" y="0"/>
                  </a:lnTo>
                  <a:lnTo>
                    <a:pt x="948364" y="469189"/>
                  </a:lnTo>
                  <a:lnTo>
                    <a:pt x="0" y="469189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9525"/>
              <a:ext cx="948364" cy="4787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-18144">
            <a:off x="7051311" y="801614"/>
            <a:ext cx="4184623" cy="904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500"/>
              </a:lnSpc>
            </a:pPr>
            <a:r>
              <a:rPr lang="en-US" b="true" sz="5000" spc="-250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시장 분석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220473" y="3850870"/>
            <a:ext cx="4258229" cy="1691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08"/>
              </a:lnSpc>
            </a:pPr>
            <a:r>
              <a:rPr lang="en-US" sz="2004" spc="-10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국내 시장 규모는 연평균 25.7% 성장하여 </a:t>
            </a:r>
          </a:p>
          <a:p>
            <a:pPr algn="l">
              <a:lnSpc>
                <a:spcPts val="3408"/>
              </a:lnSpc>
            </a:pPr>
            <a:r>
              <a:rPr lang="en-US" sz="2004" spc="-10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2025년 5조원 돌파 전망입니다.</a:t>
            </a:r>
          </a:p>
          <a:p>
            <a:pPr algn="l">
              <a:lnSpc>
                <a:spcPts val="3408"/>
              </a:lnSpc>
            </a:pPr>
            <a:r>
              <a:rPr lang="en-US" sz="2004" spc="-100" b="true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디지털 전환 가속화 관련</a:t>
            </a:r>
          </a:p>
          <a:p>
            <a:pPr algn="l" marL="0" indent="0" lvl="0">
              <a:lnSpc>
                <a:spcPts val="3408"/>
              </a:lnSpc>
            </a:pPr>
            <a:r>
              <a:rPr lang="en-US" b="true" sz="2004" spc="-10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솔루션 수요가 급격히 증가</a:t>
            </a:r>
            <a:r>
              <a:rPr lang="en-US" sz="2004" spc="-10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하고 있습니다.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2434795" y="6438860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2434795" y="7247698"/>
            <a:ext cx="1414986" cy="647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00"/>
              </a:lnSpc>
            </a:pPr>
            <a:r>
              <a:rPr lang="en-US" b="true" sz="5000" spc="-2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25.7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666177" y="7452486"/>
            <a:ext cx="620546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99"/>
              </a:lnSpc>
            </a:pPr>
            <a:r>
              <a:rPr lang="en-US" b="true" sz="2499" spc="-124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%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045602" y="6502677"/>
            <a:ext cx="1861695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솔루션 수요</a:t>
            </a:r>
          </a:p>
        </p:txBody>
      </p:sp>
      <p:pic>
        <p:nvPicPr>
          <p:cNvPr name="Picture 14" id="1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6531688" y="2559431"/>
            <a:ext cx="11044522" cy="677757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2508101"/>
            <a:ext cx="16580689" cy="6630853"/>
            <a:chOff x="0" y="0"/>
            <a:chExt cx="4366930" cy="174639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366930" cy="1746398"/>
            </a:xfrm>
            <a:custGeom>
              <a:avLst/>
              <a:gdLst/>
              <a:ahLst/>
              <a:cxnLst/>
              <a:rect r="r" b="b" t="t" l="l"/>
              <a:pathLst>
                <a:path h="1746398" w="4366930">
                  <a:moveTo>
                    <a:pt x="0" y="0"/>
                  </a:moveTo>
                  <a:lnTo>
                    <a:pt x="4366930" y="0"/>
                  </a:lnTo>
                  <a:lnTo>
                    <a:pt x="4366930" y="1746398"/>
                  </a:lnTo>
                  <a:lnTo>
                    <a:pt x="0" y="1746398"/>
                  </a:lnTo>
                  <a:close/>
                </a:path>
              </a:pathLst>
            </a:custGeom>
            <a:solidFill>
              <a:srgbClr val="FCFCFC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4366930" cy="17749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33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076012" y="4444455"/>
            <a:ext cx="14486065" cy="3705225"/>
            <a:chOff x="0" y="0"/>
            <a:chExt cx="3418265" cy="87431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418265" cy="874319"/>
            </a:xfrm>
            <a:custGeom>
              <a:avLst/>
              <a:gdLst/>
              <a:ahLst/>
              <a:cxnLst/>
              <a:rect r="r" b="b" t="t" l="l"/>
              <a:pathLst>
                <a:path h="874319" w="3418265">
                  <a:moveTo>
                    <a:pt x="0" y="0"/>
                  </a:moveTo>
                  <a:lnTo>
                    <a:pt x="3418265" y="0"/>
                  </a:lnTo>
                  <a:lnTo>
                    <a:pt x="3418265" y="874319"/>
                  </a:lnTo>
                  <a:lnTo>
                    <a:pt x="0" y="874319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9525"/>
              <a:ext cx="3418265" cy="8838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-18144">
            <a:off x="7051311" y="801614"/>
            <a:ext cx="4184623" cy="904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500"/>
              </a:lnSpc>
            </a:pPr>
            <a:r>
              <a:rPr lang="en-US" b="true" sz="5000" spc="-250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타깃 분석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3559181" y="3096519"/>
            <a:ext cx="11169639" cy="733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926"/>
              </a:lnSpc>
            </a:pPr>
            <a:r>
              <a:rPr lang="en-US" sz="2004" spc="-100">
                <a:solidFill>
                  <a:srgbClr val="222222">
                    <a:alpha val="6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이러한 기업들은 효율적인 업무 프로세스를 필요로 하며, 기술을 통해 업무 효율성을 높이고자 합니다.</a:t>
            </a:r>
          </a:p>
          <a:p>
            <a:pPr algn="ctr" marL="0" indent="0" lvl="0">
              <a:lnSpc>
                <a:spcPts val="2926"/>
              </a:lnSpc>
            </a:pPr>
            <a:r>
              <a:rPr lang="en-US" sz="2004" spc="-100">
                <a:solidFill>
                  <a:srgbClr val="222222">
                    <a:alpha val="6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이를 위해 자동화 솔루션이나 관리 소프트웨어 도입을 고려할 가능성이 높습니다. 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2782123" y="4722417"/>
            <a:ext cx="3149301" cy="3149301"/>
            <a:chOff x="0" y="0"/>
            <a:chExt cx="812800" cy="812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l="-25046" t="0" r="-25046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3096088" y="5460160"/>
            <a:ext cx="5254805" cy="845186"/>
            <a:chOff x="0" y="0"/>
            <a:chExt cx="5019643" cy="80736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019643" cy="807362"/>
            </a:xfrm>
            <a:custGeom>
              <a:avLst/>
              <a:gdLst/>
              <a:ahLst/>
              <a:cxnLst/>
              <a:rect r="r" b="b" t="t" l="l"/>
              <a:pathLst>
                <a:path h="807362" w="5019643">
                  <a:moveTo>
                    <a:pt x="23020" y="0"/>
                  </a:moveTo>
                  <a:lnTo>
                    <a:pt x="4996623" y="0"/>
                  </a:lnTo>
                  <a:cubicBezTo>
                    <a:pt x="5009336" y="0"/>
                    <a:pt x="5019643" y="10307"/>
                    <a:pt x="5019643" y="23020"/>
                  </a:cubicBezTo>
                  <a:lnTo>
                    <a:pt x="5019643" y="784342"/>
                  </a:lnTo>
                  <a:cubicBezTo>
                    <a:pt x="5019643" y="797055"/>
                    <a:pt x="5009336" y="807362"/>
                    <a:pt x="4996623" y="807362"/>
                  </a:cubicBezTo>
                  <a:lnTo>
                    <a:pt x="23020" y="807362"/>
                  </a:lnTo>
                  <a:cubicBezTo>
                    <a:pt x="10307" y="807362"/>
                    <a:pt x="0" y="797055"/>
                    <a:pt x="0" y="784342"/>
                  </a:cubicBezTo>
                  <a:lnTo>
                    <a:pt x="0" y="23020"/>
                  </a:lnTo>
                  <a:cubicBezTo>
                    <a:pt x="0" y="10307"/>
                    <a:pt x="10307" y="0"/>
                    <a:pt x="23020" y="0"/>
                  </a:cubicBezTo>
                  <a:close/>
                </a:path>
              </a:pathLst>
            </a:custGeom>
            <a:solidFill>
              <a:srgbClr val="FCFCFC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5019643" cy="8264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40"/>
                </a:lnSpc>
              </a:pPr>
              <a:r>
                <a:rPr lang="en-US" b="true" sz="2000" spc="-100">
                  <a:solidFill>
                    <a:srgbClr val="222222"/>
                  </a:solidFill>
                  <a:latin typeface="JASO Sans Bold"/>
                  <a:ea typeface="JASO Sans Bold"/>
                  <a:cs typeface="JASO Sans Bold"/>
                  <a:sym typeface="JASO Sans Bold"/>
                </a:rPr>
                <a:t>적은 인원으로 많은 업무를 처리해야 하는 상황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7650015" y="6486321"/>
            <a:ext cx="3495793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000"/>
              </a:lnSpc>
            </a:pPr>
            <a:r>
              <a:rPr lang="en-US" b="true" sz="2000" spc="-10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주요 니즈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311988" y="6486321"/>
            <a:ext cx="3495793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000"/>
              </a:lnSpc>
            </a:pPr>
            <a:r>
              <a:rPr lang="en-US" b="true" sz="2000" spc="-10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현재 상황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096088" y="7048578"/>
            <a:ext cx="3927593" cy="674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2" indent="-194311" lvl="1">
              <a:lnSpc>
                <a:spcPts val="2700"/>
              </a:lnSpc>
              <a:buFont typeface="Arial"/>
              <a:buChar char="•"/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직원 수 5~20명 규모 스타트업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 근무</a:t>
            </a:r>
          </a:p>
          <a:p>
            <a:pPr algn="l" marL="388622" indent="-194311" lvl="1">
              <a:lnSpc>
                <a:spcPts val="2700"/>
              </a:lnSpc>
              <a:buFont typeface="Arial"/>
              <a:buChar char="•"/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반복적인 작업 및 고객 응대 업무 과다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523015" y="7048578"/>
            <a:ext cx="3927593" cy="674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2" indent="-194311" lvl="1">
              <a:lnSpc>
                <a:spcPts val="2700"/>
              </a:lnSpc>
              <a:buFont typeface="Arial"/>
              <a:buChar char="•"/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업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무 시간 단축</a:t>
            </a:r>
          </a:p>
          <a:p>
            <a:pPr algn="l" marL="388622" indent="-194311" lvl="1">
              <a:lnSpc>
                <a:spcPts val="2700"/>
              </a:lnSpc>
              <a:buFont typeface="Arial"/>
              <a:buChar char="•"/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운영 비용 절감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2566282" y="4746475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3271132" y="4810293"/>
            <a:ext cx="3412392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중소기업 · 스타트업</a:t>
            </a: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-18144">
            <a:off x="7051311" y="801614"/>
            <a:ext cx="4184623" cy="904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500"/>
              </a:lnSpc>
            </a:pPr>
            <a:r>
              <a:rPr lang="en-US" b="true" sz="5000" spc="-250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SWOT 분석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28700" y="2508101"/>
            <a:ext cx="16580689" cy="6630853"/>
            <a:chOff x="0" y="0"/>
            <a:chExt cx="4366930" cy="174639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366930" cy="1746398"/>
            </a:xfrm>
            <a:custGeom>
              <a:avLst/>
              <a:gdLst/>
              <a:ahLst/>
              <a:cxnLst/>
              <a:rect r="r" b="b" t="t" l="l"/>
              <a:pathLst>
                <a:path h="1746398" w="4366930">
                  <a:moveTo>
                    <a:pt x="0" y="0"/>
                  </a:moveTo>
                  <a:lnTo>
                    <a:pt x="4366930" y="0"/>
                  </a:lnTo>
                  <a:lnTo>
                    <a:pt x="4366930" y="1746398"/>
                  </a:lnTo>
                  <a:lnTo>
                    <a:pt x="0" y="1746398"/>
                  </a:lnTo>
                  <a:close/>
                </a:path>
              </a:pathLst>
            </a:custGeom>
            <a:solidFill>
              <a:srgbClr val="FCFCFC"/>
            </a:soli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28575"/>
              <a:ext cx="4366930" cy="17749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33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3559181" y="3096519"/>
            <a:ext cx="11169639" cy="733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926"/>
              </a:lnSpc>
            </a:pPr>
            <a:r>
              <a:rPr lang="en-US" sz="2004" spc="-100">
                <a:solidFill>
                  <a:srgbClr val="222222">
                    <a:alpha val="6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서비</a:t>
            </a:r>
            <a:r>
              <a:rPr lang="en-US" sz="2004" spc="-100">
                <a:solidFill>
                  <a:srgbClr val="222222">
                    <a:alpha val="6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스 경쟁력 및 시장 환경 분석은 매우 중요합니다. </a:t>
            </a:r>
          </a:p>
          <a:p>
            <a:pPr algn="ctr" marL="0" indent="0" lvl="0">
              <a:lnSpc>
                <a:spcPts val="2926"/>
              </a:lnSpc>
            </a:pPr>
            <a:r>
              <a:rPr lang="en-US" sz="2004" spc="-100">
                <a:solidFill>
                  <a:srgbClr val="222222">
                    <a:alpha val="6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스타트업의 성공적인 성장을 위해서는 경쟁사의 전략과 현재 시장 동향을 면밀히 분석해야 합니다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420644" y="4500256"/>
            <a:ext cx="7141432" cy="1709734"/>
            <a:chOff x="0" y="0"/>
            <a:chExt cx="1685158" cy="40344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685158" cy="403445"/>
            </a:xfrm>
            <a:custGeom>
              <a:avLst/>
              <a:gdLst/>
              <a:ahLst/>
              <a:cxnLst/>
              <a:rect r="r" b="b" t="t" l="l"/>
              <a:pathLst>
                <a:path h="403445" w="1685158">
                  <a:moveTo>
                    <a:pt x="0" y="0"/>
                  </a:moveTo>
                  <a:lnTo>
                    <a:pt x="1685158" y="0"/>
                  </a:lnTo>
                  <a:lnTo>
                    <a:pt x="1685158" y="403445"/>
                  </a:lnTo>
                  <a:lnTo>
                    <a:pt x="0" y="403445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1685158" cy="4129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9910915" y="4746475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0615765" y="4810293"/>
            <a:ext cx="856350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약점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472115" y="4897454"/>
            <a:ext cx="2094600" cy="2609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20"/>
              </a:lnSpc>
            </a:pPr>
            <a:r>
              <a:rPr lang="en-US" b="true" sz="2000" spc="-10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W</a:t>
            </a:r>
            <a:r>
              <a:rPr lang="en-US" sz="2000" spc="-100">
                <a:solidFill>
                  <a:srgbClr val="3970CF"/>
                </a:solidFill>
                <a:latin typeface="JASO Sans"/>
                <a:ea typeface="JASO Sans"/>
                <a:cs typeface="JASO Sans"/>
                <a:sym typeface="JASO Sans"/>
              </a:rPr>
              <a:t>EAKNESSES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615765" y="5292258"/>
            <a:ext cx="4411324" cy="674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기존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 업무 방식 변화에 대한 적응 필요</a:t>
            </a:r>
          </a:p>
          <a:p>
            <a:pPr algn="l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서비스 초기 인지도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 부족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가능성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9420644" y="6443364"/>
            <a:ext cx="7141432" cy="1709734"/>
            <a:chOff x="0" y="0"/>
            <a:chExt cx="1685158" cy="40344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685158" cy="403445"/>
            </a:xfrm>
            <a:custGeom>
              <a:avLst/>
              <a:gdLst/>
              <a:ahLst/>
              <a:cxnLst/>
              <a:rect r="r" b="b" t="t" l="l"/>
              <a:pathLst>
                <a:path h="403445" w="1685158">
                  <a:moveTo>
                    <a:pt x="0" y="0"/>
                  </a:moveTo>
                  <a:lnTo>
                    <a:pt x="1685158" y="0"/>
                  </a:lnTo>
                  <a:lnTo>
                    <a:pt x="1685158" y="403445"/>
                  </a:lnTo>
                  <a:lnTo>
                    <a:pt x="0" y="403445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1685158" cy="4129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2076012" y="4500256"/>
            <a:ext cx="7141432" cy="1709734"/>
            <a:chOff x="0" y="0"/>
            <a:chExt cx="1685158" cy="40344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685158" cy="403445"/>
            </a:xfrm>
            <a:custGeom>
              <a:avLst/>
              <a:gdLst/>
              <a:ahLst/>
              <a:cxnLst/>
              <a:rect r="r" b="b" t="t" l="l"/>
              <a:pathLst>
                <a:path h="403445" w="1685158">
                  <a:moveTo>
                    <a:pt x="0" y="0"/>
                  </a:moveTo>
                  <a:lnTo>
                    <a:pt x="1685158" y="0"/>
                  </a:lnTo>
                  <a:lnTo>
                    <a:pt x="1685158" y="403445"/>
                  </a:lnTo>
                  <a:lnTo>
                    <a:pt x="0" y="403445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1685158" cy="4129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2076012" y="6443364"/>
            <a:ext cx="7141432" cy="1709734"/>
            <a:chOff x="0" y="0"/>
            <a:chExt cx="1685158" cy="403445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685158" cy="403445"/>
            </a:xfrm>
            <a:custGeom>
              <a:avLst/>
              <a:gdLst/>
              <a:ahLst/>
              <a:cxnLst/>
              <a:rect r="r" b="b" t="t" l="l"/>
              <a:pathLst>
                <a:path h="403445" w="1685158">
                  <a:moveTo>
                    <a:pt x="0" y="0"/>
                  </a:moveTo>
                  <a:lnTo>
                    <a:pt x="1685158" y="0"/>
                  </a:lnTo>
                  <a:lnTo>
                    <a:pt x="1685158" y="403445"/>
                  </a:lnTo>
                  <a:lnTo>
                    <a:pt x="0" y="403445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1685158" cy="4129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2566282" y="6689583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3271132" y="6753401"/>
            <a:ext cx="856350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기회 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127482" y="6840562"/>
            <a:ext cx="2094600" cy="2609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20"/>
              </a:lnSpc>
            </a:pPr>
            <a:r>
              <a:rPr lang="en-US" b="true" sz="2000" spc="-10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O</a:t>
            </a:r>
            <a:r>
              <a:rPr lang="en-US" sz="2000" spc="-100">
                <a:solidFill>
                  <a:srgbClr val="3970CF"/>
                </a:solidFill>
                <a:latin typeface="JASO Sans"/>
                <a:ea typeface="JASO Sans"/>
                <a:cs typeface="JASO Sans"/>
                <a:sym typeface="JASO Sans"/>
              </a:rPr>
              <a:t>PPORTUNITIES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271132" y="7235366"/>
            <a:ext cx="4411324" cy="674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중소기업 및 1인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 사업자 시장 확대</a:t>
            </a:r>
          </a:p>
          <a:p>
            <a:pPr algn="l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업무 생산성 향상에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 대한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 관심 증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가</a:t>
            </a:r>
          </a:p>
        </p:txBody>
      </p:sp>
      <p:sp>
        <p:nvSpPr>
          <p:cNvPr name="Freeform 27" id="27"/>
          <p:cNvSpPr/>
          <p:nvPr/>
        </p:nvSpPr>
        <p:spPr>
          <a:xfrm flipH="false" flipV="false" rot="0">
            <a:off x="9910915" y="6689583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8" id="28"/>
          <p:cNvSpPr txBox="true"/>
          <p:nvPr/>
        </p:nvSpPr>
        <p:spPr>
          <a:xfrm rot="0">
            <a:off x="10615765" y="6753401"/>
            <a:ext cx="856350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위협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472115" y="6840562"/>
            <a:ext cx="2094600" cy="2609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20"/>
              </a:lnSpc>
            </a:pPr>
            <a:r>
              <a:rPr lang="en-US" b="true" sz="2000" spc="-10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T</a:t>
            </a:r>
            <a:r>
              <a:rPr lang="en-US" sz="2000" spc="-100">
                <a:solidFill>
                  <a:srgbClr val="3970CF"/>
                </a:solidFill>
                <a:latin typeface="JASO Sans"/>
                <a:ea typeface="JASO Sans"/>
                <a:cs typeface="JASO Sans"/>
                <a:sym typeface="JASO Sans"/>
              </a:rPr>
              <a:t>HREATS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0615765" y="7235366"/>
            <a:ext cx="4411324" cy="674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글로벌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 AI 플랫폼과의 경쟁 심화</a:t>
            </a:r>
          </a:p>
          <a:p>
            <a:pPr algn="l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빠르게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 변화하는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 기술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 시장</a:t>
            </a:r>
          </a:p>
        </p:txBody>
      </p:sp>
      <p:sp>
        <p:nvSpPr>
          <p:cNvPr name="Freeform 31" id="31"/>
          <p:cNvSpPr/>
          <p:nvPr/>
        </p:nvSpPr>
        <p:spPr>
          <a:xfrm flipH="false" flipV="false" rot="0">
            <a:off x="2566282" y="4746475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2" id="32"/>
          <p:cNvSpPr txBox="true"/>
          <p:nvPr/>
        </p:nvSpPr>
        <p:spPr>
          <a:xfrm rot="0">
            <a:off x="3271132" y="4810293"/>
            <a:ext cx="856350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강점 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4127482" y="4897454"/>
            <a:ext cx="2094600" cy="2609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20"/>
              </a:lnSpc>
            </a:pPr>
            <a:r>
              <a:rPr lang="en-US" b="true" sz="2000" spc="-10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</a:t>
            </a:r>
            <a:r>
              <a:rPr lang="en-US" sz="2000" spc="-100">
                <a:solidFill>
                  <a:srgbClr val="3970CF"/>
                </a:solidFill>
                <a:latin typeface="JASO Sans"/>
                <a:ea typeface="JASO Sans"/>
                <a:cs typeface="JASO Sans"/>
                <a:sym typeface="JASO Sans"/>
              </a:rPr>
              <a:t>TRENGTHS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3271132" y="5292258"/>
            <a:ext cx="4411324" cy="674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반복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 업무 자동화를 통한 높은 업무 효율성</a:t>
            </a:r>
          </a:p>
          <a:p>
            <a:pPr algn="l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운영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비용 절감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가능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-18144">
            <a:off x="7051311" y="801614"/>
            <a:ext cx="4184623" cy="904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500"/>
              </a:lnSpc>
            </a:pPr>
            <a:r>
              <a:rPr lang="en-US" b="true" sz="5000" spc="-250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성장 전략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28700" y="2508101"/>
            <a:ext cx="16580689" cy="6630853"/>
            <a:chOff x="0" y="0"/>
            <a:chExt cx="4366930" cy="174639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366930" cy="1746398"/>
            </a:xfrm>
            <a:custGeom>
              <a:avLst/>
              <a:gdLst/>
              <a:ahLst/>
              <a:cxnLst/>
              <a:rect r="r" b="b" t="t" l="l"/>
              <a:pathLst>
                <a:path h="1746398" w="4366930">
                  <a:moveTo>
                    <a:pt x="0" y="0"/>
                  </a:moveTo>
                  <a:lnTo>
                    <a:pt x="4366930" y="0"/>
                  </a:lnTo>
                  <a:lnTo>
                    <a:pt x="4366930" y="1746398"/>
                  </a:lnTo>
                  <a:lnTo>
                    <a:pt x="0" y="1746398"/>
                  </a:lnTo>
                  <a:close/>
                </a:path>
              </a:pathLst>
            </a:custGeom>
            <a:solidFill>
              <a:srgbClr val="FCFCFC"/>
            </a:soli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28575"/>
              <a:ext cx="4366930" cy="17749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33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3559181" y="3096519"/>
            <a:ext cx="11169639" cy="733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926"/>
              </a:lnSpc>
            </a:pPr>
            <a:r>
              <a:rPr lang="en-US" sz="2004" spc="-100">
                <a:solidFill>
                  <a:srgbClr val="222222">
                    <a:alpha val="6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AI</a:t>
            </a:r>
            <a:r>
              <a:rPr lang="en-US" sz="2004" spc="-100">
                <a:solidFill>
                  <a:srgbClr val="222222">
                    <a:alpha val="6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자동화를 기반으로 다양한 산업에 확장 가능한 업무 효율 플랫폼 구축을 목표로 하고 있습니다. </a:t>
            </a:r>
          </a:p>
          <a:p>
            <a:pPr algn="ctr" marL="0" indent="0" lvl="0">
              <a:lnSpc>
                <a:spcPts val="2926"/>
              </a:lnSpc>
            </a:pPr>
            <a:r>
              <a:rPr lang="en-US" sz="2004" spc="-100">
                <a:solidFill>
                  <a:srgbClr val="222222">
                    <a:alpha val="6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이러한 플랫폼은 특히 중소기업과 1인 사업자에게 큰 도움이 될 것입니다.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2076012" y="4444455"/>
            <a:ext cx="2585570" cy="3705225"/>
            <a:chOff x="0" y="0"/>
            <a:chExt cx="610115" cy="87431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10115" cy="874319"/>
            </a:xfrm>
            <a:custGeom>
              <a:avLst/>
              <a:gdLst/>
              <a:ahLst/>
              <a:cxnLst/>
              <a:rect r="r" b="b" t="t" l="l"/>
              <a:pathLst>
                <a:path h="874319" w="610115">
                  <a:moveTo>
                    <a:pt x="0" y="0"/>
                  </a:moveTo>
                  <a:lnTo>
                    <a:pt x="610115" y="0"/>
                  </a:lnTo>
                  <a:lnTo>
                    <a:pt x="610115" y="874319"/>
                  </a:lnTo>
                  <a:lnTo>
                    <a:pt x="0" y="874319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610115" cy="8838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3144959" y="5001109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2498170" y="6715080"/>
            <a:ext cx="1741254" cy="1017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시장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 동향과</a:t>
            </a:r>
          </a:p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기회 요소를</a:t>
            </a:r>
          </a:p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파악합니다.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438861" y="5727409"/>
            <a:ext cx="1859872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시장 분석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5051136" y="4444455"/>
            <a:ext cx="2585570" cy="3705225"/>
            <a:chOff x="0" y="0"/>
            <a:chExt cx="610115" cy="874319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10115" cy="874319"/>
            </a:xfrm>
            <a:custGeom>
              <a:avLst/>
              <a:gdLst/>
              <a:ahLst/>
              <a:cxnLst/>
              <a:rect r="r" b="b" t="t" l="l"/>
              <a:pathLst>
                <a:path h="874319" w="610115">
                  <a:moveTo>
                    <a:pt x="0" y="0"/>
                  </a:moveTo>
                  <a:lnTo>
                    <a:pt x="610115" y="0"/>
                  </a:lnTo>
                  <a:lnTo>
                    <a:pt x="610115" y="874319"/>
                  </a:lnTo>
                  <a:lnTo>
                    <a:pt x="0" y="874319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9525"/>
              <a:ext cx="610115" cy="8838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6120083" y="5001109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5473294" y="6715080"/>
            <a:ext cx="1741254" cy="13601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단기·중장기</a:t>
            </a:r>
          </a:p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성장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 목표를</a:t>
            </a:r>
          </a:p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수립합니다.</a:t>
            </a:r>
          </a:p>
          <a:p>
            <a:pPr algn="ctr" marL="0" indent="0" lvl="0">
              <a:lnSpc>
                <a:spcPts val="2700"/>
              </a:lnSpc>
            </a:pPr>
          </a:p>
        </p:txBody>
      </p:sp>
      <p:sp>
        <p:nvSpPr>
          <p:cNvPr name="TextBox 18" id="18"/>
          <p:cNvSpPr txBox="true"/>
          <p:nvPr/>
        </p:nvSpPr>
        <p:spPr>
          <a:xfrm rot="0">
            <a:off x="5413985" y="5727409"/>
            <a:ext cx="1859872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목표 설정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8026260" y="4444455"/>
            <a:ext cx="2585570" cy="3705225"/>
            <a:chOff x="0" y="0"/>
            <a:chExt cx="610115" cy="874319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10115" cy="874319"/>
            </a:xfrm>
            <a:custGeom>
              <a:avLst/>
              <a:gdLst/>
              <a:ahLst/>
              <a:cxnLst/>
              <a:rect r="r" b="b" t="t" l="l"/>
              <a:pathLst>
                <a:path h="874319" w="610115">
                  <a:moveTo>
                    <a:pt x="0" y="0"/>
                  </a:moveTo>
                  <a:lnTo>
                    <a:pt x="610115" y="0"/>
                  </a:lnTo>
                  <a:lnTo>
                    <a:pt x="610115" y="874319"/>
                  </a:lnTo>
                  <a:lnTo>
                    <a:pt x="0" y="874319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610115" cy="8838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Freeform 22" id="22"/>
          <p:cNvSpPr/>
          <p:nvPr/>
        </p:nvSpPr>
        <p:spPr>
          <a:xfrm flipH="false" flipV="false" rot="0">
            <a:off x="9095207" y="5001109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8448417" y="6715080"/>
            <a:ext cx="1741254" cy="1017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구체적인</a:t>
            </a:r>
          </a:p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성장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 전략을</a:t>
            </a:r>
          </a:p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설계합니다.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389109" y="5727409"/>
            <a:ext cx="1859872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전략 수립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1001383" y="4444455"/>
            <a:ext cx="2585570" cy="3705225"/>
            <a:chOff x="0" y="0"/>
            <a:chExt cx="610115" cy="874319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10115" cy="874319"/>
            </a:xfrm>
            <a:custGeom>
              <a:avLst/>
              <a:gdLst/>
              <a:ahLst/>
              <a:cxnLst/>
              <a:rect r="r" b="b" t="t" l="l"/>
              <a:pathLst>
                <a:path h="874319" w="610115">
                  <a:moveTo>
                    <a:pt x="0" y="0"/>
                  </a:moveTo>
                  <a:lnTo>
                    <a:pt x="610115" y="0"/>
                  </a:lnTo>
                  <a:lnTo>
                    <a:pt x="610115" y="874319"/>
                  </a:lnTo>
                  <a:lnTo>
                    <a:pt x="0" y="874319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9525"/>
              <a:ext cx="610115" cy="8838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Freeform 28" id="28"/>
          <p:cNvSpPr/>
          <p:nvPr/>
        </p:nvSpPr>
        <p:spPr>
          <a:xfrm flipH="false" flipV="false" rot="0">
            <a:off x="12070331" y="5001109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11423541" y="6715080"/>
            <a:ext cx="1741254" cy="1017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전략을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 실행하고</a:t>
            </a:r>
          </a:p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자원을</a:t>
            </a:r>
          </a:p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배분합니다.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1364232" y="5727409"/>
            <a:ext cx="1859872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실행 및 투자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13976507" y="4444455"/>
            <a:ext cx="2585570" cy="3705225"/>
            <a:chOff x="0" y="0"/>
            <a:chExt cx="610115" cy="874319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610115" cy="874319"/>
            </a:xfrm>
            <a:custGeom>
              <a:avLst/>
              <a:gdLst/>
              <a:ahLst/>
              <a:cxnLst/>
              <a:rect r="r" b="b" t="t" l="l"/>
              <a:pathLst>
                <a:path h="874319" w="610115">
                  <a:moveTo>
                    <a:pt x="0" y="0"/>
                  </a:moveTo>
                  <a:lnTo>
                    <a:pt x="610115" y="0"/>
                  </a:lnTo>
                  <a:lnTo>
                    <a:pt x="610115" y="874319"/>
                  </a:lnTo>
                  <a:lnTo>
                    <a:pt x="0" y="874319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9525"/>
              <a:ext cx="610115" cy="8838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Freeform 34" id="34"/>
          <p:cNvSpPr/>
          <p:nvPr/>
        </p:nvSpPr>
        <p:spPr>
          <a:xfrm flipH="false" flipV="false" rot="0">
            <a:off x="15045455" y="5001109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5" id="35"/>
          <p:cNvSpPr txBox="true"/>
          <p:nvPr/>
        </p:nvSpPr>
        <p:spPr>
          <a:xfrm rot="0">
            <a:off x="14398665" y="6715080"/>
            <a:ext cx="1741254" cy="1017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성</a:t>
            </a: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과를 측정하고</a:t>
            </a:r>
          </a:p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전략을</a:t>
            </a:r>
          </a:p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최적화합니다.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4339356" y="5727409"/>
            <a:ext cx="1859872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성과 관리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3970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953983" y="5057775"/>
            <a:ext cx="4380035" cy="4635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850"/>
              </a:lnSpc>
            </a:pPr>
            <a:r>
              <a:rPr lang="en-US" sz="2500" spc="-125">
                <a:solidFill>
                  <a:srgbClr val="C9DFFF"/>
                </a:solidFill>
                <a:latin typeface="JASO Sans"/>
                <a:ea typeface="JASO Sans"/>
                <a:cs typeface="JASO Sans"/>
                <a:sym typeface="JASO Sans"/>
              </a:rPr>
              <a:t>비전을 현실로, 혁신을 가치로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973222" y="8933815"/>
            <a:ext cx="12341556" cy="324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620"/>
              </a:lnSpc>
            </a:pPr>
            <a:r>
              <a:rPr lang="en-US" b="true" sz="2000" spc="-100">
                <a:solidFill>
                  <a:srgbClr val="FCFCFC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서울특별시 다정구 상상로 77 크리에이티브타워 902호 주식회사 모노브릭랩 홍길동 귀하 0003</a:t>
            </a:r>
          </a:p>
        </p:txBody>
      </p:sp>
      <p:sp>
        <p:nvSpPr>
          <p:cNvPr name="AutoShape 4" id="4"/>
          <p:cNvSpPr/>
          <p:nvPr/>
        </p:nvSpPr>
        <p:spPr>
          <a:xfrm>
            <a:off x="1218210" y="8695690"/>
            <a:ext cx="15851580" cy="0"/>
          </a:xfrm>
          <a:prstGeom prst="line">
            <a:avLst/>
          </a:prstGeom>
          <a:ln cap="flat" w="19050">
            <a:solidFill>
              <a:srgbClr val="FDFDF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" id="5"/>
          <p:cNvSpPr txBox="true"/>
          <p:nvPr/>
        </p:nvSpPr>
        <p:spPr>
          <a:xfrm rot="0">
            <a:off x="5691188" y="3319462"/>
            <a:ext cx="6905625" cy="1514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sz="9999" spc="-499">
                <a:solidFill>
                  <a:srgbClr val="FDFDFB"/>
                </a:solidFill>
                <a:latin typeface="JASO Sans"/>
                <a:ea typeface="JASO Sans"/>
                <a:cs typeface="JASO Sans"/>
                <a:sym typeface="JASO Sans"/>
              </a:rPr>
              <a:t>감사합니다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4728234" y="2324100"/>
            <a:ext cx="8831531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300"/>
              </a:lnSpc>
            </a:pPr>
            <a:r>
              <a:rPr lang="en-US" b="true" sz="4500">
                <a:solidFill>
                  <a:srgbClr val="FDFDFB"/>
                </a:solidFill>
                <a:latin typeface="JASO Sans Heavy"/>
                <a:ea typeface="JASO Sans Heavy"/>
                <a:cs typeface="JASO Sans Heavy"/>
                <a:sym typeface="JASO Sans Heavy"/>
              </a:rPr>
              <a:t>BUSINESS PLAN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8759121" y="1437323"/>
            <a:ext cx="769758" cy="190500"/>
            <a:chOff x="0" y="0"/>
            <a:chExt cx="1026344" cy="2540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54000" cy="254000"/>
              <a:chOff x="0" y="0"/>
              <a:chExt cx="812800" cy="8128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CFCFC">
                  <a:alpha val="29804"/>
                </a:srgbClr>
              </a:solidFill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893"/>
                  </a:lnSpc>
                </a:pPr>
              </a:p>
            </p:txBody>
          </p:sp>
        </p:grpSp>
        <p:grpSp>
          <p:nvGrpSpPr>
            <p:cNvPr name="Group 11" id="11"/>
            <p:cNvGrpSpPr/>
            <p:nvPr/>
          </p:nvGrpSpPr>
          <p:grpSpPr>
            <a:xfrm rot="0">
              <a:off x="386172" y="0"/>
              <a:ext cx="254000" cy="254000"/>
              <a:chOff x="0" y="0"/>
              <a:chExt cx="812800" cy="812800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CFCFC">
                  <a:alpha val="60000"/>
                </a:srgbClr>
              </a:solidFill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893"/>
                  </a:lnSpc>
                </a:pPr>
              </a:p>
            </p:txBody>
          </p:sp>
        </p:grpSp>
        <p:grpSp>
          <p:nvGrpSpPr>
            <p:cNvPr name="Group 14" id="14"/>
            <p:cNvGrpSpPr/>
            <p:nvPr/>
          </p:nvGrpSpPr>
          <p:grpSpPr>
            <a:xfrm rot="0">
              <a:off x="772344" y="0"/>
              <a:ext cx="254000" cy="254000"/>
              <a:chOff x="0" y="0"/>
              <a:chExt cx="812800" cy="81280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CFCFC"/>
              </a:solidFill>
            </p:spPr>
          </p:sp>
          <p:sp>
            <p:nvSpPr>
              <p:cNvPr name="TextBox 16" id="16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893"/>
                  </a:lnSpc>
                </a:pPr>
              </a:p>
            </p:txBody>
          </p:sp>
        </p:grp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953983" y="6486525"/>
            <a:ext cx="4380035" cy="4635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850"/>
              </a:lnSpc>
            </a:pPr>
            <a:r>
              <a:rPr lang="en-US" sz="2500" spc="-125">
                <a:solidFill>
                  <a:srgbClr val="3970CF"/>
                </a:solidFill>
                <a:latin typeface="JASO Sans"/>
                <a:ea typeface="JASO Sans"/>
                <a:cs typeface="JASO Sans"/>
                <a:sym typeface="JASO Sans"/>
              </a:rPr>
              <a:t>신용카드 사기 거래 탐지 · 이진 분류 · 초극단적 클래스 불균형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218210" y="9101518"/>
            <a:ext cx="4086726" cy="324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620"/>
              </a:lnSpc>
            </a:pPr>
            <a:r>
              <a:rPr lang="en-US" b="true" sz="2000" spc="-100">
                <a:solidFill>
                  <a:srgbClr val="3970CF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담당  |  염윤호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2983064" y="9101518"/>
            <a:ext cx="4086726" cy="324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620"/>
              </a:lnSpc>
            </a:pPr>
            <a:r>
              <a:rPr lang="en-US" b="true" sz="2000" spc="-100">
                <a:solidFill>
                  <a:srgbClr val="3970CF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작성일  |  2026. 9. 2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5691188" y="3267075"/>
            <a:ext cx="6905625" cy="3028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sz="9999" spc="-499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Credit Card</a:t>
            </a:r>
          </a:p>
          <a:p>
            <a:pPr algn="ctr">
              <a:lnSpc>
                <a:spcPts val="11999"/>
              </a:lnSpc>
            </a:pPr>
            <a:r>
              <a:rPr lang="en-US" b="true" sz="9999" spc="-499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Fraud Detection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4728234" y="2324100"/>
            <a:ext cx="8831531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300"/>
              </a:lnSpc>
            </a:pPr>
            <a:r>
              <a:rPr lang="en-US" b="true" sz="2800">
                <a:solidFill>
                  <a:srgbClr val="3970CF"/>
                </a:solidFill>
                <a:latin typeface="JASO Sans Heavy"/>
                <a:ea typeface="JASO Sans Heavy"/>
                <a:cs typeface="JASO Sans Heavy"/>
                <a:sym typeface="JASO Sans Heavy"/>
              </a:rPr>
              <a:t>MACHINE LEARNING CASE STUDY</a:t>
            </a:r>
          </a:p>
        </p:txBody>
      </p:sp>
      <p:sp>
        <p:nvSpPr>
          <p:cNvPr name="AutoShape 7" id="7"/>
          <p:cNvSpPr/>
          <p:nvPr/>
        </p:nvSpPr>
        <p:spPr>
          <a:xfrm>
            <a:off x="1218210" y="8789415"/>
            <a:ext cx="15851580" cy="0"/>
          </a:xfrm>
          <a:prstGeom prst="line">
            <a:avLst/>
          </a:prstGeom>
          <a:ln cap="flat" w="19050">
            <a:solidFill>
              <a:srgbClr val="3970C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8" id="8"/>
          <p:cNvGrpSpPr/>
          <p:nvPr/>
        </p:nvGrpSpPr>
        <p:grpSpPr>
          <a:xfrm rot="0">
            <a:off x="8759121" y="1437323"/>
            <a:ext cx="769758" cy="190500"/>
            <a:chOff x="0" y="0"/>
            <a:chExt cx="1026344" cy="254000"/>
          </a:xfrm>
        </p:grpSpPr>
        <p:grpSp>
          <p:nvGrpSpPr>
            <p:cNvPr name="Group 9" id="9"/>
            <p:cNvGrpSpPr/>
            <p:nvPr/>
          </p:nvGrpSpPr>
          <p:grpSpPr>
            <a:xfrm rot="0">
              <a:off x="0" y="0"/>
              <a:ext cx="254000" cy="25400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3970CF">
                  <a:alpha val="29804"/>
                </a:srgbClr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893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386172" y="0"/>
              <a:ext cx="254000" cy="25400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3970CF">
                  <a:alpha val="60000"/>
                </a:srgbClr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893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772344" y="0"/>
              <a:ext cx="254000" cy="25400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3970CF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893"/>
                  </a:lnSpc>
                </a:pPr>
              </a:p>
            </p:txBody>
          </p:sp>
        </p:grp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970CF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33361" y="4842594"/>
            <a:ext cx="2868728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49"/>
              </a:lnSpc>
            </a:pPr>
            <a:r>
              <a:rPr lang="en-US" b="true" sz="2499" spc="-124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프로젝트 개요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881511" y="4842594"/>
            <a:ext cx="2868728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49"/>
              </a:lnSpc>
            </a:pPr>
            <a:r>
              <a:rPr lang="en-US" b="true" sz="2499" spc="-124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모델링 &amp; 샘플링 전략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633361" y="5585544"/>
            <a:ext cx="2868728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49"/>
              </a:lnSpc>
            </a:pPr>
            <a:r>
              <a:rPr lang="en-US" b="true" sz="2499" spc="-124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EDA — 탐색적 데이터 분석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881511" y="5585544"/>
            <a:ext cx="2868728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49"/>
              </a:lnSpc>
            </a:pPr>
            <a:r>
              <a:rPr lang="en-US" b="true" sz="2499" spc="-124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파이프라인 &amp; 성능 검증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5490261" y="4780682"/>
            <a:ext cx="792278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4500"/>
              </a:lnSpc>
            </a:pPr>
            <a:r>
              <a:rPr lang="en-US" b="true" sz="3000" spc="-150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01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738411" y="4780682"/>
            <a:ext cx="792278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4500"/>
              </a:lnSpc>
            </a:pPr>
            <a:r>
              <a:rPr lang="en-US" b="true" sz="3000" spc="-150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05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490261" y="5523632"/>
            <a:ext cx="792278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4500"/>
              </a:lnSpc>
            </a:pPr>
            <a:r>
              <a:rPr lang="en-US" b="true" sz="3000" spc="-150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02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738411" y="5523632"/>
            <a:ext cx="792278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4500"/>
              </a:lnSpc>
            </a:pPr>
            <a:r>
              <a:rPr lang="en-US" b="true" sz="3000" spc="-150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06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633361" y="6328494"/>
            <a:ext cx="2868728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49"/>
              </a:lnSpc>
            </a:pPr>
            <a:r>
              <a:rPr lang="en-US" b="true" sz="2499" spc="-124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결과 지표 정의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881511" y="6328494"/>
            <a:ext cx="2868728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49"/>
              </a:lnSpc>
            </a:pPr>
            <a:r>
              <a:rPr lang="en-US" b="true" sz="2499" spc="-124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모델별 비교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490261" y="6266582"/>
            <a:ext cx="792278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4500"/>
              </a:lnSpc>
            </a:pPr>
            <a:r>
              <a:rPr lang="en-US" b="true" sz="3000" spc="-150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03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738411" y="6266582"/>
            <a:ext cx="792278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4500"/>
              </a:lnSpc>
            </a:pPr>
            <a:r>
              <a:rPr lang="en-US" b="true" sz="3000" spc="-150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07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633361" y="7071444"/>
            <a:ext cx="2868728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49"/>
              </a:lnSpc>
            </a:pPr>
            <a:r>
              <a:rPr lang="en-US" b="true" sz="2499" spc="-124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데이터 전처리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881511" y="7071444"/>
            <a:ext cx="2868728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49"/>
              </a:lnSpc>
            </a:pPr>
            <a:r>
              <a:rPr lang="en-US" b="true" sz="2499" spc="-124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종합 결론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5490261" y="7009532"/>
            <a:ext cx="792278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4500"/>
              </a:lnSpc>
            </a:pPr>
            <a:r>
              <a:rPr lang="en-US" b="true" sz="3000" spc="-150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04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738411" y="7009532"/>
            <a:ext cx="792278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4500"/>
              </a:lnSpc>
            </a:pPr>
            <a:r>
              <a:rPr lang="en-US" b="true" sz="3000" spc="-150">
                <a:solidFill>
                  <a:srgbClr val="FCFCFC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08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535415" y="1797797"/>
            <a:ext cx="5217170" cy="1247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499"/>
              </a:lnSpc>
            </a:pPr>
            <a:r>
              <a:rPr lang="en-US" b="true" sz="6999" spc="-349">
                <a:solidFill>
                  <a:srgbClr val="FCFCFC"/>
                </a:solidFill>
                <a:latin typeface="JASO Sans Heavy"/>
                <a:ea typeface="JASO Sans Heavy"/>
                <a:cs typeface="JASO Sans Heavy"/>
                <a:sym typeface="JASO Sans Heavy"/>
              </a:rPr>
              <a:t>AGENDA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8700" y="700000"/>
            <a:ext cx="16230600" cy="7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222222"/>
                </a:solidFill>
                <a:latin typeface="JASO Sans Bold"/>
              </a:rPr>
              <a:t>3.1 프로젝트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700" y="1650000"/>
            <a:ext cx="14630600" cy="1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0">
                <a:solidFill>
                  <a:srgbClr val="222222">
                    <a:alpha val="80000"/>
                  </a:srgbClr>
                </a:solidFill>
                <a:latin typeface="JASO Sans"/>
              </a:rPr>
              <a:t>28개의 PCA 변환 변수(V1~V28)와 거래 시각(Time), 거래 금액(Amount)으로 사기 거래 여부(Class)를 예측하는 이진 분류 문제. 담당 모델은 RandomForest + SMOTE이며, 임곗값을 재현율 중심으로 조정한 것이 최종 채택안이다.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" y="3400000"/>
            <a:ext cx="3600000" cy="22000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8700" y="3530000"/>
            <a:ext cx="3600000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3970CF"/>
                </a:solidFill>
                <a:latin typeface="JASO Sans Bold"/>
              </a:rPr>
              <a:t>284,807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700" y="5200000"/>
            <a:ext cx="34800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JASO Sans"/>
              </a:rPr>
              <a:t>전체 거래 건수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38900" y="3400000"/>
            <a:ext cx="3600000" cy="22000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38900" y="3530000"/>
            <a:ext cx="3600000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3970CF"/>
                </a:solidFill>
                <a:latin typeface="JASO Sans Bold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98900" y="5200000"/>
            <a:ext cx="34800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JASO Sans"/>
              </a:rPr>
              <a:t>컬럼 수 (Time+V1~V28+Amount+Class)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49100" y="3400000"/>
            <a:ext cx="3600000" cy="22000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49100" y="3530000"/>
            <a:ext cx="3600000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3970CF"/>
                </a:solidFill>
                <a:latin typeface="JASO Sans Bold"/>
              </a:rPr>
              <a:t>0.173%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100" y="5200000"/>
            <a:ext cx="34800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JASO Sans"/>
              </a:rPr>
              <a:t>사기(Class=1) 비율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659300" y="3400000"/>
            <a:ext cx="3600000" cy="22000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659300" y="3530000"/>
            <a:ext cx="3600000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3970CF"/>
                </a:solidFill>
                <a:latin typeface="JASO Sans Bold"/>
              </a:rPr>
              <a:t>0건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9300" y="5200000"/>
            <a:ext cx="34800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JASO Sans"/>
              </a:rPr>
              <a:t>결측치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8700" y="700000"/>
            <a:ext cx="16230600" cy="7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222222"/>
                </a:solidFill>
                <a:latin typeface="JASO Sans Bold"/>
              </a:rPr>
              <a:t>3.1 EDA — 거래 금액 분포 (Amount)</a:t>
            </a:r>
          </a:p>
        </p:txBody>
      </p:sp>
      <p:pic>
        <p:nvPicPr>
          <p:cNvPr id="3" name="Picture 2" descr="p17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" y="2395714"/>
            <a:ext cx="9600000" cy="630857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100000" y="2200000"/>
            <a:ext cx="6159300" cy="8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222222">
                    <a:alpha val="85000"/>
                  </a:srgbClr>
                </a:solidFill>
                <a:latin typeface="JASO Sans"/>
              </a:rPr>
              <a:t>•  평균 $88.35 &gt; 중앙값 $22.00 — 오른쪽 꼬리 분포 (왜도 16.98)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0000" y="3100000"/>
            <a:ext cx="6159300" cy="8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222222">
                    <a:alpha val="85000"/>
                  </a:srgbClr>
                </a:solidFill>
                <a:latin typeface="JASO Sans"/>
              </a:rPr>
              <a:t>•  사기 거래: 평균 $122.21(+38%) vs 중앙값 $9.25(-58%)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0000" y="4000000"/>
            <a:ext cx="6159300" cy="8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222222">
                    <a:alpha val="85000"/>
                  </a:srgbClr>
                </a:solidFill>
                <a:latin typeface="JASO Sans"/>
              </a:rPr>
              <a:t>•  소액 "테스트 결제"와 일부 고액 사기가 공존하는 양극화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0" y="4900000"/>
            <a:ext cx="6159300" cy="8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222222">
                    <a:alpha val="85000"/>
                  </a:srgbClr>
                </a:solidFill>
                <a:latin typeface="JASO Sans"/>
              </a:rPr>
              <a:t>•  → Amount에 log1p 변환 적용 근거 (§3.3)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8700" y="700000"/>
            <a:ext cx="16230600" cy="7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222222"/>
                </a:solidFill>
                <a:latin typeface="JASO Sans Bold"/>
              </a:rPr>
              <a:t>3.1 EDA — 클래스 불균형과 시간대 패턴</a:t>
            </a:r>
          </a:p>
        </p:txBody>
      </p:sp>
      <p:pic>
        <p:nvPicPr>
          <p:cNvPr id="3" name="Picture 2" descr="p18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168" y="1650000"/>
            <a:ext cx="7636363" cy="56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28700" y="7350000"/>
            <a:ext cx="791530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0">
                <a:solidFill>
                  <a:srgbClr val="222222">
                    <a:alpha val="85000"/>
                  </a:srgbClr>
                </a:solidFill>
                <a:latin typeface="JASO Sans"/>
              </a:rPr>
              <a:t>정상 284,315건(99.827%) vs 사기 492건(0.173%) — 약 578:1</a:t>
            </a:r>
          </a:p>
        </p:txBody>
      </p:sp>
      <p:pic>
        <p:nvPicPr>
          <p:cNvPr id="5" name="Picture 4" descr="p2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4000" y="2902919"/>
            <a:ext cx="7915300" cy="30941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344000" y="7350000"/>
            <a:ext cx="791530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0">
                <a:solidFill>
                  <a:srgbClr val="222222">
                    <a:alpha val="85000"/>
                  </a:srgbClr>
                </a:solidFill>
                <a:latin typeface="JASO Sans"/>
              </a:rPr>
              <a:t>새벽 0~6시 사기 비중 25.20% vs 정상 8.37% — 약 3배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" y="8250000"/>
            <a:ext cx="162306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3970CF"/>
                </a:solidFill>
                <a:latin typeface="JASO Sans Bold"/>
              </a:rPr>
              <a:t>극단적 불균형에서는 ROC-AUC만으로 부족 → AUPRC를 함께 확인 (§3.2)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8700" y="700000"/>
            <a:ext cx="16230600" cy="7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222222"/>
                </a:solidFill>
                <a:latin typeface="JASO Sans Bold"/>
              </a:rPr>
              <a:t>3.2 결과 지표 정의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28700" y="1900000"/>
          <a:ext cx="16230600" cy="45999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000"/>
                <a:gridCol w="6200000"/>
                <a:gridCol w="6830600"/>
              </a:tblGrid>
              <a:tr h="766666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JASO Sans Bold"/>
                        </a:rPr>
                        <a:t>지표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JASO Sans Bold"/>
                        </a:rPr>
                        <a:t>정의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JASO Sans Bold"/>
                        </a:rPr>
                        <a:t>이 데이터에서의 역할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</a:tr>
              <a:tr h="766666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JASO Sans"/>
                        </a:rPr>
                        <a:t>Recall (재현율)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JASO Sans"/>
                        </a:rPr>
                        <a:t>실제 사기 중 모델이 찾아낸 비율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JASO Sans"/>
                        </a:rPr>
                        <a:t>최우선 지표 — 놓친 사기는 금전 손실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</a:tr>
              <a:tr h="766666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JASO Sans"/>
                        </a:rPr>
                        <a:t>Precision (정밀도)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JASO Sans"/>
                        </a:rPr>
                        <a:t>사기로 예측한 것 중 실제 사기 비율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JASO Sans"/>
                        </a:rPr>
                        <a:t>너무 낮으면 정상 거래 차단 급증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</a:tr>
              <a:tr h="766666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JASO Sans"/>
                        </a:rPr>
                        <a:t>F1-Score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JASO Sans"/>
                        </a:rPr>
                        <a:t>정밀도·재현율의 조화평균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JASO Sans"/>
                        </a:rPr>
                        <a:t>재현율 편중을 견제하는 균형 지표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</a:tr>
              <a:tr h="766666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JASO Sans"/>
                        </a:rPr>
                        <a:t>ROC-AUC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JASO Sans"/>
                        </a:rPr>
                        <a:t>전체 임곗값 TPR-FPR 트레이드오프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JASO Sans"/>
                        </a:rPr>
                        <a:t>모델 판별력 비교 (단독 과대평가 위험)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</a:tr>
              <a:tr h="766666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JASO Sans"/>
                        </a:rPr>
                        <a:t>AUPRC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JASO Sans"/>
                        </a:rPr>
                        <a:t>Precision-Recall 곡선의 면적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JASO Sans"/>
                        </a:rPr>
                        <a:t>극단적 불균형에서 ROC-AUC를 보완하는 핵심 지표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28700" y="6800000"/>
            <a:ext cx="162306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3970CF"/>
                </a:solidFill>
                <a:latin typeface="JASO Sans Bold"/>
              </a:rPr>
              <a:t>이 프로젝트의 핵심 의도 — 정밀도와 재현율 중 재현율을 우선한다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-18144">
            <a:off x="7051311" y="801614"/>
            <a:ext cx="4184623" cy="904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500"/>
              </a:lnSpc>
            </a:pPr>
            <a:r>
              <a:rPr lang="en-US" b="true" sz="5000" spc="-250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3.2 왜 재현율(Recall)을 우선하는가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28700" y="2508101"/>
            <a:ext cx="16580689" cy="6630853"/>
            <a:chOff x="0" y="0"/>
            <a:chExt cx="4366930" cy="174639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366930" cy="1746398"/>
            </a:xfrm>
            <a:custGeom>
              <a:avLst/>
              <a:gdLst/>
              <a:ahLst/>
              <a:cxnLst/>
              <a:rect r="r" b="b" t="t" l="l"/>
              <a:pathLst>
                <a:path h="1746398" w="4366930">
                  <a:moveTo>
                    <a:pt x="0" y="0"/>
                  </a:moveTo>
                  <a:lnTo>
                    <a:pt x="4366930" y="0"/>
                  </a:lnTo>
                  <a:lnTo>
                    <a:pt x="4366930" y="1746398"/>
                  </a:lnTo>
                  <a:lnTo>
                    <a:pt x="0" y="1746398"/>
                  </a:lnTo>
                  <a:close/>
                </a:path>
              </a:pathLst>
            </a:custGeom>
            <a:solidFill>
              <a:srgbClr val="FCFCFC"/>
            </a:soli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28575"/>
              <a:ext cx="4366930" cy="17749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33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3559181" y="3096519"/>
            <a:ext cx="11169639" cy="733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926"/>
              </a:lnSpc>
            </a:pPr>
            <a:r>
              <a:rPr lang="en-US" sz="2004" spc="-100">
                <a:solidFill>
                  <a:srgbClr val="222222">
                    <a:alpha val="6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카드 사기를 놓치면(FN) 그대로 금전 손실이지만, 정상 거래를 오탐지(FP)해도 고객 확인 연락 정도의 비용에 그친다 — 그래서 FN을 줄이는 방향으로 임곗값을 조정한다.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420644" y="4500256"/>
            <a:ext cx="7141432" cy="1709734"/>
            <a:chOff x="0" y="0"/>
            <a:chExt cx="1685158" cy="40344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685158" cy="403445"/>
            </a:xfrm>
            <a:custGeom>
              <a:avLst/>
              <a:gdLst/>
              <a:ahLst/>
              <a:cxnLst/>
              <a:rect r="r" b="b" t="t" l="l"/>
              <a:pathLst>
                <a:path h="403445" w="1685158">
                  <a:moveTo>
                    <a:pt x="0" y="0"/>
                  </a:moveTo>
                  <a:lnTo>
                    <a:pt x="1685158" y="0"/>
                  </a:lnTo>
                  <a:lnTo>
                    <a:pt x="1685158" y="403445"/>
                  </a:lnTo>
                  <a:lnTo>
                    <a:pt x="0" y="403445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1685158" cy="4129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9910915" y="4746475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0615765" y="4810293"/>
            <a:ext cx="856350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오탐지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472115" y="4897454"/>
            <a:ext cx="2094600" cy="2609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20"/>
              </a:lnSpc>
            </a:pPr>
            <a:r>
              <a:rPr lang="en-US" b="true" sz="2000" spc="-10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FALSE POSITIVE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615765" y="5292258"/>
            <a:ext cx="4411324" cy="674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정상을 사기로 오판 — 고객 재확인 비용(상대적으로 작음)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9420644" y="6443364"/>
            <a:ext cx="7141432" cy="1709734"/>
            <a:chOff x="0" y="0"/>
            <a:chExt cx="1685158" cy="40344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685158" cy="403445"/>
            </a:xfrm>
            <a:custGeom>
              <a:avLst/>
              <a:gdLst/>
              <a:ahLst/>
              <a:cxnLst/>
              <a:rect r="r" b="b" t="t" l="l"/>
              <a:pathLst>
                <a:path h="403445" w="1685158">
                  <a:moveTo>
                    <a:pt x="0" y="0"/>
                  </a:moveTo>
                  <a:lnTo>
                    <a:pt x="1685158" y="0"/>
                  </a:lnTo>
                  <a:lnTo>
                    <a:pt x="1685158" y="403445"/>
                  </a:lnTo>
                  <a:lnTo>
                    <a:pt x="0" y="403445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1685158" cy="4129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2076012" y="4500256"/>
            <a:ext cx="7141432" cy="1709734"/>
            <a:chOff x="0" y="0"/>
            <a:chExt cx="1685158" cy="40344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685158" cy="403445"/>
            </a:xfrm>
            <a:custGeom>
              <a:avLst/>
              <a:gdLst/>
              <a:ahLst/>
              <a:cxnLst/>
              <a:rect r="r" b="b" t="t" l="l"/>
              <a:pathLst>
                <a:path h="403445" w="1685158">
                  <a:moveTo>
                    <a:pt x="0" y="0"/>
                  </a:moveTo>
                  <a:lnTo>
                    <a:pt x="1685158" y="0"/>
                  </a:lnTo>
                  <a:lnTo>
                    <a:pt x="1685158" y="403445"/>
                  </a:lnTo>
                  <a:lnTo>
                    <a:pt x="0" y="403445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1685158" cy="4129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2076012" y="6443364"/>
            <a:ext cx="7141432" cy="1709734"/>
            <a:chOff x="0" y="0"/>
            <a:chExt cx="1685158" cy="403445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685158" cy="403445"/>
            </a:xfrm>
            <a:custGeom>
              <a:avLst/>
              <a:gdLst/>
              <a:ahLst/>
              <a:cxnLst/>
              <a:rect r="r" b="b" t="t" l="l"/>
              <a:pathLst>
                <a:path h="403445" w="1685158">
                  <a:moveTo>
                    <a:pt x="0" y="0"/>
                  </a:moveTo>
                  <a:lnTo>
                    <a:pt x="1685158" y="0"/>
                  </a:lnTo>
                  <a:lnTo>
                    <a:pt x="1685158" y="403445"/>
                  </a:lnTo>
                  <a:lnTo>
                    <a:pt x="0" y="403445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1685158" cy="4129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2566282" y="6689583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3271132" y="6753401"/>
            <a:ext cx="856350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탐지 실패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127482" y="6840562"/>
            <a:ext cx="2094600" cy="2609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20"/>
              </a:lnSpc>
            </a:pPr>
            <a:r>
              <a:rPr lang="en-US" b="true" sz="2000" spc="-10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FALSE NEGATIVE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271132" y="7235366"/>
            <a:ext cx="4411324" cy="674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사기를 정상으로 오판 — 그대로 금전 손실</a:t>
            </a:r>
          </a:p>
        </p:txBody>
      </p:sp>
      <p:sp>
        <p:nvSpPr>
          <p:cNvPr name="Freeform 27" id="27"/>
          <p:cNvSpPr/>
          <p:nvPr/>
        </p:nvSpPr>
        <p:spPr>
          <a:xfrm flipH="false" flipV="false" rot="0">
            <a:off x="9910915" y="6689583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8" id="28"/>
          <p:cNvSpPr txBox="true"/>
          <p:nvPr/>
        </p:nvSpPr>
        <p:spPr>
          <a:xfrm rot="0">
            <a:off x="10615765" y="6753401"/>
            <a:ext cx="856350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탐지 성공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472115" y="6840562"/>
            <a:ext cx="2094600" cy="2609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20"/>
              </a:lnSpc>
            </a:pPr>
            <a:r>
              <a:rPr lang="en-US" b="true" sz="2000" spc="-10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TRUE POSITIVE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0615765" y="7235366"/>
            <a:ext cx="4411324" cy="674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사기를 사기로 정확히 판별 — Recall의 분자</a:t>
            </a:r>
          </a:p>
        </p:txBody>
      </p:sp>
      <p:sp>
        <p:nvSpPr>
          <p:cNvPr name="Freeform 31" id="31"/>
          <p:cNvSpPr/>
          <p:nvPr/>
        </p:nvSpPr>
        <p:spPr>
          <a:xfrm flipH="false" flipV="false" rot="0">
            <a:off x="2566282" y="4746475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2" id="32"/>
          <p:cNvSpPr txBox="true"/>
          <p:nvPr/>
        </p:nvSpPr>
        <p:spPr>
          <a:xfrm rot="0">
            <a:off x="3271132" y="4810293"/>
            <a:ext cx="856350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정상 예측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4127482" y="4897454"/>
            <a:ext cx="2094600" cy="2609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20"/>
              </a:lnSpc>
            </a:pPr>
            <a:r>
              <a:rPr lang="en-US" b="true" sz="2000" spc="-10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TRUE NEGATIVE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3271132" y="5292258"/>
            <a:ext cx="4411324" cy="674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문제 없음 — 정상 거래를 정상으로 정확히 판별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8700" y="700000"/>
            <a:ext cx="16230600" cy="7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222222"/>
                </a:solidFill>
                <a:latin typeface="JASO Sans Bold"/>
              </a:rPr>
              <a:t>3.3 데이터 전처리 &amp; 클리닝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28700" y="1900000"/>
          <a:ext cx="10200000" cy="4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0000"/>
                <a:gridCol w="4600000"/>
                <a:gridCol w="3000000"/>
              </a:tblGrid>
              <a:tr h="92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JASO Sans Bold"/>
                        </a:rPr>
                        <a:t>처리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JASO Sans Bold"/>
                        </a:rPr>
                        <a:t>내용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JASO Sans Bold"/>
                        </a:rPr>
                        <a:t>근거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</a:tr>
              <a:tr h="920000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Time 제거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거래 순번성 정보, 사기 여부와 직접 관련 없음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노이즈 제거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</a:tr>
              <a:tr h="920000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Amount 로그 변환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log1p(Amount) → Amount_Scaled 컬럼 추가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왜도 16.98 → 0.16로 완화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</a:tr>
              <a:tr h="920000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V14 이상치 제거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사기(Class=1) 데이터의 V14 IQR×1.5 범위 밖 값 제거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상관관계 상위권 변수의 잡음 축소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</a:tr>
              <a:tr h="920000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train/test 분할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7:3, stratify=y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0.173% 비율을 양쪽 세트에 동일하게 유지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p2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8700" y="2069509"/>
            <a:ext cx="5630600" cy="38609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628700" y="6200000"/>
            <a:ext cx="563060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222222">
                    <a:alpha val="85000"/>
                  </a:srgbClr>
                </a:solidFill>
                <a:latin typeface="JASO Sans"/>
              </a:rPr>
              <a:t>사기 클래스는 V14 중앙값이 -6.8로 정상(0 부근)보다 뚜렷이 낮게 분포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8700" y="700000"/>
            <a:ext cx="16230600" cy="7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222222"/>
                </a:solidFill>
                <a:latin typeface="JASO Sans Bold"/>
              </a:rPr>
              <a:t>3.5 왜 리샘플링이 필요한가 — 샘플링 전략 3종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28700" y="1750000"/>
          <a:ext cx="16230600" cy="2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000"/>
                <a:gridCol w="7200000"/>
                <a:gridCol w="6630600"/>
              </a:tblGrid>
              <a:tr h="65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JASO Sans Bold"/>
                        </a:rPr>
                        <a:t>기법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JASO Sans Bold"/>
                        </a:rPr>
                        <a:t>방식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JASO Sans Bold"/>
                        </a:rPr>
                        <a:t>학습 데이터 변화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</a:tr>
              <a:tr h="650000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언더샘플링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정상 거래를 사기 건수만큼 무작위로 축소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199,362건 → 684건 (342/342)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</a:tr>
              <a:tr h="6500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664B4"/>
                          </a:solidFill>
                          <a:latin typeface="JASO Sans Bold"/>
                        </a:rPr>
                        <a:t>SMOTE (채택)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664B4"/>
                          </a:solidFill>
                          <a:latin typeface="JASO Sans Bold"/>
                        </a:rPr>
                        <a:t>사기 샘플 주변에 합성 데이터 생성해 오버샘플링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664B4"/>
                          </a:solidFill>
                          <a:latin typeface="JASO Sans Bold"/>
                        </a:rPr>
                        <a:t>199,362건 → 398,040건 (199,020/199,020)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</a:tr>
              <a:tr h="650000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SMOTE-ENN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SMOTE 이후 경계가 모호한 샘플을 ENN으로 추가 제거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199,362건 → 397,717건 (199,020/198,697)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p2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2750" y="4700000"/>
            <a:ext cx="7562499" cy="330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28700" y="8200000"/>
            <a:ext cx="162306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222222">
                    <a:alpha val="85000"/>
                  </a:srgbClr>
                </a:solidFill>
                <a:latin typeface="JASO Sans"/>
              </a:rPr>
              <a:t>SMOTE는 정상 거래 정보를 버리지 않으면서 사기 샘플을 원본의 약 582배로 증강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" y="8650000"/>
            <a:ext cx="162306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3970CF"/>
                </a:solidFill>
                <a:latin typeface="JASO Sans Bold"/>
              </a:rPr>
              <a:t>채택: SMOTE — 언더샘플링은 정상 정보 손실 과다, SMOTE-ENN은 SMOTE 대비 이점 미미 (§3.6.4)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8700" y="700000"/>
            <a:ext cx="16230600" cy="7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222222"/>
                </a:solidFill>
                <a:latin typeface="JASO Sans Bold"/>
              </a:rPr>
              <a:t>3.5 GridSearchCV 튜닝 — RandomForest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8700" y="1600000"/>
            <a:ext cx="162306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3970CF"/>
                </a:solidFill>
                <a:latin typeface="JASO Sans Bold"/>
              </a:rPr>
              <a:t>Best Params: n_estimators=1000, max_depth=None, min_samples_leaf=1  →  CV ROC-AUC 0.9811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28700" y="2300000"/>
          <a:ext cx="16230600" cy="4599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3246120"/>
                <a:gridCol w="3246120"/>
                <a:gridCol w="3246120"/>
                <a:gridCol w="3246120"/>
              </a:tblGrid>
              <a:tr h="511111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JASO Sans Bold"/>
                        </a:rPr>
                        <a:t>n_estimators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JASO Sans Bold"/>
                        </a:rPr>
                        <a:t>max_depth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JASO Sans Bold"/>
                        </a:rPr>
                        <a:t>min_samples_leaf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JASO Sans Bold"/>
                        </a:rPr>
                        <a:t>CV ROC-AUC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JASO Sans Bold"/>
                        </a:rPr>
                        <a:t>순위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</a:tr>
              <a:tr h="511111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664B4"/>
                          </a:solidFill>
                          <a:latin typeface="JASO Sans Bold"/>
                        </a:rPr>
                        <a:t>1000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664B4"/>
                          </a:solidFill>
                          <a:latin typeface="JASO Sans Bold"/>
                        </a:rPr>
                        <a:t>None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664B4"/>
                          </a:solidFill>
                          <a:latin typeface="JASO Sans Bold"/>
                        </a:rPr>
                        <a:t>1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664B4"/>
                          </a:solidFill>
                          <a:latin typeface="JASO Sans Bold"/>
                        </a:rPr>
                        <a:t>0.9811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664B4"/>
                          </a:solidFill>
                          <a:latin typeface="JASO Sans Bold"/>
                        </a:rPr>
                        <a:t>1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</a:tr>
              <a:tr h="511111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1000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16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3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0.9810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2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</a:tr>
              <a:tr h="511111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1000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None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3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0.9806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3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</a:tr>
              <a:tr h="511111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1000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16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1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0.9806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4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</a:tr>
              <a:tr h="511111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300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16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3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0.9802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5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</a:tr>
              <a:tr h="511111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300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16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1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0.9792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6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</a:tr>
              <a:tr h="511111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300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None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3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0.9791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7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</a:tr>
              <a:tr h="511111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300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None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1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0.9761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8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28700" y="7150000"/>
            <a:ext cx="162306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222222">
                    <a:alpha val="85000"/>
                  </a:srgbClr>
                </a:solidFill>
                <a:latin typeface="JASO Sans"/>
              </a:rPr>
              <a:t>8개 조합의 CV ROC-AUC가 0.9761~0.9811에 밀집 — 구조적 파라미터보다 임곗값 조정에 튜닝 자원 집중 (§3.6.2)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-18144">
            <a:off x="7051311" y="801614"/>
            <a:ext cx="4184623" cy="904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500"/>
              </a:lnSpc>
            </a:pPr>
            <a:r>
              <a:rPr lang="en-US" b="true" sz="5000" spc="-250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3.6 파이프라인 요약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28700" y="2508101"/>
            <a:ext cx="16580689" cy="6630853"/>
            <a:chOff x="0" y="0"/>
            <a:chExt cx="4366930" cy="174639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366930" cy="1746398"/>
            </a:xfrm>
            <a:custGeom>
              <a:avLst/>
              <a:gdLst/>
              <a:ahLst/>
              <a:cxnLst/>
              <a:rect r="r" b="b" t="t" l="l"/>
              <a:pathLst>
                <a:path h="1746398" w="4366930">
                  <a:moveTo>
                    <a:pt x="0" y="0"/>
                  </a:moveTo>
                  <a:lnTo>
                    <a:pt x="4366930" y="0"/>
                  </a:lnTo>
                  <a:lnTo>
                    <a:pt x="4366930" y="1746398"/>
                  </a:lnTo>
                  <a:lnTo>
                    <a:pt x="0" y="1746398"/>
                  </a:lnTo>
                  <a:close/>
                </a:path>
              </a:pathLst>
            </a:custGeom>
            <a:solidFill>
              <a:srgbClr val="FCFCFC"/>
            </a:soli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28575"/>
              <a:ext cx="4366930" cy="17749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33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3559181" y="3096519"/>
            <a:ext cx="11169639" cy="733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926"/>
              </a:lnSpc>
            </a:pPr>
            <a:r>
              <a:rPr lang="en-US" sz="2004" spc="-100">
                <a:solidFill>
                  <a:srgbClr val="222222">
                    <a:alpha val="6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Time 제거·Amount 로그변환부터 임곗값 조정까지, RandomForest + SMOTE 채택 파이프라인의 전체 흐름이다.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2076012" y="4444455"/>
            <a:ext cx="2144954" cy="3705225"/>
            <a:chOff x="0" y="0"/>
            <a:chExt cx="610115" cy="87431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10115" cy="874319"/>
            </a:xfrm>
            <a:custGeom>
              <a:avLst/>
              <a:gdLst/>
              <a:ahLst/>
              <a:cxnLst/>
              <a:rect r="r" b="b" t="t" l="l"/>
              <a:pathLst>
                <a:path h="874319" w="610115">
                  <a:moveTo>
                    <a:pt x="0" y="0"/>
                  </a:moveTo>
                  <a:lnTo>
                    <a:pt x="610115" y="0"/>
                  </a:lnTo>
                  <a:lnTo>
                    <a:pt x="610115" y="874319"/>
                  </a:lnTo>
                  <a:lnTo>
                    <a:pt x="0" y="874319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610115" cy="8838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2924652" y="5001109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1" name="TextBox 10"/>
          <p:cNvSpPr txBox="1"/>
          <p:nvPr/>
        </p:nvSpPr>
        <p:spPr>
          <a:xfrm>
            <a:off x="2076012" y="4620000"/>
            <a:ext cx="2144954" cy="3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3970CF"/>
                </a:solidFill>
                <a:latin typeface="JASO Sans Bold"/>
              </a:rPr>
              <a:t>STEP 1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218553" y="5727409"/>
            <a:ext cx="1859872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전처리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277862" y="6715080"/>
            <a:ext cx="1741254" cy="1017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Time 제거</a:t>
            </a:r>
          </a:p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Amount log1p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4544168" y="4444455"/>
            <a:ext cx="2144954" cy="3705225"/>
            <a:chOff x="0" y="0"/>
            <a:chExt cx="610115" cy="87431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10115" cy="874319"/>
            </a:xfrm>
            <a:custGeom>
              <a:avLst/>
              <a:gdLst/>
              <a:ahLst/>
              <a:cxnLst/>
              <a:rect r="r" b="b" t="t" l="l"/>
              <a:pathLst>
                <a:path h="874319" w="610115">
                  <a:moveTo>
                    <a:pt x="0" y="0"/>
                  </a:moveTo>
                  <a:lnTo>
                    <a:pt x="610115" y="0"/>
                  </a:lnTo>
                  <a:lnTo>
                    <a:pt x="610115" y="874319"/>
                  </a:lnTo>
                  <a:lnTo>
                    <a:pt x="0" y="874319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610115" cy="8838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5392808" y="5001109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3" name="TextBox 12"/>
          <p:cNvSpPr txBox="1"/>
          <p:nvPr/>
        </p:nvSpPr>
        <p:spPr>
          <a:xfrm>
            <a:off x="4544168" y="4620000"/>
            <a:ext cx="2144954" cy="3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3970CF"/>
                </a:solidFill>
                <a:latin typeface="JASO Sans Bold"/>
              </a:rPr>
              <a:t>STEP 2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686709" y="5727409"/>
            <a:ext cx="1859872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데이터 분할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746018" y="6715080"/>
            <a:ext cx="1741254" cy="1017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train/test 7:3</a:t>
            </a:r>
          </a:p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(stratify)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7012324" y="4444455"/>
            <a:ext cx="2144954" cy="3705225"/>
            <a:chOff x="0" y="0"/>
            <a:chExt cx="610115" cy="87431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10115" cy="874319"/>
            </a:xfrm>
            <a:custGeom>
              <a:avLst/>
              <a:gdLst/>
              <a:ahLst/>
              <a:cxnLst/>
              <a:rect r="r" b="b" t="t" l="l"/>
              <a:pathLst>
                <a:path h="874319" w="610115">
                  <a:moveTo>
                    <a:pt x="0" y="0"/>
                  </a:moveTo>
                  <a:lnTo>
                    <a:pt x="610115" y="0"/>
                  </a:lnTo>
                  <a:lnTo>
                    <a:pt x="610115" y="874319"/>
                  </a:lnTo>
                  <a:lnTo>
                    <a:pt x="0" y="874319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610115" cy="8838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7860964" y="5001109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4" name="TextBox 13"/>
          <p:cNvSpPr txBox="1"/>
          <p:nvPr/>
        </p:nvSpPr>
        <p:spPr>
          <a:xfrm>
            <a:off x="7012324" y="4620000"/>
            <a:ext cx="2144954" cy="3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3970CF"/>
                </a:solidFill>
                <a:latin typeface="JASO Sans Bold"/>
              </a:rPr>
              <a:t>STEP 3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154865" y="5727409"/>
            <a:ext cx="1859872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이상치 제거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214174" y="6715080"/>
            <a:ext cx="1741254" cy="1017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V14 IQR×1.5</a:t>
            </a:r>
          </a:p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개별 제거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480480" y="4444455"/>
            <a:ext cx="2144954" cy="3705225"/>
            <a:chOff x="0" y="0"/>
            <a:chExt cx="610115" cy="87431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10115" cy="874319"/>
            </a:xfrm>
            <a:custGeom>
              <a:avLst/>
              <a:gdLst/>
              <a:ahLst/>
              <a:cxnLst/>
              <a:rect r="r" b="b" t="t" l="l"/>
              <a:pathLst>
                <a:path h="874319" w="610115">
                  <a:moveTo>
                    <a:pt x="0" y="0"/>
                  </a:moveTo>
                  <a:lnTo>
                    <a:pt x="610115" y="0"/>
                  </a:lnTo>
                  <a:lnTo>
                    <a:pt x="610115" y="874319"/>
                  </a:lnTo>
                  <a:lnTo>
                    <a:pt x="0" y="874319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610115" cy="8838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10329120" y="5001109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5" name="TextBox 14"/>
          <p:cNvSpPr txBox="1"/>
          <p:nvPr/>
        </p:nvSpPr>
        <p:spPr>
          <a:xfrm>
            <a:off x="9480480" y="4620000"/>
            <a:ext cx="2144954" cy="3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3970CF"/>
                </a:solidFill>
                <a:latin typeface="JASO Sans Bold"/>
              </a:rPr>
              <a:t>STEP 4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623021" y="5727409"/>
            <a:ext cx="1859872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SMOTE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682330" y="6715080"/>
            <a:ext cx="1741254" cy="1017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train에만</a:t>
            </a:r>
          </a:p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오버샘플링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1948636" y="4444455"/>
            <a:ext cx="2144954" cy="3705225"/>
            <a:chOff x="0" y="0"/>
            <a:chExt cx="610115" cy="87431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10115" cy="874319"/>
            </a:xfrm>
            <a:custGeom>
              <a:avLst/>
              <a:gdLst/>
              <a:ahLst/>
              <a:cxnLst/>
              <a:rect r="r" b="b" t="t" l="l"/>
              <a:pathLst>
                <a:path h="874319" w="610115">
                  <a:moveTo>
                    <a:pt x="0" y="0"/>
                  </a:moveTo>
                  <a:lnTo>
                    <a:pt x="610115" y="0"/>
                  </a:lnTo>
                  <a:lnTo>
                    <a:pt x="610115" y="874319"/>
                  </a:lnTo>
                  <a:lnTo>
                    <a:pt x="0" y="874319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610115" cy="8838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12797276" y="5001109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6" name="TextBox 15"/>
          <p:cNvSpPr txBox="1"/>
          <p:nvPr/>
        </p:nvSpPr>
        <p:spPr>
          <a:xfrm>
            <a:off x="11948636" y="4620000"/>
            <a:ext cx="2144954" cy="3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3970CF"/>
                </a:solidFill>
                <a:latin typeface="JASO Sans Bold"/>
              </a:rPr>
              <a:t>STEP 5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091177" y="5727409"/>
            <a:ext cx="1859872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모델 학습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150486" y="6715080"/>
            <a:ext cx="1741254" cy="1017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RandomForest</a:t>
            </a:r>
          </a:p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(n=1000)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4416792" y="4444455"/>
            <a:ext cx="2144954" cy="3705225"/>
            <a:chOff x="0" y="0"/>
            <a:chExt cx="610115" cy="87431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10115" cy="874319"/>
            </a:xfrm>
            <a:custGeom>
              <a:avLst/>
              <a:gdLst/>
              <a:ahLst/>
              <a:cxnLst/>
              <a:rect r="r" b="b" t="t" l="l"/>
              <a:pathLst>
                <a:path h="874319" w="610115">
                  <a:moveTo>
                    <a:pt x="0" y="0"/>
                  </a:moveTo>
                  <a:lnTo>
                    <a:pt x="610115" y="0"/>
                  </a:lnTo>
                  <a:lnTo>
                    <a:pt x="610115" y="874319"/>
                  </a:lnTo>
                  <a:lnTo>
                    <a:pt x="0" y="874319"/>
                  </a:lnTo>
                  <a:close/>
                </a:path>
              </a:pathLst>
            </a:custGeom>
            <a:solidFill>
              <a:srgbClr val="F4F4F4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610115" cy="8838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44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15265432" y="5001109"/>
            <a:ext cx="447675" cy="447675"/>
          </a:xfrm>
          <a:custGeom>
            <a:avLst/>
            <a:gdLst/>
            <a:ahLst/>
            <a:cxnLst/>
            <a:rect r="r" b="b" t="t" l="l"/>
            <a:pathLst>
              <a:path h="447675" w="447675">
                <a:moveTo>
                  <a:pt x="0" y="0"/>
                </a:moveTo>
                <a:lnTo>
                  <a:pt x="447675" y="0"/>
                </a:lnTo>
                <a:lnTo>
                  <a:pt x="447675" y="447675"/>
                </a:lnTo>
                <a:lnTo>
                  <a:pt x="0" y="447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7" name="TextBox 16"/>
          <p:cNvSpPr txBox="1"/>
          <p:nvPr/>
        </p:nvSpPr>
        <p:spPr>
          <a:xfrm>
            <a:off x="14416792" y="4620000"/>
            <a:ext cx="2144954" cy="3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3970CF"/>
                </a:solidFill>
                <a:latin typeface="JASO Sans Bold"/>
              </a:rPr>
              <a:t>STEP 6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4559333" y="5727409"/>
            <a:ext cx="1859872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79"/>
              </a:lnSpc>
            </a:pPr>
            <a:r>
              <a:rPr lang="en-US" b="true" sz="3000" spc="-150">
                <a:solidFill>
                  <a:srgbClr val="3970C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임곗값 조정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618642" y="6715080"/>
            <a:ext cx="1741254" cy="1017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재현율 우선</a:t>
            </a:r>
          </a:p>
          <a:p>
            <a:pPr algn="ctr" marL="0" indent="0" lvl="0">
              <a:lnSpc>
                <a:spcPts val="2700"/>
              </a:lnSpc>
            </a:pPr>
            <a:r>
              <a:rPr lang="en-US" sz="1800" spc="-9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(0.305)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8700" y="700000"/>
            <a:ext cx="16230600" cy="7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222222"/>
                </a:solidFill>
                <a:latin typeface="JASO Sans Bold"/>
              </a:rPr>
              <a:t>3.6 성능 지표 결과 — RandomForest + SMOTE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28700" y="1750000"/>
          <a:ext cx="11400000" cy="2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8571"/>
                <a:gridCol w="1628571"/>
                <a:gridCol w="1628571"/>
                <a:gridCol w="1628571"/>
                <a:gridCol w="1628571"/>
                <a:gridCol w="1628571"/>
                <a:gridCol w="1628574"/>
              </a:tblGrid>
              <a:tr h="5750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임곗값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Accuracy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Precision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Recall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F1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ROC-AUC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AUPRC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</a:tr>
              <a:tr h="575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0.500 (기본값)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0.9994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0.8712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0.7823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0.8244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0.9854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0.8314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</a:tr>
              <a:tr h="5750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0.727 (최대 F1)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-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0.9558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0.7347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0.8308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0.9854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JASO Sans"/>
                        </a:rPr>
                        <a:t>0.8314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</a:tr>
              <a:tr h="5750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664B4"/>
                          </a:solidFill>
                          <a:latin typeface="JASO Sans Bold"/>
                        </a:rPr>
                        <a:t>0.305 (채택)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664B4"/>
                          </a:solidFill>
                          <a:latin typeface="JASO Sans Bold"/>
                        </a:rPr>
                        <a:t>0.9992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664B4"/>
                          </a:solidFill>
                          <a:latin typeface="JASO Sans Bold"/>
                        </a:rPr>
                        <a:t>0.7500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664B4"/>
                          </a:solidFill>
                          <a:latin typeface="JASO Sans Bold"/>
                        </a:rPr>
                        <a:t>0.8367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664B4"/>
                          </a:solidFill>
                          <a:latin typeface="JASO Sans Bold"/>
                        </a:rPr>
                        <a:t>0.7910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664B4"/>
                          </a:solidFill>
                          <a:latin typeface="JASO Sans Bold"/>
                        </a:rPr>
                        <a:t>0.9854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664B4"/>
                          </a:solidFill>
                          <a:latin typeface="JASO Sans Bold"/>
                        </a:rPr>
                        <a:t>0.8314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p27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8700" y="2567458"/>
            <a:ext cx="4430600" cy="25650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28700" y="4450000"/>
            <a:ext cx="114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222222">
                    <a:alpha val="85000"/>
                  </a:srgbClr>
                </a:solidFill>
                <a:latin typeface="JASO Sans"/>
              </a:rPr>
              <a:t>채택 임곗값(0.305): TN=85,254 · FP=41 · FN=24 · TP=123 — 테스트셋 사기 147건 중 123건(84%) 탐지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" y="6100000"/>
            <a:ext cx="16230600" cy="1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22222">
                    <a:alpha val="85000"/>
                  </a:srgbClr>
                </a:solidFill>
                <a:latin typeface="JASO Sans"/>
              </a:rPr>
              <a:t>최대 F1(0.727)은 재현율 0.7347에 그쳐 39건을 놓친다. 임곗값을 0.305로 낮추면 F1은 5.9%p 낮아지지만 재현율은 0.8367로 올라 놓치는 사기가 24건까지 줄어든다 — 정밀도는 0.9558→0.7500으로 하락하지만, 오탐지(FP) 비용이 탐지 실패(FN) 비용보다 훨씬 작다는 원칙에 부합한다.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8700" y="700000"/>
            <a:ext cx="16230600" cy="7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22222"/>
                </a:solidFill>
                <a:latin typeface="JASO Sans Bold"/>
              </a:rPr>
              <a:t>3.6 모델별 비교 (SMOTE 적용)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28700" y="1750000"/>
          <a:ext cx="16230600" cy="33999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000"/>
                <a:gridCol w="1730000"/>
                <a:gridCol w="1730000"/>
                <a:gridCol w="1730000"/>
                <a:gridCol w="1400000"/>
                <a:gridCol w="1500000"/>
                <a:gridCol w="1400000"/>
                <a:gridCol w="3540600"/>
              </a:tblGrid>
              <a:tr h="56666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모델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Accuracy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Precision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Recall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F1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ROC-AUC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AUPRC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JASO Sans Bold"/>
                        </a:rPr>
                        <a:t>비고</a:t>
                      </a:r>
                    </a:p>
                  </a:txBody>
                  <a:tcPr marL="60000" marR="60000" marT="20000" marB="20000" anchor="ctr">
                    <a:solidFill>
                      <a:srgbClr val="3970CF"/>
                    </a:solidFill>
                  </a:tcPr>
                </a:tc>
              </a:tr>
              <a:tr h="56666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LightGBM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0.9994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0.8731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0.7959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0.8327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0.9720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0.8342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GridSearchCV 튜닝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</a:tr>
              <a:tr h="56666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XGBoost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0.9993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0.8276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0.8163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0.8219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0.9771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0.8350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기본 파라미터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</a:tr>
              <a:tr h="56666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664B4"/>
                          </a:solidFill>
                          <a:latin typeface="JASO Sans Bold"/>
                        </a:rPr>
                        <a:t>RandomForest (채택)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64B4"/>
                          </a:solidFill>
                          <a:latin typeface="JASO Sans Bold"/>
                        </a:rPr>
                        <a:t>0.9992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64B4"/>
                          </a:solidFill>
                          <a:latin typeface="JASO Sans Bold"/>
                        </a:rPr>
                        <a:t>0.7500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64B4"/>
                          </a:solidFill>
                          <a:latin typeface="JASO Sans Bold"/>
                        </a:rPr>
                        <a:t>0.8367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64B4"/>
                          </a:solidFill>
                          <a:latin typeface="JASO Sans Bold"/>
                        </a:rPr>
                        <a:t>0.7910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64B4"/>
                          </a:solidFill>
                          <a:latin typeface="JASO Sans Bold"/>
                        </a:rPr>
                        <a:t>0.9854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64B4"/>
                          </a:solidFill>
                          <a:latin typeface="JASO Sans Bold"/>
                        </a:rPr>
                        <a:t>0.8314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64B4"/>
                          </a:solidFill>
                          <a:latin typeface="JASO Sans Bold"/>
                        </a:rPr>
                        <a:t>임곗값 0.305 조정</a:t>
                      </a:r>
                    </a:p>
                  </a:txBody>
                  <a:tcPr marL="60000" marR="60000" marT="20000" marB="20000" anchor="ctr">
                    <a:solidFill>
                      <a:srgbClr val="D6E4FA"/>
                    </a:solidFill>
                  </a:tcPr>
                </a:tc>
              </a:tr>
              <a:tr h="56666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GradientBoost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0.9993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0.8438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0.7347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0.7855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0.9749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0.6687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임곗값 0.9844 조정</a:t>
                      </a:r>
                    </a:p>
                  </a:txBody>
                  <a:tcPr marL="60000" marR="60000" marT="20000" marB="20000" anchor="ctr">
                    <a:solidFill>
                      <a:srgbClr val="F4F4F4"/>
                    </a:solidFill>
                  </a:tcPr>
                </a:tc>
              </a:tr>
              <a:tr h="56666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LogisticRegression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0.9994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0.8550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0.7619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0.8057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0.9675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0.7024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JASO Sans"/>
                        </a:rPr>
                        <a:t>임곗값 최적화</a:t>
                      </a:r>
                    </a:p>
                  </a:txBody>
                  <a:tcPr marL="60000" marR="60000" marT="20000" marB="20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28700" y="5450000"/>
            <a:ext cx="162306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1">
                <a:solidFill>
                  <a:srgbClr val="3970CF"/>
                </a:solidFill>
                <a:latin typeface="JASO Sans Bold"/>
              </a:rPr>
              <a:t>RandomForest 채택 근거: ROC-AUC 최고(0.9854) + 재현율 최고(0.8367) — AUPRC는 XGBoost·LightGBM이 근소하게 높지만(0.003~0.004) 이 프로젝트의 '재현율 우선' 목표에는 RandomForest가 최적이다.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8700" y="700000"/>
            <a:ext cx="16230600" cy="7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222222"/>
                </a:solidFill>
                <a:latin typeface="JASO Sans Bold"/>
              </a:rPr>
              <a:t>3장 종합 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8700" y="2200000"/>
            <a:ext cx="900000" cy="1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3970CF"/>
                </a:solidFill>
                <a:latin typeface="JASO Sans Bold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78700" y="2300000"/>
            <a:ext cx="15180600" cy="1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222222">
                    <a:alpha val="90000"/>
                  </a:srgbClr>
                </a:solidFill>
                <a:latin typeface="JASO Sans"/>
              </a:rPr>
              <a:t>언더샘플링·SMOTE·SMOTE-ENN 중 정상 거래 정보를 보존하는 SMOTE가 정밀도-재현율 균형이 가장 좋았다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700" y="3750000"/>
            <a:ext cx="900000" cy="1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3970CF"/>
                </a:solidFill>
                <a:latin typeface="JASO Sans Bold"/>
              </a:rPr>
              <a:t>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78700" y="3850000"/>
            <a:ext cx="15180600" cy="1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222222">
                    <a:alpha val="90000"/>
                  </a:srgbClr>
                </a:solidFill>
                <a:latin typeface="JASO Sans"/>
              </a:rPr>
              <a:t>SMOTE 적용 후 5개 모델을 비교한 결과 RandomForest가 ROC-AUC(0.9854)와 임곗값 조정 여지에서 가장 우수했다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" y="5300000"/>
            <a:ext cx="900000" cy="1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3970CF"/>
                </a:solidFill>
                <a:latin typeface="JASO Sans Bold"/>
              </a:rPr>
              <a:t>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8700" y="5400000"/>
            <a:ext cx="15180600" cy="1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222222">
                    <a:alpha val="90000"/>
                  </a:srgbClr>
                </a:solidFill>
                <a:latin typeface="JASO Sans"/>
              </a:rPr>
              <a:t>최대 F1 임곗값(0.727) 대신 재현율 우선 임곗값(0.305)을 채택해 테스트셋 사기 147건 중 123건(84%)을 탐지하고 손실을 24건까지 줄였다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8700" y="7000000"/>
            <a:ext cx="162306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3970CF"/>
                </a:solidFill>
                <a:latin typeface="JASO Sans Bold"/>
              </a:rPr>
              <a:t>오탐지 비용 &lt; 탐지 실패 비용 — 하나의 원칙을 일관되게 적용한 결과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970CF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953983" y="5057775"/>
            <a:ext cx="4380035" cy="4635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850"/>
              </a:lnSpc>
            </a:pPr>
            <a:r>
              <a:rPr lang="en-US" sz="2500" spc="-125">
                <a:solidFill>
                  <a:srgbClr val="C9DFFF"/>
                </a:solidFill>
                <a:latin typeface="JASO Sans"/>
                <a:ea typeface="JASO Sans"/>
                <a:cs typeface="JASO Sans"/>
                <a:sym typeface="JASO Sans"/>
              </a:rPr>
              <a:t>MACHINE LEARNING CASE STUDY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973222" y="8933815"/>
            <a:ext cx="12341556" cy="324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620"/>
              </a:lnSpc>
            </a:pPr>
            <a:r>
              <a:rPr lang="en-US" b="true" sz="2000" spc="-100">
                <a:solidFill>
                  <a:srgbClr val="FCFCFC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서울특별시 · ML 종합보고서 4차 · 3장 Credit Card Fraud Detection · 담당 염윤호</a:t>
            </a:r>
          </a:p>
        </p:txBody>
      </p:sp>
      <p:sp>
        <p:nvSpPr>
          <p:cNvPr name="AutoShape 4" id="4"/>
          <p:cNvSpPr/>
          <p:nvPr/>
        </p:nvSpPr>
        <p:spPr>
          <a:xfrm>
            <a:off x="1218210" y="8695690"/>
            <a:ext cx="15851580" cy="0"/>
          </a:xfrm>
          <a:prstGeom prst="line">
            <a:avLst/>
          </a:prstGeom>
          <a:ln cap="flat" w="19050">
            <a:solidFill>
              <a:srgbClr val="FDFDF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" id="5"/>
          <p:cNvSpPr txBox="true"/>
          <p:nvPr/>
        </p:nvSpPr>
        <p:spPr>
          <a:xfrm rot="0">
            <a:off x="5691188" y="3319462"/>
            <a:ext cx="6905625" cy="1514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sz="9999" spc="-499">
                <a:solidFill>
                  <a:srgbClr val="FDFDFB"/>
                </a:solidFill>
                <a:latin typeface="JASO Sans"/>
                <a:ea typeface="JASO Sans"/>
                <a:cs typeface="JASO Sans"/>
                <a:sym typeface="JASO Sans"/>
              </a:rPr>
              <a:t>감사합니다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4728234" y="2324100"/>
            <a:ext cx="8831531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300"/>
              </a:lnSpc>
            </a:pPr>
            <a:r>
              <a:rPr lang="en-US" b="true" sz="3000">
                <a:solidFill>
                  <a:srgbClr val="FDFDFB"/>
                </a:solidFill>
                <a:latin typeface="JASO Sans Heavy"/>
                <a:ea typeface="JASO Sans Heavy"/>
                <a:cs typeface="JASO Sans Heavy"/>
                <a:sym typeface="JASO Sans Heavy"/>
              </a:rPr>
              <a:t>CREDIT CARD FRAUD DETECTION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8759121" y="1437323"/>
            <a:ext cx="769758" cy="190500"/>
            <a:chOff x="0" y="0"/>
            <a:chExt cx="1026344" cy="2540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54000" cy="254000"/>
              <a:chOff x="0" y="0"/>
              <a:chExt cx="812800" cy="8128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CFCFC">
                  <a:alpha val="29804"/>
                </a:srgbClr>
              </a:solidFill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893"/>
                  </a:lnSpc>
                </a:pPr>
              </a:p>
            </p:txBody>
          </p:sp>
        </p:grpSp>
        <p:grpSp>
          <p:nvGrpSpPr>
            <p:cNvPr name="Group 11" id="11"/>
            <p:cNvGrpSpPr/>
            <p:nvPr/>
          </p:nvGrpSpPr>
          <p:grpSpPr>
            <a:xfrm rot="0">
              <a:off x="386172" y="0"/>
              <a:ext cx="254000" cy="254000"/>
              <a:chOff x="0" y="0"/>
              <a:chExt cx="812800" cy="812800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CFCFC">
                  <a:alpha val="60000"/>
                </a:srgbClr>
              </a:solidFill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893"/>
                  </a:lnSpc>
                </a:pPr>
              </a:p>
            </p:txBody>
          </p:sp>
        </p:grpSp>
        <p:grpSp>
          <p:nvGrpSpPr>
            <p:cNvPr name="Group 14" id="14"/>
            <p:cNvGrpSpPr/>
            <p:nvPr/>
          </p:nvGrpSpPr>
          <p:grpSpPr>
            <a:xfrm rot="0">
              <a:off x="772344" y="0"/>
              <a:ext cx="254000" cy="254000"/>
              <a:chOff x="0" y="0"/>
              <a:chExt cx="812800" cy="81280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CFCFC"/>
              </a:solidFill>
            </p:spPr>
          </p:sp>
          <p:sp>
            <p:nvSpPr>
              <p:cNvPr name="TextBox 16" id="16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893"/>
                  </a:lnSpc>
                </a:pPr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DAHT7WgIghM</dc:identifier>
  <dcterms:modified xsi:type="dcterms:W3CDTF">2011-08-01T06:04:30Z</dcterms:modified>
  <cp:revision>1</cp:revision>
  <dc:title>파란색 흰색 미니멀리스트 비즈니스 회사 사업 소개 프레젠테이션</dc:title>
</cp:coreProperties>
</file>