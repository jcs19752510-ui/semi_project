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sldIdLst>
    <p:sldId id="266" r:id="rId2"/>
    <p:sldId id="267" r:id="rId3"/>
    <p:sldId id="268" r:id="rId4"/>
    <p:sldId id="269" r:id="rId5"/>
    <p:sldId id="270" r:id="rId6"/>
    <p:sldId id="281" r:id="rId7"/>
    <p:sldId id="282" r:id="rId8"/>
    <p:sldId id="283" r:id="rId9"/>
    <p:sldId id="274" r:id="rId10"/>
    <p:sldId id="275" r:id="rId11"/>
    <p:sldId id="277" r:id="rId12"/>
    <p:sldId id="276" r:id="rId13"/>
    <p:sldId id="278" r:id="rId14"/>
    <p:sldId id="279" r:id="rId15"/>
    <p:sldId id="280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napToGrid="0">
      <p:cViewPr varScale="1">
        <p:scale>
          <a:sx n="40" d="100"/>
          <a:sy n="40" d="100"/>
        </p:scale>
        <p:origin x="78" y="10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2" y="6362700"/>
            <a:ext cx="4380036" cy="4953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lnSpc>
                <a:spcPts val="3850"/>
              </a:lnSpc>
              <a:defRPr/>
            </a:pPr>
            <a:r>
              <a:rPr lang="en-US" sz="2500" spc="-125">
                <a:solidFill>
                  <a:srgbClr val="3970CF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거래 탐지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8210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담당  |  염윤호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83064" y="9101518"/>
            <a:ext cx="4086726" cy="3244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2620"/>
              </a:lnSpc>
              <a:defRPr/>
            </a:pPr>
            <a:r>
              <a:rPr lang="en-US" sz="2000" b="1" spc="-100">
                <a:solidFill>
                  <a:srgbClr val="3970CF">
                    <a:alpha val="93720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작성일  |  2026. 9.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31494" y="3238499"/>
            <a:ext cx="9625012" cy="30480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999"/>
              </a:lnSpc>
              <a:defRPr/>
            </a:pPr>
            <a:r>
              <a:rPr lang="en-US" sz="9999" spc="-498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Credit Card</a:t>
            </a:r>
          </a:p>
          <a:p>
            <a:pPr algn="ctr">
              <a:lnSpc>
                <a:spcPts val="11999"/>
              </a:lnSpc>
              <a:defRPr/>
            </a:pPr>
            <a:r>
              <a:rPr lang="en-US" sz="9999" b="1" spc="-498">
                <a:solidFill>
                  <a:srgbClr val="222222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Fraud Detection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6300"/>
              </a:lnSpc>
              <a:defRPr/>
            </a:pPr>
            <a:r>
              <a:rPr lang="en-US" sz="2800" b="1">
                <a:solidFill>
                  <a:srgbClr val="3970CF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MACHINE LEARNING CASE STUDY</a:t>
            </a:r>
          </a:p>
        </p:txBody>
      </p:sp>
      <p:sp>
        <p:nvSpPr>
          <p:cNvPr id="7" name="AutoShape 7"/>
          <p:cNvSpPr/>
          <p:nvPr/>
        </p:nvSpPr>
        <p:spPr>
          <a:xfrm>
            <a:off x="1218210" y="8789415"/>
            <a:ext cx="15851580" cy="0"/>
          </a:xfrm>
          <a:prstGeom prst="line">
            <a:avLst/>
          </a:prstGeom>
          <a:ln w="19050" cap="flat">
            <a:solidFill>
              <a:srgbClr val="3970CF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8" name="Group 8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298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>
                  <a:alpha val="60000"/>
                </a:srgbClr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970CF"/>
              </a:solidFill>
            </p:spPr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anchor="ctr"/>
              <a:lstStyle/>
              <a:p>
                <a:pPr algn="ctr">
                  <a:lnSpc>
                    <a:spcPts val="2893"/>
                  </a:lnSpc>
                  <a:defRPr/>
                </a:pPr>
                <a:endParaRPr lang="ko-KR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2300" y="484346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프로젝트 개요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420450" y="4843462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샘플링 </a:t>
            </a:r>
            <a:r>
              <a:rPr lang="en-US" altLang="ko-KR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&amp;</a:t>
            </a:r>
            <a:r>
              <a:rPr lang="ko-KR" alt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모델링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72300" y="5586412"/>
            <a:ext cx="2868728" cy="462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탐색적 데이터 분석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20449" y="5586412"/>
            <a:ext cx="3444090" cy="42832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 dirty="0" err="1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성능</a:t>
            </a:r>
            <a:r>
              <a:rPr lang="en-US" sz="2499" b="1" spc="-124" dirty="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499" b="1" spc="-124" dirty="0" err="1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검증</a:t>
            </a:r>
            <a:r>
              <a:rPr lang="en-US" sz="2499" b="1" spc="-124" dirty="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&amp;</a:t>
            </a:r>
            <a:r>
              <a:rPr lang="ko-KR" altLang="en-US" sz="2499" b="1" spc="-124" dirty="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파이프라인</a:t>
            </a:r>
            <a:endParaRPr lang="en-US" sz="2499" b="1" spc="-124" dirty="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029200" y="47815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77350" y="47815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29200" y="55245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77350" y="55245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72300" y="632936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 dirty="0" err="1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결과</a:t>
            </a:r>
            <a:r>
              <a:rPr lang="en-US" sz="2499" b="1" spc="-124" dirty="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499" b="1" spc="-124" dirty="0" err="1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지표</a:t>
            </a:r>
            <a:r>
              <a:rPr lang="en-US" sz="2499" b="1" spc="-124" dirty="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2499" b="1" spc="-124" dirty="0" err="1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정의</a:t>
            </a:r>
            <a:endParaRPr lang="en-US" sz="2499" b="1" spc="-124" dirty="0">
              <a:solidFill>
                <a:srgbClr val="FCFCFC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20450" y="632936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모델별 비교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9200" y="62674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77350" y="626745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300" y="707231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 전처리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20450" y="7072312"/>
            <a:ext cx="2868728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l">
              <a:lnSpc>
                <a:spcPts val="3749"/>
              </a:lnSpc>
              <a:defRPr/>
            </a:pPr>
            <a:r>
              <a:rPr lang="en-US" sz="2499" b="1" spc="-124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종합 결론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29200" y="70104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77350" y="7010400"/>
            <a:ext cx="792278" cy="55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4500"/>
              </a:lnSpc>
              <a:defRPr/>
            </a:pPr>
            <a:r>
              <a:rPr lang="en-US" sz="3000" b="1" spc="-150">
                <a:solidFill>
                  <a:srgbClr val="FCFCFC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08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5415" y="1797797"/>
            <a:ext cx="5217170" cy="12477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499"/>
              </a:lnSpc>
              <a:defRPr/>
            </a:pPr>
            <a:r>
              <a:rPr lang="en-US" sz="6999" b="1" spc="-349">
                <a:solidFill>
                  <a:srgbClr val="FCFCFC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Card"/>
          <p:cNvSpPr/>
          <p:nvPr/>
        </p:nvSpPr>
        <p:spPr>
          <a:xfrm>
            <a:off x="1028700" y="2353235"/>
            <a:ext cx="16580689" cy="532503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2.1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700" y="2697807"/>
            <a:ext cx="14630600" cy="11560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endParaRPr lang="en-US" sz="2000" b="0" dirty="0">
              <a:solidFill>
                <a:srgbClr val="222222">
                  <a:alpha val="80000"/>
                </a:srgbClr>
              </a:solidFill>
              <a:latin typeface="JASO Sans"/>
            </a:endParaRPr>
          </a:p>
          <a:p>
            <a:pPr algn="ctr">
              <a:lnSpc>
                <a:spcPct val="130000"/>
              </a:lnSpc>
            </a:pP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샘플링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기법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3가지(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언더샘플링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SMOTE · SMOTE-ENN</a:t>
            </a:r>
            <a:r>
              <a:rPr lang="en-US"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) </a:t>
            </a:r>
            <a:r>
              <a:rPr lang="ko-KR" altLang="en-US" sz="2000" b="0" dirty="0">
                <a:solidFill>
                  <a:srgbClr val="222222">
                    <a:alpha val="80000"/>
                  </a:srgbClr>
                </a:solidFill>
                <a:latin typeface="JASO Sans" panose="020B0600000101010101" charset="-127"/>
                <a:ea typeface="JASO Sans" panose="020B0600000101010101" charset="-127"/>
              </a:rPr>
              <a:t>비교</a:t>
            </a:r>
            <a:endParaRPr lang="en-US" sz="2000" b="0" dirty="0">
              <a:solidFill>
                <a:srgbClr val="222222">
                  <a:alpha val="80000"/>
                </a:srgbClr>
              </a:solidFill>
              <a:latin typeface="JASO Sans" panose="020B0600000101010101" charset="-127"/>
              <a:ea typeface="JASO Sans" panose="020B0600000101010101" charset="-127"/>
            </a:endParaRPr>
          </a:p>
          <a:p>
            <a:pPr algn="ctr">
              <a:lnSpc>
                <a:spcPct val="130000"/>
              </a:lnSpc>
            </a:pP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모델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5가지(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RandomForest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LightGBM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XGBoost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GradientBoost</a:t>
            </a:r>
            <a:r>
              <a:rPr sz="2000" b="1" dirty="0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 · </a:t>
            </a:r>
            <a:r>
              <a:rPr sz="2000" b="1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JASO Sans"/>
              </a:rPr>
              <a:t>LogisticRegression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)의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성능을</a:t>
            </a:r>
            <a:r>
              <a:rPr sz="2000" b="0" dirty="0">
                <a:solidFill>
                  <a:srgbClr val="222222">
                    <a:alpha val="80000"/>
                  </a:srgbClr>
                </a:solidFill>
                <a:latin typeface="JASO Sans"/>
              </a:rPr>
              <a:t> </a:t>
            </a:r>
            <a:r>
              <a:rPr sz="2000" b="0" dirty="0" err="1">
                <a:solidFill>
                  <a:srgbClr val="222222">
                    <a:alpha val="80000"/>
                  </a:srgbClr>
                </a:solidFill>
                <a:latin typeface="JASO Sans"/>
              </a:rPr>
              <a:t>비교</a:t>
            </a:r>
            <a:endParaRPr sz="2000" b="0" dirty="0">
              <a:solidFill>
                <a:srgbClr val="222222">
                  <a:alpha val="80000"/>
                </a:srgbClr>
              </a:solidFill>
              <a:latin typeface="JASO Sa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3530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30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284,807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30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전체 거래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678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678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78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컬럼 수 (Time+V1~V28+Amount+Class)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826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826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0.173%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26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사기(Class=1)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659300" y="4817125"/>
            <a:ext cx="3600000" cy="190000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659300" y="5117125"/>
            <a:ext cx="3600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>
                <a:solidFill>
                  <a:srgbClr val="3970CF"/>
                </a:solidFill>
                <a:latin typeface="JASO Sans Bold"/>
              </a:rPr>
              <a:t>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9300" y="6097125"/>
            <a:ext cx="348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JASO Sans"/>
              </a:rPr>
              <a:t>결측치</a:t>
            </a:r>
          </a:p>
        </p:txBody>
      </p:sp>
      <p:pic>
        <p:nvPicPr>
          <p:cNvPr id="17" name="Icon (Rounded Rectangle 3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00" y="5017125"/>
            <a:ext cx="380000" cy="380000"/>
          </a:xfrm>
          <a:prstGeom prst="rect">
            <a:avLst/>
          </a:prstGeom>
        </p:spPr>
      </p:pic>
      <p:pic>
        <p:nvPicPr>
          <p:cNvPr id="18" name="Icon (Rounded Rectangle 6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800" y="5017125"/>
            <a:ext cx="380000" cy="380000"/>
          </a:xfrm>
          <a:prstGeom prst="rect">
            <a:avLst/>
          </a:prstGeom>
        </p:spPr>
      </p:pic>
      <p:pic>
        <p:nvPicPr>
          <p:cNvPr id="19" name="Icon (Rounded Rectangle 9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600" y="5017125"/>
            <a:ext cx="380000" cy="380000"/>
          </a:xfrm>
          <a:prstGeom prst="rect">
            <a:avLst/>
          </a:prstGeom>
        </p:spPr>
      </p:pic>
      <p:pic>
        <p:nvPicPr>
          <p:cNvPr id="20" name="Icon (Rounded Rectangle 12)" descr="check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300" y="5017125"/>
            <a:ext cx="380000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Card"/>
          <p:cNvSpPr/>
          <p:nvPr/>
        </p:nvSpPr>
        <p:spPr>
          <a:xfrm>
            <a:off x="1028700" y="1575000"/>
            <a:ext cx="16580689" cy="802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거래 금액 분포 (Amount)</a:t>
            </a:r>
          </a:p>
        </p:txBody>
      </p:sp>
      <p:pic>
        <p:nvPicPr>
          <p:cNvPr id="3" name="Picture 2" descr="credit_amount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861" y="1700000"/>
            <a:ext cx="8935677" cy="6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8800000"/>
            <a:ext cx="92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Amount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원본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endParaRPr sz="14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60CCEEB-08E0-9358-D83B-6E29C0C05AEC}"/>
              </a:ext>
            </a:extLst>
          </p:cNvPr>
          <p:cNvGrpSpPr/>
          <p:nvPr/>
        </p:nvGrpSpPr>
        <p:grpSpPr>
          <a:xfrm>
            <a:off x="11577918" y="5143500"/>
            <a:ext cx="4019016" cy="1988349"/>
            <a:chOff x="0" y="0"/>
            <a:chExt cx="948364" cy="469189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1711BAE-AC62-1C85-2020-8041BEC285DF}"/>
                </a:ext>
              </a:extLst>
            </p:cNvPr>
            <p:cNvSpPr/>
            <p:nvPr/>
          </p:nvSpPr>
          <p:spPr>
            <a:xfrm>
              <a:off x="0" y="0"/>
              <a:ext cx="948364" cy="469189"/>
            </a:xfrm>
            <a:custGeom>
              <a:avLst/>
              <a:gdLst/>
              <a:ahLst/>
              <a:cxnLst/>
              <a:rect l="l" t="t" r="r" b="b"/>
              <a:pathLst>
                <a:path w="948364" h="469189">
                  <a:moveTo>
                    <a:pt x="0" y="0"/>
                  </a:moveTo>
                  <a:lnTo>
                    <a:pt x="948364" y="0"/>
                  </a:lnTo>
                  <a:lnTo>
                    <a:pt x="948364" y="469189"/>
                  </a:lnTo>
                  <a:lnTo>
                    <a:pt x="0" y="46918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AE6E2BB8-CBC8-DFB7-67BA-06AD9C818B1E}"/>
                </a:ext>
              </a:extLst>
            </p:cNvPr>
            <p:cNvSpPr txBox="1"/>
            <p:nvPr/>
          </p:nvSpPr>
          <p:spPr>
            <a:xfrm>
              <a:off x="0" y="-9525"/>
              <a:ext cx="948364" cy="47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3" name="TextBox 9">
            <a:extLst>
              <a:ext uri="{FF2B5EF4-FFF2-40B4-BE49-F238E27FC236}">
                <a16:creationId xmlns:a16="http://schemas.microsoft.com/office/drawing/2014/main" id="{C80B2B82-A87D-BAD5-E8A1-D864FFCAA607}"/>
              </a:ext>
            </a:extLst>
          </p:cNvPr>
          <p:cNvSpPr txBox="1"/>
          <p:nvPr/>
        </p:nvSpPr>
        <p:spPr>
          <a:xfrm>
            <a:off x="11582400" y="3597783"/>
            <a:ext cx="4267200" cy="806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08"/>
              </a:lnSpc>
            </a:pPr>
            <a:r>
              <a:rPr lang="en-US" altLang="ko-KR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Amount</a:t>
            </a:r>
            <a:r>
              <a:rPr lang="ko-KR" altLang="en-US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그래프에서 </a:t>
            </a:r>
            <a:r>
              <a:rPr lang="ko-KR" altLang="en-US" sz="2004" b="1" spc="-100" dirty="0">
                <a:solidFill>
                  <a:schemeClr val="accent1">
                    <a:lumMod val="75000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오른쪽으로 긴 꼬리</a:t>
            </a:r>
            <a:r>
              <a:rPr lang="ko-KR" altLang="en-US" sz="2004" spc="-100" dirty="0">
                <a:solidFill>
                  <a:schemeClr val="accent1">
                    <a:lumMod val="75000"/>
                  </a:schemeClr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ko-KR" altLang="en-US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분포를 형성하고 있습니다</a:t>
            </a:r>
            <a:r>
              <a:rPr lang="en-US" altLang="ko-KR" sz="2004" spc="-10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.</a:t>
            </a: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E4F70ABA-54BC-2468-BA61-9A142755D23C}"/>
              </a:ext>
            </a:extLst>
          </p:cNvPr>
          <p:cNvSpPr/>
          <p:nvPr/>
        </p:nvSpPr>
        <p:spPr>
          <a:xfrm>
            <a:off x="11936701" y="5421028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7ED681CB-1C1E-0A86-75AF-9B815B036F82}"/>
              </a:ext>
            </a:extLst>
          </p:cNvPr>
          <p:cNvSpPr txBox="1"/>
          <p:nvPr/>
        </p:nvSpPr>
        <p:spPr>
          <a:xfrm>
            <a:off x="11936700" y="6229866"/>
            <a:ext cx="160380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00"/>
              </a:lnSpc>
            </a:pPr>
            <a:r>
              <a:rPr lang="en-US" sz="5000" b="1" spc="-2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16.98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D206B1B-5F8E-F908-A6DE-4511FE240C64}"/>
              </a:ext>
            </a:extLst>
          </p:cNvPr>
          <p:cNvSpPr txBox="1"/>
          <p:nvPr/>
        </p:nvSpPr>
        <p:spPr>
          <a:xfrm>
            <a:off x="12547508" y="5484845"/>
            <a:ext cx="1861695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</a:pPr>
            <a:r>
              <a:rPr lang="ko-KR" alt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왜도</a:t>
            </a:r>
            <a:r>
              <a:rPr lang="en-US" altLang="ko-KR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(skew)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Card"/>
          <p:cNvSpPr/>
          <p:nvPr/>
        </p:nvSpPr>
        <p:spPr>
          <a:xfrm>
            <a:off x="1028700" y="1550000"/>
            <a:ext cx="16580689" cy="781372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클래스와 시간대 패턴 (Time)</a:t>
            </a:r>
          </a:p>
        </p:txBody>
      </p:sp>
      <p:pic>
        <p:nvPicPr>
          <p:cNvPr id="3" name="Picture 2" descr="credit_time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72" y="1600000"/>
            <a:ext cx="12023255" cy="4700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BD01F716-8E50-7B6E-6A40-57DC16354632}"/>
              </a:ext>
            </a:extLst>
          </p:cNvPr>
          <p:cNvGrpSpPr/>
          <p:nvPr/>
        </p:nvGrpSpPr>
        <p:grpSpPr>
          <a:xfrm>
            <a:off x="4743448" y="6895009"/>
            <a:ext cx="9698692" cy="1273700"/>
            <a:chOff x="4484590" y="7042926"/>
            <a:chExt cx="9698692" cy="1273700"/>
          </a:xfrm>
        </p:grpSpPr>
        <p:sp>
          <p:nvSpPr>
            <p:cNvPr id="5" name="TextBox 4"/>
            <p:cNvSpPr txBox="1"/>
            <p:nvPr/>
          </p:nvSpPr>
          <p:spPr>
            <a:xfrm>
              <a:off x="4914589" y="7043065"/>
              <a:ext cx="9268693" cy="28860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Time은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첫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거래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이후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경과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초 — (Time/3600) % 24로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환산해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하루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중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거래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시간대를</a:t>
              </a:r>
              <a:r>
                <a:rPr b="0" dirty="0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 </a:t>
              </a:r>
              <a:r>
                <a:rPr b="0" dirty="0" err="1">
                  <a:solidFill>
                    <a:srgbClr val="222222">
                      <a:alpha val="85000"/>
                    </a:srgbClr>
                  </a:solidFill>
                  <a:latin typeface="JASO Sans"/>
                </a:rPr>
                <a:t>확인</a:t>
              </a:r>
              <a:endParaRPr b="0" dirty="0">
                <a:solidFill>
                  <a:srgbClr val="222222">
                    <a:alpha val="85000"/>
                  </a:srgbClr>
                </a:solidFill>
                <a:latin typeface="JASO San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914589" y="8000999"/>
              <a:ext cx="9268693" cy="29950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lang="ko-KR" altLang="en-US" b="0" dirty="0">
                  <a:solidFill>
                    <a:srgbClr val="222222">
                      <a:alpha val="85000"/>
                    </a:srgbClr>
                  </a:solidFill>
                  <a:latin typeface="JASO Sans" panose="020B0600000101010101" charset="-127"/>
                  <a:ea typeface="JASO Sans" panose="020B0600000101010101" charset="-127"/>
                </a:rPr>
                <a:t>시간에 따른 정상 거래</a:t>
              </a:r>
              <a:r>
                <a:rPr lang="en-US" altLang="ko-KR" b="0" dirty="0">
                  <a:solidFill>
                    <a:srgbClr val="222222">
                      <a:alpha val="85000"/>
                    </a:srgbClr>
                  </a:solidFill>
                  <a:latin typeface="JASO Sans" panose="020B0600000101010101" charset="-127"/>
                  <a:ea typeface="JASO Sans" panose="020B0600000101010101" charset="-127"/>
                </a:rPr>
                <a:t>, </a:t>
              </a:r>
              <a:r>
                <a:rPr lang="ko-KR" altLang="en-US" b="0" dirty="0">
                  <a:solidFill>
                    <a:srgbClr val="222222">
                      <a:alpha val="85000"/>
                    </a:srgbClr>
                  </a:solidFill>
                  <a:latin typeface="JASO Sans" panose="020B0600000101010101" charset="-127"/>
                  <a:ea typeface="JASO Sans" panose="020B0600000101010101" charset="-127"/>
                </a:rPr>
                <a:t>이상 거래 간의 상관이 파악되지 않아 </a:t>
              </a:r>
              <a:r>
                <a:rPr b="1" dirty="0" err="1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피처로</a:t>
              </a:r>
              <a:r>
                <a:rPr b="1" dirty="0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 </a:t>
              </a:r>
              <a:r>
                <a:rPr b="1" dirty="0" err="1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남기지</a:t>
              </a:r>
              <a:r>
                <a:rPr b="1" dirty="0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 </a:t>
              </a:r>
              <a:r>
                <a:rPr b="1" dirty="0" err="1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않고</a:t>
              </a:r>
              <a:r>
                <a:rPr b="1" dirty="0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 </a:t>
              </a:r>
              <a:r>
                <a:rPr b="1" dirty="0" err="1">
                  <a:solidFill>
                    <a:schemeClr val="accent1">
                      <a:lumMod val="75000"/>
                      <a:alpha val="85000"/>
                    </a:schemeClr>
                  </a:solidFill>
                  <a:latin typeface="JASO Sans" panose="020B0600000101010101" charset="-127"/>
                  <a:ea typeface="JASO Sans" panose="020B0600000101010101" charset="-127"/>
                </a:rPr>
                <a:t>제거</a:t>
              </a:r>
              <a:endParaRPr b="1" dirty="0">
                <a:solidFill>
                  <a:schemeClr val="accent1">
                    <a:lumMod val="75000"/>
                    <a:alpha val="85000"/>
                  </a:schemeClr>
                </a:solidFill>
                <a:latin typeface="JASO Sans" panose="020B0600000101010101" charset="-127"/>
                <a:ea typeface="JASO Sans" panose="020B0600000101010101" charset="-127"/>
              </a:endParaRPr>
            </a:p>
          </p:txBody>
        </p:sp>
        <p:pic>
          <p:nvPicPr>
            <p:cNvPr id="9" name="Icon (TextBox 4)" descr="check_ico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4590" y="7042926"/>
              <a:ext cx="300000" cy="300000"/>
            </a:xfrm>
            <a:prstGeom prst="rect">
              <a:avLst/>
            </a:prstGeom>
          </p:spPr>
        </p:pic>
        <p:pic>
          <p:nvPicPr>
            <p:cNvPr id="10" name="Icon (TextBox 6)" descr="check_ico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4590" y="8016626"/>
              <a:ext cx="300000" cy="3000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Card"/>
          <p:cNvSpPr/>
          <p:nvPr/>
        </p:nvSpPr>
        <p:spPr>
          <a:xfrm>
            <a:off x="1028700" y="1550000"/>
            <a:ext cx="16580689" cy="69082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>
                <a:solidFill>
                  <a:srgbClr val="222222"/>
                </a:solidFill>
                <a:latin typeface="JASO Sans Bold"/>
              </a:rPr>
              <a:t>2.2 EDA — 클래스 분포 (Class)</a:t>
            </a:r>
          </a:p>
        </p:txBody>
      </p:sp>
      <p:pic>
        <p:nvPicPr>
          <p:cNvPr id="3" name="Picture 2" descr="credit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14" y="1630682"/>
            <a:ext cx="7227272" cy="4820866"/>
          </a:xfrm>
          <a:prstGeom prst="rect">
            <a:avLst/>
          </a:prstGeom>
        </p:spPr>
      </p:pic>
      <p:pic>
        <p:nvPicPr>
          <p:cNvPr id="4" name="Picture 3" descr="credit_corr.png"/>
          <p:cNvPicPr>
            <a:picLocks noChangeAspect="1"/>
          </p:cNvPicPr>
          <p:nvPr/>
        </p:nvPicPr>
        <p:blipFill>
          <a:blip r:embed="rId3"/>
          <a:srcRect l="391" t="46634" r="-391" b="-792"/>
          <a:stretch>
            <a:fillRect/>
          </a:stretch>
        </p:blipFill>
        <p:spPr>
          <a:xfrm>
            <a:off x="9500364" y="2059816"/>
            <a:ext cx="8109024" cy="43917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8700" y="6517613"/>
            <a:ext cx="7915300" cy="224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그림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2-2. Class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분포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(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로그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스케일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4000" y="6517613"/>
            <a:ext cx="7915300" cy="2245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그림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2-3. 31개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변수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전체의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피어슨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상관계수</a:t>
            </a:r>
            <a:r>
              <a:rPr sz="14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sz="14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히트맵</a:t>
            </a:r>
            <a:endParaRPr sz="1400" b="0" dirty="0">
              <a:solidFill>
                <a:srgbClr val="222222">
                  <a:alpha val="85000"/>
                </a:srgbClr>
              </a:solidFill>
              <a:latin typeface="JASO Sans"/>
            </a:endParaRPr>
          </a:p>
        </p:txBody>
      </p:sp>
      <p:sp>
        <p:nvSpPr>
          <p:cNvPr id="11" name="Divider"/>
          <p:cNvSpPr/>
          <p:nvPr/>
        </p:nvSpPr>
        <p:spPr>
          <a:xfrm flipH="1">
            <a:off x="9143999" y="1669851"/>
            <a:ext cx="45719" cy="6317702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4C0E43-8F07-4A75-591A-4B6FC3B5E9C9}"/>
              </a:ext>
            </a:extLst>
          </p:cNvPr>
          <p:cNvSpPr/>
          <p:nvPr/>
        </p:nvSpPr>
        <p:spPr>
          <a:xfrm>
            <a:off x="9513810" y="5330711"/>
            <a:ext cx="6622661" cy="975960"/>
          </a:xfrm>
          <a:prstGeom prst="rect">
            <a:avLst/>
          </a:prstGeom>
          <a:noFill/>
          <a:ln w="381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Card"/>
          <p:cNvSpPr/>
          <p:nvPr/>
        </p:nvSpPr>
        <p:spPr>
          <a:xfrm>
            <a:off x="934571" y="1675000"/>
            <a:ext cx="16580689" cy="602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2.3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결과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지표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정의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411467"/>
              </p:ext>
            </p:extLst>
          </p:nvPr>
        </p:nvGraphicFramePr>
        <p:xfrm>
          <a:off x="1028700" y="1900000"/>
          <a:ext cx="16230600" cy="4599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지표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정의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이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데이터에서의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역할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lnB w="38100" cmpd="sng">
                      <a:noFill/>
                    </a:lnB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Recall (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재현율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)</a:t>
                      </a: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실제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중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모델이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찾아낸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최우선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—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놓친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사기는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금전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손실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Precision (정밀도)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예측한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것 중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실제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비율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너무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낮으면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정상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거래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차단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급증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F1-Score</a:t>
                      </a: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정밀도·재현율의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조화평균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재현율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편중을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견제하는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균형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B w="12700" cmpd="sng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전체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임곗값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TPR-FPR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트레이드오프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모델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판별력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비교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L w="12700" cmpd="sng">
                      <a:noFill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</a:lnT>
                    <a:lnB w="2857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66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AUPRC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22222"/>
                          </a:solidFill>
                          <a:latin typeface="JASO Sans"/>
                        </a:rPr>
                        <a:t>Precision-Recall 곡선의 면적</a:t>
                      </a: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극단적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불균형에서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ROC-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AUC를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보완하는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지표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28700" y="7084564"/>
            <a:ext cx="162306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z="2400" b="1" dirty="0">
                <a:solidFill>
                  <a:srgbClr val="3970CF"/>
                </a:solidFill>
                <a:latin typeface="JASO Sans Bold"/>
              </a:rPr>
              <a:t>이 프로젝트의 핵심 의도 </a:t>
            </a:r>
            <a:r>
              <a:rPr lang="en-US" altLang="ko-KR" sz="2400" b="1" dirty="0">
                <a:solidFill>
                  <a:srgbClr val="3970CF"/>
                </a:solidFill>
                <a:latin typeface="JASO Sans Bold"/>
              </a:rPr>
              <a:t>—</a:t>
            </a:r>
            <a:r>
              <a:rPr lang="ko-KR" altLang="en-US" sz="24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2400" b="1" dirty="0" err="1">
                <a:solidFill>
                  <a:srgbClr val="3970CF"/>
                </a:solidFill>
                <a:latin typeface="JASO Sans Bold"/>
              </a:rPr>
              <a:t>정밀도와</a:t>
            </a:r>
            <a:r>
              <a:rPr sz="24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2400" b="1" dirty="0" err="1">
                <a:solidFill>
                  <a:srgbClr val="3970CF"/>
                </a:solidFill>
                <a:latin typeface="JASO Sans Bold"/>
              </a:rPr>
              <a:t>재현율</a:t>
            </a:r>
            <a:r>
              <a:rPr sz="2400" b="1" dirty="0">
                <a:solidFill>
                  <a:srgbClr val="3970CF"/>
                </a:solidFill>
                <a:latin typeface="JASO Sans Bold"/>
              </a:rPr>
              <a:t> 중 </a:t>
            </a:r>
            <a:r>
              <a:rPr sz="2400" b="1" dirty="0" err="1">
                <a:solidFill>
                  <a:srgbClr val="3970CF"/>
                </a:solidFill>
                <a:latin typeface="JASO Sans Bold"/>
              </a:rPr>
              <a:t>재현율을</a:t>
            </a:r>
            <a:r>
              <a:rPr sz="2400" b="1" dirty="0">
                <a:solidFill>
                  <a:srgbClr val="3970CF"/>
                </a:solidFill>
                <a:latin typeface="JASO Sans Bold"/>
              </a:rPr>
              <a:t> </a:t>
            </a:r>
            <a:r>
              <a:rPr sz="2400" b="1" dirty="0" err="1">
                <a:solidFill>
                  <a:srgbClr val="3970CF"/>
                </a:solidFill>
                <a:latin typeface="JASO Sans Bold"/>
              </a:rPr>
              <a:t>우선한다</a:t>
            </a:r>
            <a:endParaRPr sz="2400" b="1" dirty="0">
              <a:solidFill>
                <a:srgbClr val="3970CF"/>
              </a:solidFill>
              <a:latin typeface="JASO Sans Bol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6EE8F0-2A87-A6B7-5917-C284B023B4F1}"/>
              </a:ext>
            </a:extLst>
          </p:cNvPr>
          <p:cNvSpPr/>
          <p:nvPr/>
        </p:nvSpPr>
        <p:spPr>
          <a:xfrm>
            <a:off x="990600" y="2628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472F8E-7CCC-EBA3-AB04-106BA661CA8A}"/>
              </a:ext>
            </a:extLst>
          </p:cNvPr>
          <p:cNvSpPr/>
          <p:nvPr/>
        </p:nvSpPr>
        <p:spPr>
          <a:xfrm>
            <a:off x="990600" y="4914900"/>
            <a:ext cx="16230600" cy="76200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ard"/>
          <p:cNvSpPr/>
          <p:nvPr/>
        </p:nvSpPr>
        <p:spPr>
          <a:xfrm>
            <a:off x="826995" y="1675000"/>
            <a:ext cx="16580689" cy="58259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800" b="1">
                <a:solidFill>
                  <a:srgbClr val="222222"/>
                </a:solidFill>
                <a:latin typeface="JASO Sans Bold"/>
              </a:rPr>
              <a:t>2.4 데이터 전처리 &amp; 클리닝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260353"/>
              </p:ext>
            </p:extLst>
          </p:nvPr>
        </p:nvGraphicFramePr>
        <p:xfrm>
          <a:off x="1287789" y="2646385"/>
          <a:ext cx="15659100" cy="33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19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5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018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처리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내용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0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근거</a:t>
                      </a:r>
                      <a:endParaRPr sz="20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761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Time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거래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순번성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정보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여부와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직접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관련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없음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노이즈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92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Amount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로그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변환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log1p(Amount) →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Amount_Scaled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컬럼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추가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ko-KR" altLang="en-US" sz="1800" b="0" dirty="0">
                          <a:solidFill>
                            <a:srgbClr val="222222"/>
                          </a:solidFill>
                          <a:latin typeface="JASO Sans" panose="020B0600000101010101" charset="-127"/>
                          <a:ea typeface="JASO Sans" panose="020B0600000101010101" charset="-127"/>
                        </a:rPr>
                        <a:t>극심한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왜도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완화</a:t>
                      </a:r>
                      <a:r>
                        <a:rPr lang="en-US"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(16.98 -&gt; 0.16)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93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V14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이상치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사기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(Class=1)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데이터의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V14 IQR×1.5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범위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밖 값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제거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상관관계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상위권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변수의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잡음</a:t>
                      </a:r>
                      <a:r>
                        <a:rPr sz="1800" b="0" dirty="0">
                          <a:solidFill>
                            <a:srgbClr val="222222"/>
                          </a:solidFill>
                          <a:latin typeface="JASO San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축소</a:t>
                      </a:r>
                      <a:endParaRPr sz="18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1028700" y="1333500"/>
            <a:ext cx="16580689" cy="75903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620000"/>
            <a:ext cx="162306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222222"/>
                </a:solidFill>
                <a:latin typeface="JASO Sans Bold"/>
              </a:rPr>
              <a:t>2.5 왜 리샘플링이 필요한가 — 샘플링 전략 3종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603850"/>
              </p:ext>
            </p:extLst>
          </p:nvPr>
        </p:nvGraphicFramePr>
        <p:xfrm>
          <a:off x="3162300" y="1571900"/>
          <a:ext cx="119634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기법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학습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데이터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 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변화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정밀도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재현율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언더샘플링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199,362건 → 684건 (342/342)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0.0478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0.8844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0.0906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SMOTE (</a:t>
                      </a:r>
                      <a:r>
                        <a:rPr sz="1600" b="1" dirty="0" err="1">
                          <a:solidFill>
                            <a:srgbClr val="2664B4"/>
                          </a:solidFill>
                          <a:latin typeface="JASO Sans Bold"/>
                        </a:rPr>
                        <a:t>채택</a:t>
                      </a: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199,362건 → 398,040건 (199,020/199,020)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SMOTE-ENN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199,362건 → 397,717건 (199,020/198,697)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0.7453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0.7792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 descr="credit_smote_scatter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1580" y="3848100"/>
            <a:ext cx="10769686" cy="469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853655" y="1378890"/>
            <a:ext cx="16580689" cy="6684557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800" b="1" dirty="0">
                <a:solidFill>
                  <a:srgbClr val="222222"/>
                </a:solidFill>
                <a:latin typeface="JASO Sans Bold"/>
              </a:rPr>
              <a:t>5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GridSearchCV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튜닝</a:t>
            </a:r>
            <a:r>
              <a:rPr sz="28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8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endParaRPr sz="2800" b="1" dirty="0">
              <a:solidFill>
                <a:srgbClr val="222222"/>
              </a:solidFill>
              <a:latin typeface="JASO Sans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8700" y="1600000"/>
            <a:ext cx="162306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00" b="1">
                <a:solidFill>
                  <a:srgbClr val="3970CF"/>
                </a:solidFill>
                <a:latin typeface="JASO Sans Bold"/>
              </a:rPr>
              <a:t>Best Params: n_estimators=1000, max_depth=None, min_samples_leaf=1  →  CV ROC-AUC 0.9811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02742"/>
              </p:ext>
            </p:extLst>
          </p:nvPr>
        </p:nvGraphicFramePr>
        <p:xfrm>
          <a:off x="3219450" y="2100000"/>
          <a:ext cx="11849100" cy="459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1111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n_estimators</a:t>
                      </a:r>
                      <a:endParaRPr sz="14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max_depth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min_samples_leaf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CV 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JASO Sans Bold"/>
                        </a:rPr>
                        <a:t>순위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0.9811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664B4"/>
                          </a:solidFill>
                          <a:latin typeface="JASO Sans Bold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0.9810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1000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0.9802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0.9792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0.9791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111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300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None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22222"/>
                          </a:solidFill>
                          <a:latin typeface="JASO Sans"/>
                        </a:rPr>
                        <a:t>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0.9761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222222"/>
                          </a:solidFill>
                          <a:latin typeface="JASO Sans"/>
                        </a:rPr>
                        <a:t>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Card"/>
          <p:cNvSpPr/>
          <p:nvPr/>
        </p:nvSpPr>
        <p:spPr>
          <a:xfrm>
            <a:off x="853655" y="1371266"/>
            <a:ext cx="16580689" cy="8524945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600" b="1" dirty="0">
                <a:solidFill>
                  <a:srgbClr val="222222"/>
                </a:solidFill>
                <a:latin typeface="JASO Sans Bold"/>
              </a:rPr>
              <a:t>6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성능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지표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결과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— </a:t>
            </a:r>
            <a:r>
              <a:rPr sz="2600" b="1" dirty="0" err="1">
                <a:solidFill>
                  <a:srgbClr val="222222"/>
                </a:solidFill>
                <a:latin typeface="JASO Sans Bold"/>
              </a:rPr>
              <a:t>RandomForest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+ SMOTE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632702"/>
              </p:ext>
            </p:extLst>
          </p:nvPr>
        </p:nvGraphicFramePr>
        <p:xfrm>
          <a:off x="1767601" y="2559728"/>
          <a:ext cx="14752798" cy="283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7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7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7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7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75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835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임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계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값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35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0.500 (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기본값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)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0.8712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0.7823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0.8244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350"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0.727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-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0.9558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0.8308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35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0.305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35449" y="6784123"/>
            <a:ext cx="9817100" cy="353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2000" b="1" dirty="0" err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재현율</a:t>
            </a:r>
            <a:r>
              <a:rPr lang="ko-KR" altLang="en-US" sz="2000" b="1" dirty="0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 확보</a:t>
            </a:r>
            <a:r>
              <a:rPr lang="ko-KR" altLang="en-US" sz="20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를 위해 </a:t>
            </a:r>
            <a:r>
              <a:rPr lang="ko-KR" altLang="en-US" sz="2000" b="0" dirty="0" err="1">
                <a:solidFill>
                  <a:srgbClr val="222222">
                    <a:alpha val="85000"/>
                  </a:srgbClr>
                </a:solidFill>
                <a:latin typeface="JASO Sans"/>
              </a:rPr>
              <a:t>임계값을</a:t>
            </a:r>
            <a:r>
              <a:rPr lang="ko-KR" altLang="en-US" sz="20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 </a:t>
            </a:r>
            <a:r>
              <a:rPr lang="en-US" altLang="ko-KR" sz="20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0.305</a:t>
            </a:r>
            <a:r>
              <a:rPr lang="ko-KR" altLang="en-US" sz="2000" b="0" dirty="0">
                <a:solidFill>
                  <a:srgbClr val="222222">
                    <a:alpha val="85000"/>
                  </a:srgbClr>
                </a:solidFill>
                <a:latin typeface="JASO Sans"/>
              </a:rPr>
              <a:t>로 낮춰 </a:t>
            </a:r>
            <a:r>
              <a:rPr sz="2000" b="1" dirty="0" err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테스트셋</a:t>
            </a:r>
            <a:r>
              <a:rPr sz="2000" b="1" dirty="0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 </a:t>
            </a:r>
            <a:r>
              <a:rPr sz="2000" b="1" dirty="0" err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사기</a:t>
            </a:r>
            <a:r>
              <a:rPr sz="2000" b="1" dirty="0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 147건 중 123건(84%) </a:t>
            </a:r>
            <a:r>
              <a:rPr sz="2000" b="1" dirty="0" err="1">
                <a:solidFill>
                  <a:schemeClr val="accent1">
                    <a:lumMod val="75000"/>
                    <a:alpha val="85000"/>
                  </a:schemeClr>
                </a:solidFill>
                <a:latin typeface="JASO Sans"/>
              </a:rPr>
              <a:t>탐지</a:t>
            </a:r>
            <a:endParaRPr sz="2000" b="1" dirty="0">
              <a:solidFill>
                <a:schemeClr val="accent1">
                  <a:lumMod val="75000"/>
                  <a:alpha val="85000"/>
                </a:schemeClr>
              </a:solidFill>
              <a:latin typeface="JAS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1808857"/>
            <a:ext cx="16580689" cy="6630853"/>
            <a:chOff x="0" y="0"/>
            <a:chExt cx="4366930" cy="17463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66930" cy="1746398"/>
            </a:xfrm>
            <a:custGeom>
              <a:avLst/>
              <a:gdLst/>
              <a:ahLst/>
              <a:cxnLst/>
              <a:rect l="l" t="t" r="r" b="b"/>
              <a:pathLst>
                <a:path w="4366930" h="1746398">
                  <a:moveTo>
                    <a:pt x="0" y="0"/>
                  </a:moveTo>
                  <a:lnTo>
                    <a:pt x="4366930" y="0"/>
                  </a:lnTo>
                  <a:lnTo>
                    <a:pt x="4366930" y="1746398"/>
                  </a:lnTo>
                  <a:lnTo>
                    <a:pt x="0" y="1746398"/>
                  </a:lnTo>
                  <a:close/>
                </a:path>
              </a:pathLst>
            </a:custGeom>
            <a:solidFill>
              <a:srgbClr val="FCFCFC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366930" cy="1774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3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076012" y="3377456"/>
            <a:ext cx="2144954" cy="3705225"/>
            <a:chOff x="0" y="0"/>
            <a:chExt cx="610115" cy="874319"/>
          </a:xfrm>
        </p:grpSpPr>
        <p:sp>
          <p:nvSpPr>
            <p:cNvPr id="1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924652" y="393411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2076012" y="3553001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18553" y="4660410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전처리</a:t>
            </a:r>
          </a:p>
        </p:txBody>
      </p:sp>
      <p:sp>
        <p:nvSpPr>
          <p:cNvPr id="20" name="TextBox 11"/>
          <p:cNvSpPr txBox="1"/>
          <p:nvPr/>
        </p:nvSpPr>
        <p:spPr>
          <a:xfrm>
            <a:off x="2277862" y="5648081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Time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제거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Amount log1p</a:t>
            </a:r>
          </a:p>
        </p:txBody>
      </p:sp>
      <p:grpSp>
        <p:nvGrpSpPr>
          <p:cNvPr id="21" name="Group 7"/>
          <p:cNvGrpSpPr/>
          <p:nvPr/>
        </p:nvGrpSpPr>
        <p:grpSpPr>
          <a:xfrm>
            <a:off x="4544168" y="3377456"/>
            <a:ext cx="2144954" cy="3705225"/>
            <a:chOff x="0" y="0"/>
            <a:chExt cx="610115" cy="874319"/>
          </a:xfrm>
        </p:grpSpPr>
        <p:sp>
          <p:nvSpPr>
            <p:cNvPr id="22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3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4" name="Freeform 10"/>
          <p:cNvSpPr/>
          <p:nvPr/>
        </p:nvSpPr>
        <p:spPr>
          <a:xfrm>
            <a:off x="5392808" y="393411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4544168" y="3553001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2</a:t>
            </a:r>
          </a:p>
        </p:txBody>
      </p:sp>
      <p:sp>
        <p:nvSpPr>
          <p:cNvPr id="25" name="TextBox 12"/>
          <p:cNvSpPr txBox="1"/>
          <p:nvPr/>
        </p:nvSpPr>
        <p:spPr>
          <a:xfrm>
            <a:off x="4626987" y="4660410"/>
            <a:ext cx="2002413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데이터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분할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4746018" y="5648081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train/test 7:3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(stratify)</a:t>
            </a:r>
          </a:p>
        </p:txBody>
      </p:sp>
      <p:grpSp>
        <p:nvGrpSpPr>
          <p:cNvPr id="27" name="Group 7"/>
          <p:cNvGrpSpPr/>
          <p:nvPr/>
        </p:nvGrpSpPr>
        <p:grpSpPr>
          <a:xfrm>
            <a:off x="7012324" y="3377456"/>
            <a:ext cx="2144954" cy="3705225"/>
            <a:chOff x="0" y="0"/>
            <a:chExt cx="610115" cy="874319"/>
          </a:xfrm>
        </p:grpSpPr>
        <p:sp>
          <p:nvSpPr>
            <p:cNvPr id="2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0" name="Freeform 10"/>
          <p:cNvSpPr/>
          <p:nvPr/>
        </p:nvSpPr>
        <p:spPr>
          <a:xfrm>
            <a:off x="7860964" y="393411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7012324" y="3553001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3</a:t>
            </a:r>
          </a:p>
        </p:txBody>
      </p:sp>
      <p:sp>
        <p:nvSpPr>
          <p:cNvPr id="31" name="TextBox 12"/>
          <p:cNvSpPr txBox="1"/>
          <p:nvPr/>
        </p:nvSpPr>
        <p:spPr>
          <a:xfrm>
            <a:off x="7086600" y="4660410"/>
            <a:ext cx="1989135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이상치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제거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32" name="TextBox 11"/>
          <p:cNvSpPr txBox="1"/>
          <p:nvPr/>
        </p:nvSpPr>
        <p:spPr>
          <a:xfrm>
            <a:off x="7214174" y="5648081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V14 IQR×1.5</a:t>
            </a: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개별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제거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33" name="Group 7"/>
          <p:cNvGrpSpPr/>
          <p:nvPr/>
        </p:nvGrpSpPr>
        <p:grpSpPr>
          <a:xfrm>
            <a:off x="9480480" y="3377456"/>
            <a:ext cx="2144954" cy="3705225"/>
            <a:chOff x="0" y="0"/>
            <a:chExt cx="610115" cy="874319"/>
          </a:xfrm>
        </p:grpSpPr>
        <p:sp>
          <p:nvSpPr>
            <p:cNvPr id="34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5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36" name="Freeform 10"/>
          <p:cNvSpPr/>
          <p:nvPr/>
        </p:nvSpPr>
        <p:spPr>
          <a:xfrm>
            <a:off x="10329120" y="393411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/>
          <p:cNvSpPr txBox="1"/>
          <p:nvPr/>
        </p:nvSpPr>
        <p:spPr>
          <a:xfrm>
            <a:off x="9480480" y="3553001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4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9623021" y="4660410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SMOTE</a:t>
            </a:r>
          </a:p>
        </p:txBody>
      </p:sp>
      <p:sp>
        <p:nvSpPr>
          <p:cNvPr id="38" name="TextBox 11"/>
          <p:cNvSpPr txBox="1"/>
          <p:nvPr/>
        </p:nvSpPr>
        <p:spPr>
          <a:xfrm>
            <a:off x="9682330" y="5648081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train에만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오버샘플링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grpSp>
        <p:nvGrpSpPr>
          <p:cNvPr id="39" name="Group 7"/>
          <p:cNvGrpSpPr/>
          <p:nvPr/>
        </p:nvGrpSpPr>
        <p:grpSpPr>
          <a:xfrm>
            <a:off x="11948636" y="3377456"/>
            <a:ext cx="2144954" cy="3705225"/>
            <a:chOff x="0" y="0"/>
            <a:chExt cx="610115" cy="874319"/>
          </a:xfrm>
        </p:grpSpPr>
        <p:sp>
          <p:nvSpPr>
            <p:cNvPr id="40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1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42" name="Freeform 10"/>
          <p:cNvSpPr/>
          <p:nvPr/>
        </p:nvSpPr>
        <p:spPr>
          <a:xfrm>
            <a:off x="12797276" y="393411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11948636" y="3553001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5</a:t>
            </a:r>
          </a:p>
        </p:txBody>
      </p:sp>
      <p:sp>
        <p:nvSpPr>
          <p:cNvPr id="43" name="TextBox 12"/>
          <p:cNvSpPr txBox="1"/>
          <p:nvPr/>
        </p:nvSpPr>
        <p:spPr>
          <a:xfrm>
            <a:off x="12091177" y="4660410"/>
            <a:ext cx="1859872" cy="38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모델 학습</a:t>
            </a:r>
          </a:p>
        </p:txBody>
      </p:sp>
      <p:sp>
        <p:nvSpPr>
          <p:cNvPr id="44" name="TextBox 11"/>
          <p:cNvSpPr txBox="1"/>
          <p:nvPr/>
        </p:nvSpPr>
        <p:spPr>
          <a:xfrm>
            <a:off x="12150486" y="5648081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RandomForest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(n=1000)</a:t>
            </a:r>
          </a:p>
        </p:txBody>
      </p:sp>
      <p:grpSp>
        <p:nvGrpSpPr>
          <p:cNvPr id="45" name="Group 7"/>
          <p:cNvGrpSpPr/>
          <p:nvPr/>
        </p:nvGrpSpPr>
        <p:grpSpPr>
          <a:xfrm>
            <a:off x="14416792" y="3377456"/>
            <a:ext cx="2144954" cy="3705225"/>
            <a:chOff x="0" y="0"/>
            <a:chExt cx="610115" cy="8743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0115" cy="874319"/>
            </a:xfrm>
            <a:custGeom>
              <a:avLst/>
              <a:gdLst/>
              <a:ahLst/>
              <a:cxnLst/>
              <a:rect l="l" t="t" r="r" b="b"/>
              <a:pathLst>
                <a:path w="610115" h="874319">
                  <a:moveTo>
                    <a:pt x="0" y="0"/>
                  </a:moveTo>
                  <a:lnTo>
                    <a:pt x="610115" y="0"/>
                  </a:lnTo>
                  <a:lnTo>
                    <a:pt x="610115" y="874319"/>
                  </a:lnTo>
                  <a:lnTo>
                    <a:pt x="0" y="87431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610115" cy="8838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46" name="Freeform 10"/>
          <p:cNvSpPr/>
          <p:nvPr/>
        </p:nvSpPr>
        <p:spPr>
          <a:xfrm>
            <a:off x="15265432" y="393411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/>
          <p:cNvSpPr txBox="1"/>
          <p:nvPr/>
        </p:nvSpPr>
        <p:spPr>
          <a:xfrm>
            <a:off x="14416792" y="3553001"/>
            <a:ext cx="2144954" cy="3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3970CF"/>
                </a:solidFill>
                <a:latin typeface="JASO Sans Bold"/>
              </a:rPr>
              <a:t>STEP 6</a:t>
            </a:r>
          </a:p>
        </p:txBody>
      </p:sp>
      <p:sp>
        <p:nvSpPr>
          <p:cNvPr id="47" name="TextBox 12"/>
          <p:cNvSpPr txBox="1"/>
          <p:nvPr/>
        </p:nvSpPr>
        <p:spPr>
          <a:xfrm>
            <a:off x="14478000" y="4660410"/>
            <a:ext cx="2002413" cy="386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</a:pP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임</a:t>
            </a:r>
            <a:r>
              <a:rPr lang="ko-KR" alt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계</a:t>
            </a:r>
            <a:r>
              <a:rPr lang="en-US" sz="3000" b="1" spc="-150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값 </a:t>
            </a:r>
            <a:r>
              <a:rPr lang="en-US" sz="3000" b="1" spc="-150" dirty="0" err="1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조정</a:t>
            </a:r>
            <a:endParaRPr lang="en-US" sz="3000" b="1" spc="-150" dirty="0">
              <a:solidFill>
                <a:srgbClr val="3970CF"/>
              </a:solidFill>
              <a:latin typeface="JASO Sans Bold"/>
              <a:ea typeface="JASO Sans Bold"/>
              <a:cs typeface="JASO Sans Bold"/>
              <a:sym typeface="JASO Sans Bold"/>
            </a:endParaRPr>
          </a:p>
        </p:txBody>
      </p:sp>
      <p:sp>
        <p:nvSpPr>
          <p:cNvPr id="48" name="TextBox 11"/>
          <p:cNvSpPr txBox="1"/>
          <p:nvPr/>
        </p:nvSpPr>
        <p:spPr>
          <a:xfrm>
            <a:off x="14618642" y="5648081"/>
            <a:ext cx="1741254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00"/>
              </a:lnSpc>
            </a:pP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재현율</a:t>
            </a: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sz="1800" spc="-90" dirty="0" err="1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우선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  <a:p>
            <a:pPr marL="0" lvl="0" indent="0" algn="ctr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(0.305)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7EBA14-6DE7-F53D-9C29-57560C2726C1}"/>
              </a:ext>
            </a:extLst>
          </p:cNvPr>
          <p:cNvSpPr txBox="1"/>
          <p:nvPr/>
        </p:nvSpPr>
        <p:spPr>
          <a:xfrm>
            <a:off x="1028700" y="700000"/>
            <a:ext cx="162306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600" b="1" dirty="0">
                <a:solidFill>
                  <a:srgbClr val="222222"/>
                </a:solidFill>
                <a:latin typeface="JASO Sans Bold"/>
              </a:rPr>
              <a:t>6</a:t>
            </a:r>
            <a:r>
              <a:rPr sz="26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lang="ko-KR" altLang="en-US" sz="2600" b="1" dirty="0">
                <a:solidFill>
                  <a:srgbClr val="222222"/>
                </a:solidFill>
                <a:latin typeface="JASO Sans Bold"/>
              </a:rPr>
              <a:t>파이프라인 요약</a:t>
            </a:r>
            <a:endParaRPr sz="2600" b="1" dirty="0">
              <a:solidFill>
                <a:srgbClr val="222222"/>
              </a:solidFill>
              <a:latin typeface="JASO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ard"/>
          <p:cNvSpPr/>
          <p:nvPr/>
        </p:nvSpPr>
        <p:spPr>
          <a:xfrm>
            <a:off x="1028700" y="1567399"/>
            <a:ext cx="16580689" cy="6126599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700" b="1" dirty="0">
                <a:solidFill>
                  <a:srgbClr val="222222"/>
                </a:solidFill>
                <a:latin typeface="JASO Sans Bold"/>
              </a:rPr>
              <a:t>2.</a:t>
            </a:r>
            <a:r>
              <a:rPr lang="en-US" sz="2700" b="1" dirty="0">
                <a:solidFill>
                  <a:srgbClr val="222222"/>
                </a:solidFill>
                <a:latin typeface="JASO Sans Bold"/>
              </a:rPr>
              <a:t>7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모델별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비교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 (SMOTE </a:t>
            </a:r>
            <a:r>
              <a:rPr sz="2700" b="1" dirty="0" err="1">
                <a:solidFill>
                  <a:srgbClr val="222222"/>
                </a:solidFill>
                <a:latin typeface="JASO Sans Bold"/>
              </a:rPr>
              <a:t>적용</a:t>
            </a:r>
            <a:r>
              <a:rPr sz="2700" b="1" dirty="0">
                <a:solidFill>
                  <a:srgbClr val="222222"/>
                </a:solidFill>
                <a:latin typeface="JASO Sans Bold"/>
              </a:rPr>
              <a:t>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606124"/>
              </p:ext>
            </p:extLst>
          </p:nvPr>
        </p:nvGraphicFramePr>
        <p:xfrm>
          <a:off x="1818599" y="2019300"/>
          <a:ext cx="14650802" cy="5374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17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63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95783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JASO Sans Bold"/>
                        </a:rPr>
                        <a:t>모델</a:t>
                      </a:r>
                      <a:endParaRPr sz="1800" b="1" dirty="0">
                        <a:solidFill>
                          <a:srgbClr val="FFFFFF"/>
                        </a:solidFill>
                        <a:latin typeface="JASO Sans Bold"/>
                      </a:endParaRP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Accuracy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Precision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Recall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F1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ROC-AUC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JASO Sans Bold"/>
                        </a:rPr>
                        <a:t>AUPRC</a:t>
                      </a:r>
                    </a:p>
                  </a:txBody>
                  <a:tcPr marL="60000" marR="60000" marT="20000" marB="20000" anchor="ctr">
                    <a:solidFill>
                      <a:srgbClr val="3970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LightGBM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0.8731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0.7959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0.8327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0.9720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0.8342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 dirty="0" err="1">
                          <a:solidFill>
                            <a:srgbClr val="222222"/>
                          </a:solidFill>
                          <a:latin typeface="JASO Sans"/>
                        </a:rPr>
                        <a:t>XGBoost</a:t>
                      </a:r>
                      <a:endParaRPr sz="1600" b="0" dirty="0">
                        <a:solidFill>
                          <a:srgbClr val="222222"/>
                        </a:solidFill>
                        <a:latin typeface="JASO Sans"/>
                      </a:endParaRP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0.8276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0.8163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0.8219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0.9771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0.8350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64B4"/>
                          </a:solidFill>
                          <a:latin typeface="JASO Sans Bold"/>
                        </a:rPr>
                        <a:t>RandomForest (채택)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0.9992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0.7500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0.8367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0.7910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0.9854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2664B4"/>
                          </a:solidFill>
                          <a:latin typeface="JASO Sans Bold"/>
                        </a:rPr>
                        <a:t>0.8314</a:t>
                      </a:r>
                    </a:p>
                  </a:txBody>
                  <a:tcPr marL="60000" marR="60000" marT="20000" marB="20000" anchor="ctr">
                    <a:solidFill>
                      <a:srgbClr val="D6E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GradientBoost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0.9993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0.8438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0.7347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0.7855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0.9749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0.6687</a:t>
                      </a:r>
                    </a:p>
                  </a:txBody>
                  <a:tcPr marL="60000" marR="60000" marT="20000" marB="20000" anchor="ctr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5783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LogisticRegression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0.9994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0.8550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0.7619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JASO Sans"/>
                        </a:rPr>
                        <a:t>0.8057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0.9675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222222"/>
                          </a:solidFill>
                          <a:latin typeface="JASO Sans"/>
                        </a:rPr>
                        <a:t>0.7024</a:t>
                      </a:r>
                    </a:p>
                  </a:txBody>
                  <a:tcPr marL="60000" marR="60000"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Card"/>
          <p:cNvSpPr/>
          <p:nvPr/>
        </p:nvSpPr>
        <p:spPr>
          <a:xfrm>
            <a:off x="1028700" y="1825000"/>
            <a:ext cx="16580689" cy="5075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028700" y="700000"/>
            <a:ext cx="16230600" cy="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222222"/>
                </a:solidFill>
                <a:latin typeface="JASO Sans Bold"/>
              </a:rPr>
              <a:t>2장 종합 결론</a:t>
            </a: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19A6B79C-7123-048F-2FC5-F8DA1AC317B9}"/>
              </a:ext>
            </a:extLst>
          </p:cNvPr>
          <p:cNvGrpSpPr/>
          <p:nvPr/>
        </p:nvGrpSpPr>
        <p:grpSpPr>
          <a:xfrm>
            <a:off x="2133600" y="2552849"/>
            <a:ext cx="14486065" cy="1114574"/>
            <a:chOff x="0" y="0"/>
            <a:chExt cx="3418265" cy="263005"/>
          </a:xfrm>
        </p:grpSpPr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F8D9065C-8E87-1E47-1877-C3457F6C6983}"/>
                </a:ext>
              </a:extLst>
            </p:cNvPr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ahLst/>
              <a:cxn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490A942C-7369-99CA-A27F-D2A282B2E10D}"/>
                </a:ext>
              </a:extLst>
            </p:cNvPr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13" name="Freeform 10">
            <a:extLst>
              <a:ext uri="{FF2B5EF4-FFF2-40B4-BE49-F238E27FC236}">
                <a16:creationId xmlns:a16="http://schemas.microsoft.com/office/drawing/2014/main" id="{3CAEACCA-E5AF-F158-E19D-2DEF573BA7F1}"/>
              </a:ext>
            </a:extLst>
          </p:cNvPr>
          <p:cNvSpPr/>
          <p:nvPr/>
        </p:nvSpPr>
        <p:spPr>
          <a:xfrm>
            <a:off x="2623870" y="2884870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91285A2B-21A3-154D-D72D-FEA976E6ED67}"/>
              </a:ext>
            </a:extLst>
          </p:cNvPr>
          <p:cNvSpPr txBox="1"/>
          <p:nvPr/>
        </p:nvSpPr>
        <p:spPr>
          <a:xfrm>
            <a:off x="3328720" y="2980120"/>
            <a:ext cx="18596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ko-KR" altLang="en-US" sz="2499" b="1" spc="-124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결론</a:t>
            </a:r>
            <a:r>
              <a:rPr lang="en-US" sz="2499" b="1" spc="-124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01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F95348FB-3AC8-98D8-6054-83B14E493000}"/>
              </a:ext>
            </a:extLst>
          </p:cNvPr>
          <p:cNvSpPr txBox="1"/>
          <p:nvPr/>
        </p:nvSpPr>
        <p:spPr>
          <a:xfrm>
            <a:off x="5764142" y="2914398"/>
            <a:ext cx="9685845" cy="309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00"/>
              </a:lnSpc>
            </a:pPr>
            <a:r>
              <a:rPr 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3</a:t>
            </a:r>
            <a:r>
              <a:rPr lang="ko-KR" alt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 샘플링 기법 중 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정상 거래 정보를 보존하는 </a:t>
            </a:r>
            <a:r>
              <a:rPr lang="en-US" altLang="ko-KR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SMOTE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가 정밀도</a:t>
            </a:r>
            <a:r>
              <a:rPr lang="en-US" altLang="ko-KR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-</a:t>
            </a:r>
            <a:r>
              <a:rPr lang="ko-KR" altLang="en-US" b="1" dirty="0" err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재현율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 균형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이 가장 좋았다</a:t>
            </a:r>
            <a:r>
              <a:rPr lang="en-US" altLang="ko-KR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.</a:t>
            </a:r>
            <a:r>
              <a:rPr lang="ko-KR" alt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5E22CA7E-33C5-CE4C-DEE6-A9AD31BC7173}"/>
              </a:ext>
            </a:extLst>
          </p:cNvPr>
          <p:cNvSpPr/>
          <p:nvPr/>
        </p:nvSpPr>
        <p:spPr>
          <a:xfrm>
            <a:off x="5336797" y="2779534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7" name="Group 14">
            <a:extLst>
              <a:ext uri="{FF2B5EF4-FFF2-40B4-BE49-F238E27FC236}">
                <a16:creationId xmlns:a16="http://schemas.microsoft.com/office/drawing/2014/main" id="{548588EF-283A-978D-8A35-232666C46FC5}"/>
              </a:ext>
            </a:extLst>
          </p:cNvPr>
          <p:cNvGrpSpPr/>
          <p:nvPr/>
        </p:nvGrpSpPr>
        <p:grpSpPr>
          <a:xfrm>
            <a:off x="2133600" y="3848175"/>
            <a:ext cx="14486065" cy="1114574"/>
            <a:chOff x="0" y="0"/>
            <a:chExt cx="3418265" cy="263005"/>
          </a:xfrm>
        </p:grpSpPr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E0767799-8C98-42E2-6FBF-41EBA6764B3C}"/>
                </a:ext>
              </a:extLst>
            </p:cNvPr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ahLst/>
              <a:cxn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9" name="TextBox 16">
              <a:extLst>
                <a:ext uri="{FF2B5EF4-FFF2-40B4-BE49-F238E27FC236}">
                  <a16:creationId xmlns:a16="http://schemas.microsoft.com/office/drawing/2014/main" id="{97F9FB56-82BE-78B2-4FA6-5D6400651F51}"/>
                </a:ext>
              </a:extLst>
            </p:cNvPr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0" name="Freeform 17">
            <a:extLst>
              <a:ext uri="{FF2B5EF4-FFF2-40B4-BE49-F238E27FC236}">
                <a16:creationId xmlns:a16="http://schemas.microsoft.com/office/drawing/2014/main" id="{FC2DCE8E-7CDA-9F4B-332D-B495D48FDC3F}"/>
              </a:ext>
            </a:extLst>
          </p:cNvPr>
          <p:cNvSpPr/>
          <p:nvPr/>
        </p:nvSpPr>
        <p:spPr>
          <a:xfrm>
            <a:off x="2623870" y="4180195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8ED9A26F-411C-4294-4649-095756024F46}"/>
              </a:ext>
            </a:extLst>
          </p:cNvPr>
          <p:cNvSpPr txBox="1"/>
          <p:nvPr/>
        </p:nvSpPr>
        <p:spPr>
          <a:xfrm>
            <a:off x="3328720" y="4275446"/>
            <a:ext cx="18596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ko-KR" altLang="en-US" sz="2499" b="1" spc="-124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결론</a:t>
            </a:r>
            <a:r>
              <a:rPr lang="en-US" sz="2499" b="1" spc="-124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02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A9118604-D94D-F647-4097-200E1C77F968}"/>
              </a:ext>
            </a:extLst>
          </p:cNvPr>
          <p:cNvSpPr txBox="1"/>
          <p:nvPr/>
        </p:nvSpPr>
        <p:spPr>
          <a:xfrm>
            <a:off x="5764142" y="4030158"/>
            <a:ext cx="8161845" cy="656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700"/>
              </a:lnSpc>
            </a:pPr>
            <a:r>
              <a:rPr lang="ko-KR" alt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신용카드 사기 탐지 주제에서는 </a:t>
            </a:r>
            <a:r>
              <a:rPr lang="en-US" altLang="ko-KR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5</a:t>
            </a:r>
            <a:r>
              <a:rPr lang="ko-KR" altLang="en-US" sz="1800" spc="-90" dirty="0">
                <a:solidFill>
                  <a:srgbClr val="222222"/>
                </a:solidFill>
                <a:latin typeface="JASO Sans"/>
                <a:ea typeface="JASO Sans"/>
                <a:cs typeface="JASO Sans"/>
                <a:sym typeface="JASO Sans"/>
              </a:rPr>
              <a:t>개 모델 중 </a:t>
            </a:r>
            <a:r>
              <a:rPr lang="en-US" altLang="ko-KR" b="1" dirty="0" err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RandomForest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가 </a:t>
            </a:r>
            <a:r>
              <a:rPr lang="en-US" altLang="ko-KR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ROC-AUC(0.9854)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와 </a:t>
            </a:r>
            <a:r>
              <a:rPr lang="ko-KR" altLang="en-US" b="1" dirty="0" err="1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임계값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 조정 여지에서 가장 우수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했다</a:t>
            </a:r>
            <a:r>
              <a:rPr lang="en-US" altLang="ko-KR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.</a:t>
            </a:r>
            <a:endParaRPr lang="en-US" sz="1800" spc="-90" dirty="0">
              <a:solidFill>
                <a:srgbClr val="222222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  <p:sp>
        <p:nvSpPr>
          <p:cNvPr id="23" name="AutoShape 20">
            <a:extLst>
              <a:ext uri="{FF2B5EF4-FFF2-40B4-BE49-F238E27FC236}">
                <a16:creationId xmlns:a16="http://schemas.microsoft.com/office/drawing/2014/main" id="{48F0D49A-DE63-5683-E49D-3C21A0029A38}"/>
              </a:ext>
            </a:extLst>
          </p:cNvPr>
          <p:cNvSpPr/>
          <p:nvPr/>
        </p:nvSpPr>
        <p:spPr>
          <a:xfrm>
            <a:off x="5336797" y="4074860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12815082-A365-A719-4776-A9D07870DCAE}"/>
              </a:ext>
            </a:extLst>
          </p:cNvPr>
          <p:cNvGrpSpPr/>
          <p:nvPr/>
        </p:nvGrpSpPr>
        <p:grpSpPr>
          <a:xfrm>
            <a:off x="2133600" y="5143500"/>
            <a:ext cx="14486065" cy="1114574"/>
            <a:chOff x="0" y="0"/>
            <a:chExt cx="3418265" cy="263005"/>
          </a:xfrm>
        </p:grpSpPr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87653309-8F24-0DCE-2E63-10C514A7D33F}"/>
                </a:ext>
              </a:extLst>
            </p:cNvPr>
            <p:cNvSpPr/>
            <p:nvPr/>
          </p:nvSpPr>
          <p:spPr>
            <a:xfrm>
              <a:off x="0" y="0"/>
              <a:ext cx="3418265" cy="263005"/>
            </a:xfrm>
            <a:custGeom>
              <a:avLst/>
              <a:gdLst/>
              <a:ahLst/>
              <a:cxnLst/>
              <a:rect l="l" t="t" r="r" b="b"/>
              <a:pathLst>
                <a:path w="3418265" h="263005">
                  <a:moveTo>
                    <a:pt x="0" y="0"/>
                  </a:moveTo>
                  <a:lnTo>
                    <a:pt x="3418265" y="0"/>
                  </a:lnTo>
                  <a:lnTo>
                    <a:pt x="3418265" y="263005"/>
                  </a:lnTo>
                  <a:lnTo>
                    <a:pt x="0" y="263005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26" name="TextBox 23">
              <a:extLst>
                <a:ext uri="{FF2B5EF4-FFF2-40B4-BE49-F238E27FC236}">
                  <a16:creationId xmlns:a16="http://schemas.microsoft.com/office/drawing/2014/main" id="{AE51B453-F7B1-0206-45B6-8A9A8CE0B801}"/>
                </a:ext>
              </a:extLst>
            </p:cNvPr>
            <p:cNvSpPr txBox="1"/>
            <p:nvPr/>
          </p:nvSpPr>
          <p:spPr>
            <a:xfrm>
              <a:off x="0" y="-9525"/>
              <a:ext cx="3418265" cy="272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49"/>
                </a:lnSpc>
              </a:pPr>
              <a:endParaRPr/>
            </a:p>
          </p:txBody>
        </p:sp>
      </p:grpSp>
      <p:sp>
        <p:nvSpPr>
          <p:cNvPr id="27" name="Freeform 24">
            <a:extLst>
              <a:ext uri="{FF2B5EF4-FFF2-40B4-BE49-F238E27FC236}">
                <a16:creationId xmlns:a16="http://schemas.microsoft.com/office/drawing/2014/main" id="{98427950-7358-8F45-C3FE-740036ACBF97}"/>
              </a:ext>
            </a:extLst>
          </p:cNvPr>
          <p:cNvSpPr/>
          <p:nvPr/>
        </p:nvSpPr>
        <p:spPr>
          <a:xfrm>
            <a:off x="2623870" y="5475521"/>
            <a:ext cx="447675" cy="447675"/>
          </a:xfrm>
          <a:custGeom>
            <a:avLst/>
            <a:gdLst/>
            <a:ahLst/>
            <a:cxnLst/>
            <a:rect l="l" t="t" r="r" b="b"/>
            <a:pathLst>
              <a:path w="447675" h="447675">
                <a:moveTo>
                  <a:pt x="0" y="0"/>
                </a:moveTo>
                <a:lnTo>
                  <a:pt x="447675" y="0"/>
                </a:lnTo>
                <a:lnTo>
                  <a:pt x="447675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3D12D2FF-8B6B-2878-40D2-847172BEF161}"/>
              </a:ext>
            </a:extLst>
          </p:cNvPr>
          <p:cNvSpPr txBox="1"/>
          <p:nvPr/>
        </p:nvSpPr>
        <p:spPr>
          <a:xfrm>
            <a:off x="3328720" y="5570771"/>
            <a:ext cx="185965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</a:pPr>
            <a:r>
              <a:rPr lang="ko-KR" altLang="en-US" sz="2499" b="1" spc="-124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결론</a:t>
            </a:r>
            <a:r>
              <a:rPr lang="en-US" sz="2499" b="1" spc="-124" dirty="0">
                <a:solidFill>
                  <a:srgbClr val="3970C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03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7971B03A-2CA0-2338-7B9F-73B50378D903}"/>
              </a:ext>
            </a:extLst>
          </p:cNvPr>
          <p:cNvSpPr txBox="1"/>
          <p:nvPr/>
        </p:nvSpPr>
        <p:spPr>
          <a:xfrm>
            <a:off x="5764142" y="5377521"/>
            <a:ext cx="8619043" cy="680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dirty="0" err="1">
                <a:solidFill>
                  <a:srgbClr val="222222">
                    <a:alpha val="90000"/>
                  </a:srgbClr>
                </a:solidFill>
                <a:latin typeface="JASO Sans"/>
              </a:rPr>
              <a:t>재현율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 우선 </a:t>
            </a:r>
            <a:r>
              <a:rPr lang="ko-KR" altLang="en-US" dirty="0" err="1">
                <a:solidFill>
                  <a:srgbClr val="222222">
                    <a:alpha val="90000"/>
                  </a:srgbClr>
                </a:solidFill>
                <a:latin typeface="JASO Sans"/>
              </a:rPr>
              <a:t>임계값</a:t>
            </a:r>
            <a:r>
              <a:rPr lang="en-US" altLang="ko-KR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(0.305)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을 채택하여 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테스트셋 사기 </a:t>
            </a:r>
            <a:r>
              <a:rPr lang="en-US" altLang="ko-KR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147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건 중 </a:t>
            </a:r>
            <a:r>
              <a:rPr lang="en-US" altLang="ko-KR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123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건</a:t>
            </a:r>
            <a:r>
              <a:rPr lang="en-US" altLang="ko-KR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(84%)</a:t>
            </a:r>
            <a:r>
              <a:rPr lang="ko-KR" altLang="en-US" b="1" dirty="0">
                <a:solidFill>
                  <a:schemeClr val="accent1">
                    <a:lumMod val="75000"/>
                    <a:alpha val="90000"/>
                  </a:schemeClr>
                </a:solidFill>
                <a:latin typeface="JASO Sans"/>
              </a:rPr>
              <a:t>을 탐지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하고 손실을 </a:t>
            </a:r>
            <a:r>
              <a:rPr lang="en-US" altLang="ko-KR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24</a:t>
            </a:r>
            <a:r>
              <a:rPr lang="ko-KR" altLang="en-US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건까지 줄였다</a:t>
            </a:r>
            <a:r>
              <a:rPr lang="en-US" altLang="ko-KR" dirty="0">
                <a:solidFill>
                  <a:srgbClr val="222222">
                    <a:alpha val="90000"/>
                  </a:srgbClr>
                </a:solidFill>
                <a:latin typeface="JASO Sans"/>
              </a:rPr>
              <a:t>.</a:t>
            </a:r>
            <a:endParaRPr lang="ko-KR" altLang="en-US" dirty="0">
              <a:solidFill>
                <a:srgbClr val="222222">
                  <a:alpha val="90000"/>
                </a:srgbClr>
              </a:solidFill>
              <a:latin typeface="JASO Sans"/>
            </a:endParaRPr>
          </a:p>
        </p:txBody>
      </p:sp>
      <p:sp>
        <p:nvSpPr>
          <p:cNvPr id="30" name="AutoShape 27">
            <a:extLst>
              <a:ext uri="{FF2B5EF4-FFF2-40B4-BE49-F238E27FC236}">
                <a16:creationId xmlns:a16="http://schemas.microsoft.com/office/drawing/2014/main" id="{53C32EAF-C447-5CC2-0428-0F3DFDC0B291}"/>
              </a:ext>
            </a:extLst>
          </p:cNvPr>
          <p:cNvSpPr/>
          <p:nvPr/>
        </p:nvSpPr>
        <p:spPr>
          <a:xfrm>
            <a:off x="5336797" y="5396696"/>
            <a:ext cx="0" cy="661204"/>
          </a:xfrm>
          <a:prstGeom prst="line">
            <a:avLst/>
          </a:prstGeom>
          <a:ln w="28575" cap="flat">
            <a:solidFill>
              <a:srgbClr val="3970C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70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53983" y="5057775"/>
            <a:ext cx="4380035" cy="46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50"/>
              </a:lnSpc>
            </a:pPr>
            <a:r>
              <a:rPr lang="en-US" sz="2500" spc="-125">
                <a:solidFill>
                  <a:srgbClr val="C9DFFF"/>
                </a:solidFill>
                <a:latin typeface="JASO Sans"/>
                <a:ea typeface="JASO Sans"/>
                <a:cs typeface="JASO Sans"/>
                <a:sym typeface="JASO Sans"/>
              </a:rPr>
              <a:t>MACHINE LEARNING 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73222" y="8933815"/>
            <a:ext cx="12341556" cy="324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20"/>
              </a:lnSpc>
            </a:pPr>
            <a:r>
              <a:rPr lang="en-US" sz="2000" b="1" spc="-100">
                <a:solidFill>
                  <a:srgbClr val="FCFCFC">
                    <a:alpha val="93725"/>
                  </a:srgbClr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서울특별시 · ML 종합보고서 4차 · 2장 Credit Card Fraud Detection · 담당 염윤호</a:t>
            </a:r>
          </a:p>
        </p:txBody>
      </p:sp>
      <p:sp>
        <p:nvSpPr>
          <p:cNvPr id="4" name="AutoShape 4"/>
          <p:cNvSpPr/>
          <p:nvPr/>
        </p:nvSpPr>
        <p:spPr>
          <a:xfrm>
            <a:off x="1218210" y="8695690"/>
            <a:ext cx="15851580" cy="0"/>
          </a:xfrm>
          <a:prstGeom prst="line">
            <a:avLst/>
          </a:prstGeom>
          <a:ln w="19050" cap="flat">
            <a:solidFill>
              <a:srgbClr val="FDFDF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691188" y="3319462"/>
            <a:ext cx="690562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sz="9999" spc="-499">
                <a:solidFill>
                  <a:srgbClr val="FDFDFB"/>
                </a:solidFill>
                <a:latin typeface="JASO Sans"/>
                <a:ea typeface="JASO Sans"/>
                <a:cs typeface="JASO Sans"/>
                <a:sym typeface="JASO Sans"/>
              </a:rPr>
              <a:t>감사합니다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28234" y="2324100"/>
            <a:ext cx="8831531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3000" b="1">
                <a:solidFill>
                  <a:srgbClr val="FDFDFB"/>
                </a:solidFill>
                <a:latin typeface="JASO Sans Heavy"/>
                <a:ea typeface="JASO Sans Heavy"/>
                <a:cs typeface="JASO Sans Heavy"/>
                <a:sym typeface="JASO Sans Heavy"/>
              </a:rPr>
              <a:t>CREDIT CARD FRAUD DETECTION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759121" y="1437323"/>
            <a:ext cx="769758" cy="190500"/>
            <a:chOff x="0" y="0"/>
            <a:chExt cx="1026344" cy="254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54000" cy="254000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29804"/>
                </a:srgbClr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86172" y="0"/>
              <a:ext cx="254000" cy="254000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>
                  <a:alpha val="60000"/>
                </a:srgbClr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72344" y="0"/>
              <a:ext cx="254000" cy="254000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CFCFC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93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776</Words>
  <Application>Microsoft Office PowerPoint</Application>
  <PresentationFormat>사용자 지정</PresentationFormat>
  <Paragraphs>256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JASO Sans</vt:lpstr>
      <vt:lpstr>JASO Sans Bold</vt:lpstr>
      <vt:lpstr>JASO Sans Heavy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미니멀리스트 비즈니스 회사 사업 소개 프레젠테이션</dc:title>
  <cp:lastModifiedBy>admin</cp:lastModifiedBy>
  <cp:revision>13</cp:revision>
  <dcterms:created xsi:type="dcterms:W3CDTF">2006-08-16T00:00:00Z</dcterms:created>
  <dcterms:modified xsi:type="dcterms:W3CDTF">2026-09-04T06:40:23Z</dcterms:modified>
  <cp:version/>
</cp:coreProperties>
</file>