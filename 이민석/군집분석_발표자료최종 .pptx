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59" r:id="rId8"/>
    <p:sldId id="267" r:id="rId9"/>
    <p:sldId id="268" r:id="rId10"/>
    <p:sldId id="263" r:id="rId11"/>
    <p:sldId id="262" r:id="rId12"/>
    <p:sldId id="269" r:id="rId13"/>
    <p:sldId id="264" r:id="rId14"/>
    <p:sldId id="265" r:id="rId15"/>
  </p:sldIdLst>
  <p:sldSz cx="18288000" cy="10287000"/>
  <p:notesSz cx="6858000" cy="9144000"/>
  <p:embeddedFontLst>
    <p:embeddedFont>
      <p:font typeface="JASO Sans" panose="020B0600000101010101" charset="-127"/>
      <p:regular r:id="rId16"/>
    </p:embeddedFont>
    <p:embeddedFont>
      <p:font typeface="JASO Sans Bold" panose="020B0600000101010101" charset="-127"/>
      <p:regular r:id="rId17"/>
    </p:embeddedFont>
    <p:embeddedFont>
      <p:font typeface="JASO Sans Heavy" panose="020B0600000101010101" charset="-12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3" y="6486525"/>
            <a:ext cx="4380035" cy="94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50"/>
              </a:lnSpc>
            </a:pPr>
            <a:r>
              <a:rPr lang="en-US" sz="2500" spc="-125" dirty="0" err="1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TF-IDF·SVD·KMeans</a:t>
            </a:r>
            <a:r>
              <a:rPr lang="en-US" sz="2500" spc="-125" dirty="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기반</a:t>
            </a:r>
            <a:endParaRPr lang="en-US" sz="2500" spc="-125">
              <a:solidFill>
                <a:srgbClr val="3970CF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3850"/>
              </a:lnSpc>
            </a:pPr>
            <a:r>
              <a:rPr lang="en-US" sz="2500" spc="-125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토픽</a:t>
            </a:r>
            <a:r>
              <a:rPr lang="en-US" sz="2500" spc="-125" dirty="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군집화와</a:t>
            </a:r>
            <a:r>
              <a:rPr lang="en-US" sz="2500" spc="-125" dirty="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감성</a:t>
            </a:r>
            <a:r>
              <a:rPr lang="en-US" sz="2500" spc="-125" dirty="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영향력</a:t>
            </a:r>
            <a:r>
              <a:rPr lang="en-US" sz="2500" spc="-125" dirty="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분석</a:t>
            </a:r>
            <a:endParaRPr lang="en-US" sz="2500" spc="-125" dirty="0">
              <a:solidFill>
                <a:srgbClr val="3970CF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18210" y="9101518"/>
            <a:ext cx="4086726" cy="30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20"/>
              </a:lnSpc>
            </a:pPr>
            <a:r>
              <a:rPr lang="ko-KR" altLang="en-US" sz="2000" b="1" spc="-100" dirty="0">
                <a:solidFill>
                  <a:srgbClr val="3970CF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발표자</a:t>
            </a:r>
            <a:r>
              <a:rPr lang="en-US" sz="2000" b="1" spc="-100" dirty="0">
                <a:solidFill>
                  <a:srgbClr val="3970CF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 | </a:t>
            </a:r>
            <a:r>
              <a:rPr lang="ko-KR" altLang="en-US" sz="2000" b="1" spc="-100" dirty="0">
                <a:solidFill>
                  <a:srgbClr val="3970CF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이민석</a:t>
            </a:r>
            <a:endParaRPr lang="en-US" sz="2000" b="1" spc="-100" dirty="0">
              <a:solidFill>
                <a:srgbClr val="3970CF">
                  <a:alpha val="93725"/>
                </a:srgbClr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983064" y="9101518"/>
            <a:ext cx="4086726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20"/>
              </a:lnSpc>
            </a:pPr>
            <a:r>
              <a:rPr lang="en-US" sz="2000" b="1" spc="-100">
                <a:solidFill>
                  <a:srgbClr val="3970CF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작성일  |  2026년 9월 1일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91188" y="3267075"/>
            <a:ext cx="6905625" cy="302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spc="-499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리뷰 텍스트</a:t>
            </a:r>
          </a:p>
          <a:p>
            <a:pPr algn="ctr">
              <a:lnSpc>
                <a:spcPts val="11999"/>
              </a:lnSpc>
            </a:pPr>
            <a:r>
              <a:rPr lang="en-US" sz="9999" b="1" spc="-499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군집분석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3970CF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CLUSTER ANALYSIS</a:t>
            </a:r>
          </a:p>
        </p:txBody>
      </p:sp>
      <p:sp>
        <p:nvSpPr>
          <p:cNvPr id="7" name="AutoShape 7"/>
          <p:cNvSpPr/>
          <p:nvPr/>
        </p:nvSpPr>
        <p:spPr>
          <a:xfrm>
            <a:off x="1218210" y="8789415"/>
            <a:ext cx="15851580" cy="0"/>
          </a:xfrm>
          <a:prstGeom prst="line">
            <a:avLst/>
          </a:prstGeom>
          <a:ln w="19050" cap="flat">
            <a:solidFill>
              <a:srgbClr val="3970C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29804"/>
                </a:srgbClr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60000"/>
                </a:srgbClr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70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33361" y="4842594"/>
            <a:ext cx="286872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분석 개요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81511" y="4842594"/>
            <a:ext cx="286872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군집별 주제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33361" y="5585544"/>
            <a:ext cx="286872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개요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81511" y="5585544"/>
            <a:ext cx="286872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통계적 검증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90261" y="4780682"/>
            <a:ext cx="79227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00"/>
              </a:lnSpc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38411" y="4780682"/>
            <a:ext cx="79227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00"/>
              </a:lnSpc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90261" y="5523632"/>
            <a:ext cx="79227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00"/>
              </a:lnSpc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38411" y="5523632"/>
            <a:ext cx="79227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00"/>
              </a:lnSpc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33361" y="6328494"/>
            <a:ext cx="286872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벡터화·차원축소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81511" y="6328494"/>
            <a:ext cx="286872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해석과 시각화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90261" y="6266582"/>
            <a:ext cx="79227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00"/>
              </a:lnSpc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38411" y="6266582"/>
            <a:ext cx="79227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00"/>
              </a:lnSpc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33361" y="7071444"/>
            <a:ext cx="286872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최적 K 결정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81511" y="7071444"/>
            <a:ext cx="286872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종합 결론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90261" y="7009532"/>
            <a:ext cx="79227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00"/>
              </a:lnSpc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38411" y="7009532"/>
            <a:ext cx="79227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00"/>
              </a:lnSpc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5415" y="1797797"/>
            <a:ext cx="521717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6999" b="1" spc="-349">
                <a:solidFill>
                  <a:srgbClr val="FCFCFC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76012" y="4444455"/>
            <a:ext cx="14486065" cy="3705225"/>
            <a:chOff x="0" y="0"/>
            <a:chExt cx="3418265" cy="8743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8265" cy="874319"/>
            </a:xfrm>
            <a:custGeom>
              <a:avLst/>
              <a:gdLst/>
              <a:ahLst/>
              <a:cxnLst/>
              <a:rect l="l" t="t" r="r" b="b"/>
              <a:pathLst>
                <a:path w="3418265" h="874319">
                  <a:moveTo>
                    <a:pt x="0" y="0"/>
                  </a:moveTo>
                  <a:lnTo>
                    <a:pt x="3418265" y="0"/>
                  </a:lnTo>
                  <a:lnTo>
                    <a:pt x="341826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341826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3429692" y="5535646"/>
            <a:ext cx="11778705" cy="0"/>
          </a:xfrm>
          <a:prstGeom prst="line">
            <a:avLst/>
          </a:prstGeom>
          <a:ln w="28575" cap="flat">
            <a:solidFill>
              <a:srgbClr val="3970C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5228788" y="6431631"/>
            <a:ext cx="237331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TF-IDF 벡터화</a:t>
            </a:r>
          </a:p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감성어 제외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25189" y="6364956"/>
            <a:ext cx="23733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정제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32388" y="6431631"/>
            <a:ext cx="237331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SVD 차원축소</a:t>
            </a:r>
          </a:p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100차원으로 축소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91753" y="5806156"/>
            <a:ext cx="124018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5352" y="5806156"/>
            <a:ext cx="124018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98952" y="5806156"/>
            <a:ext cx="124018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02552" y="5806156"/>
            <a:ext cx="124018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4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347539" y="5371340"/>
            <a:ext cx="328612" cy="32861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0C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51138" y="5371340"/>
            <a:ext cx="328612" cy="32861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0C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54738" y="5371340"/>
            <a:ext cx="328612" cy="32861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0C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058338" y="5371340"/>
            <a:ext cx="328612" cy="32861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0C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961937" y="5371340"/>
            <a:ext cx="328612" cy="328612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0C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3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506151" y="5806156"/>
            <a:ext cx="124018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35988" y="6431631"/>
            <a:ext cx="237331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엘보우 방법</a:t>
            </a:r>
          </a:p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KMeans 군집화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939587" y="6431631"/>
            <a:ext cx="237331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Ridge·OLS 회귀</a:t>
            </a:r>
          </a:p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VIF·F검정·안정성</a:t>
            </a:r>
          </a:p>
        </p:txBody>
      </p:sp>
      <p:sp>
        <p:nvSpPr>
          <p:cNvPr id="34" name="TextBox 34"/>
          <p:cNvSpPr txBox="1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분석 개요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98892" y="3096519"/>
            <a:ext cx="10090216" cy="73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예측이 아닌 해석이 목적 — 군집(주제)이 감성을 실제로 설명하는지 검증합니다. </a:t>
            </a:r>
          </a:p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감성어를 제외한 텍스트로 군집화하여 해석의 순환논리를 방지했습니다.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개요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59181" y="3096519"/>
            <a:ext cx="11169639" cy="73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GPS·Kindle·iPod·호텔·자동차 등 13개 제품 리뷰를 VADER로 감성 점수화했습니다. </a:t>
            </a:r>
          </a:p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최고 긍정 0.984, 최고 부정 -0.920으로 실제 어조와 부합함을 확인했습니다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20644" y="4500256"/>
            <a:ext cx="7141432" cy="1709734"/>
            <a:chOff x="0" y="0"/>
            <a:chExt cx="1685158" cy="403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85158" cy="403445"/>
            </a:xfrm>
            <a:custGeom>
              <a:avLst/>
              <a:gdLst/>
              <a:ahLst/>
              <a:cxnLst/>
              <a:rect l="l" t="t" r="r" b="b"/>
              <a:pathLst>
                <a:path w="1685158" h="403445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910915" y="4746475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615765" y="4810293"/>
            <a:ext cx="8563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72115" y="4897454"/>
            <a:ext cx="2094600" cy="26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개 제품·서비스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15765" y="5292258"/>
            <a:ext cx="4411324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자동차·전자제품·호텔 등 다양한 카테고리</a:t>
            </a:r>
          </a:p>
          <a:p>
            <a:pPr algn="l">
              <a:lnSpc>
                <a:spcPts val="2700"/>
              </a:lnSpc>
            </a:pPr>
            <a:endParaRPr lang="en-US" sz="1800" spc="-9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9420644" y="6443364"/>
            <a:ext cx="7141432" cy="1709734"/>
            <a:chOff x="0" y="0"/>
            <a:chExt cx="1685158" cy="4034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85158" cy="403445"/>
            </a:xfrm>
            <a:custGeom>
              <a:avLst/>
              <a:gdLst/>
              <a:ahLst/>
              <a:cxnLst/>
              <a:rect l="l" t="t" r="r" b="b"/>
              <a:pathLst>
                <a:path w="1685158" h="403445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76012" y="4500256"/>
            <a:ext cx="7141432" cy="1709734"/>
            <a:chOff x="0" y="0"/>
            <a:chExt cx="1685158" cy="4034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85158" cy="403445"/>
            </a:xfrm>
            <a:custGeom>
              <a:avLst/>
              <a:gdLst/>
              <a:ahLst/>
              <a:cxnLst/>
              <a:rect l="l" t="t" r="r" b="b"/>
              <a:pathLst>
                <a:path w="1685158" h="403445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076012" y="6443364"/>
            <a:ext cx="7141432" cy="1709734"/>
            <a:chOff x="0" y="0"/>
            <a:chExt cx="1685158" cy="40344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85158" cy="403445"/>
            </a:xfrm>
            <a:custGeom>
              <a:avLst/>
              <a:gdLst/>
              <a:ahLst/>
              <a:cxnLst/>
              <a:rect l="l" t="t" r="r" b="b"/>
              <a:pathLst>
                <a:path w="1685158" h="403445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2566282" y="668958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271132" y="6753401"/>
            <a:ext cx="8563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36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27482" y="6840562"/>
            <a:ext cx="2094600" cy="26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개 속성(aspect)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71132" y="7235366"/>
            <a:ext cx="4411324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battery, location, staff 등 세부 속성</a:t>
            </a:r>
          </a:p>
          <a:p>
            <a:pPr algn="l">
              <a:lnSpc>
                <a:spcPts val="2700"/>
              </a:lnSpc>
            </a:pPr>
            <a:endParaRPr lang="en-US" sz="1800" spc="-9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9910915" y="668958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615765" y="6753401"/>
            <a:ext cx="8563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72115" y="6840562"/>
            <a:ext cx="2094600" cy="26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개 최종 군집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15765" y="7235366"/>
            <a:ext cx="4411324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엘보우 방법으로 자동 결정된 K</a:t>
            </a:r>
          </a:p>
          <a:p>
            <a:pPr algn="l">
              <a:lnSpc>
                <a:spcPts val="2700"/>
              </a:lnSpc>
            </a:pPr>
            <a:endParaRPr lang="en-US" sz="1800" spc="-9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2566282" y="4746475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3271132" y="4810293"/>
            <a:ext cx="8563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7,086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27482" y="4897454"/>
            <a:ext cx="2094600" cy="26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개 문장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71132" y="5292258"/>
            <a:ext cx="4411324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13개 제품·서비스에 대한 리뷰 문장 총 개수</a:t>
            </a:r>
          </a:p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벡터화 및 차원 축소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4792" y="3096519"/>
            <a:ext cx="14738416" cy="73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감성어를 제외한 텍스트를 TF-IDF와 SVD로 수치화합니다. </a:t>
            </a:r>
          </a:p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차원의 저주를 방지하고 해석 가능한 군집을 만듭니다.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076012" y="4444455"/>
            <a:ext cx="14486065" cy="1114574"/>
            <a:chOff x="0" y="0"/>
            <a:chExt cx="3418265" cy="2630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18265" cy="263005"/>
            </a:xfrm>
            <a:custGeom>
              <a:avLst/>
              <a:gdLst/>
              <a:ahLst/>
              <a:cxnLst/>
              <a:rect l="l" t="t" r="r" b="b"/>
              <a:pathLst>
                <a:path w="3418265" h="26300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566282" y="4776476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271132" y="4871726"/>
            <a:ext cx="18596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06555" y="4806004"/>
            <a:ext cx="6221074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감성어를 제외한 텍스트를 </a:t>
            </a:r>
            <a:r>
              <a:rPr lang="en-US" sz="1800" b="1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TF-IDF(3,000차원)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로 벡터화합니다.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279209" y="4671140"/>
            <a:ext cx="0" cy="661204"/>
          </a:xfrm>
          <a:prstGeom prst="line">
            <a:avLst/>
          </a:prstGeom>
          <a:ln w="28575" cap="flat">
            <a:solidFill>
              <a:srgbClr val="3970C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2076012" y="5739781"/>
            <a:ext cx="14486065" cy="1114574"/>
            <a:chOff x="0" y="0"/>
            <a:chExt cx="3418265" cy="2630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18265" cy="263005"/>
            </a:xfrm>
            <a:custGeom>
              <a:avLst/>
              <a:gdLst/>
              <a:ahLst/>
              <a:cxnLst/>
              <a:rect l="l" t="t" r="r" b="b"/>
              <a:pathLst>
                <a:path w="3418265" h="26300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566282" y="6071801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271132" y="6167052"/>
            <a:ext cx="18596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06555" y="6102758"/>
            <a:ext cx="6221074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TF-IDF 결과를 </a:t>
            </a:r>
            <a:r>
              <a:rPr lang="en-US" sz="1800" b="1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TruncatedSVD로 100차원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까지 축소합니다.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279209" y="5966466"/>
            <a:ext cx="0" cy="661204"/>
          </a:xfrm>
          <a:prstGeom prst="line">
            <a:avLst/>
          </a:prstGeom>
          <a:ln w="28575" cap="flat">
            <a:solidFill>
              <a:srgbClr val="3970C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2076012" y="7035106"/>
            <a:ext cx="14486065" cy="1114574"/>
            <a:chOff x="0" y="0"/>
            <a:chExt cx="3418265" cy="26300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18265" cy="263005"/>
            </a:xfrm>
            <a:custGeom>
              <a:avLst/>
              <a:gdLst/>
              <a:ahLst/>
              <a:cxnLst/>
              <a:rect l="l" t="t" r="r" b="b"/>
              <a:pathLst>
                <a:path w="3418265" h="26300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2566282" y="7367127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271132" y="7462377"/>
            <a:ext cx="18596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2499" b="1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06555" y="7398083"/>
            <a:ext cx="6221074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축소된 벡터를 </a:t>
            </a:r>
            <a:r>
              <a:rPr lang="en-US" sz="1800" b="1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KMeans 군집화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의 입력으로 사용합니다.</a:t>
            </a:r>
          </a:p>
        </p:txBody>
      </p:sp>
      <p:sp>
        <p:nvSpPr>
          <p:cNvPr id="27" name="AutoShape 27"/>
          <p:cNvSpPr/>
          <p:nvPr/>
        </p:nvSpPr>
        <p:spPr>
          <a:xfrm>
            <a:off x="5279209" y="7261791"/>
            <a:ext cx="0" cy="661204"/>
          </a:xfrm>
          <a:prstGeom prst="line">
            <a:avLst/>
          </a:prstGeom>
          <a:ln w="28575" cap="flat">
            <a:solidFill>
              <a:srgbClr val="3970C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76012" y="6161332"/>
            <a:ext cx="4019016" cy="1988349"/>
            <a:chOff x="0" y="0"/>
            <a:chExt cx="948364" cy="4691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8364" cy="469189"/>
            </a:xfrm>
            <a:custGeom>
              <a:avLst/>
              <a:gdLst/>
              <a:ahLst/>
              <a:cxnLst/>
              <a:rect l="l" t="t" r="r" b="b"/>
              <a:pathLst>
                <a:path w="948364" h="469189">
                  <a:moveTo>
                    <a:pt x="0" y="0"/>
                  </a:moveTo>
                  <a:lnTo>
                    <a:pt x="948364" y="0"/>
                  </a:lnTo>
                  <a:lnTo>
                    <a:pt x="948364" y="469189"/>
                  </a:lnTo>
                  <a:lnTo>
                    <a:pt x="0" y="46918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48364" cy="47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최적 K 결정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20473" y="3850870"/>
            <a:ext cx="4258229" cy="169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K=2~30 범위에서 Inertia 곡선의 </a:t>
            </a:r>
          </a:p>
          <a:p>
            <a:pPr algn="l">
              <a:lnSpc>
                <a:spcPts val="3408"/>
              </a:lnSpc>
            </a:pP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꺾이는 지점을 자동 탐지합니다.</a:t>
            </a:r>
          </a:p>
          <a:p>
            <a:pPr algn="l">
              <a:lnSpc>
                <a:spcPts val="3408"/>
              </a:lnSpc>
            </a:pPr>
            <a:r>
              <a:rPr lang="en-US" sz="2004" b="1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K=12 부근에서 기울기가</a:t>
            </a:r>
          </a:p>
          <a:p>
            <a:pPr marL="0" lvl="0" indent="0" algn="l">
              <a:lnSpc>
                <a:spcPts val="3408"/>
              </a:lnSpc>
            </a:pPr>
            <a:r>
              <a:rPr lang="en-US" sz="2004" b="1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뚜렷하게 완만해집니다.</a:t>
            </a:r>
          </a:p>
        </p:txBody>
      </p:sp>
      <p:sp>
        <p:nvSpPr>
          <p:cNvPr id="10" name="Freeform 10"/>
          <p:cNvSpPr/>
          <p:nvPr/>
        </p:nvSpPr>
        <p:spPr>
          <a:xfrm>
            <a:off x="2434795" y="643886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34795" y="7247698"/>
            <a:ext cx="141498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</a:pPr>
            <a:r>
              <a:rPr lang="en-US" sz="5000" b="1" spc="-2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66177" y="7452486"/>
            <a:ext cx="62054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3045602" y="6502677"/>
            <a:ext cx="1861695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최종 채택된 K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688" y="2559431"/>
            <a:ext cx="11044522" cy="67775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군집별 3대 주제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4792" y="3096519"/>
            <a:ext cx="14738416" cy="73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SVD 역변환으로 원 TF-IDF 공간의 상위 단어를 추출한 결과, 12개 군집이 3개 대주제로 재구성되었습니다. </a:t>
            </a:r>
          </a:p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각 대주제 안에서도 세부 군집별로 감성에 미치는 영향은 다르게 나타났습니다.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134492" y="4444455"/>
            <a:ext cx="4019016" cy="3705225"/>
            <a:chOff x="0" y="0"/>
            <a:chExt cx="948364" cy="8743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8364" cy="874319"/>
            </a:xfrm>
            <a:custGeom>
              <a:avLst/>
              <a:gdLst/>
              <a:ahLst/>
              <a:cxnLst/>
              <a:rect l="l" t="t" r="r" b="b"/>
              <a:pathLst>
                <a:path w="948364" h="874319">
                  <a:moveTo>
                    <a:pt x="0" y="0"/>
                  </a:moveTo>
                  <a:lnTo>
                    <a:pt x="948364" y="0"/>
                  </a:lnTo>
                  <a:lnTo>
                    <a:pt x="948364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948364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8920162" y="490585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6" y="0"/>
                </a:lnTo>
                <a:lnTo>
                  <a:pt x="447676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626583" y="6619830"/>
            <a:ext cx="3034833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video/sound · battery life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b="1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screen size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cluster_2 · 3 · 4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076012" y="4444455"/>
            <a:ext cx="4019016" cy="3705225"/>
            <a:chOff x="0" y="0"/>
            <a:chExt cx="948364" cy="8743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8364" cy="874319"/>
            </a:xfrm>
            <a:custGeom>
              <a:avLst/>
              <a:gdLst/>
              <a:ahLst/>
              <a:cxnLst/>
              <a:rect l="l" t="t" r="r" b="b"/>
              <a:pathLst>
                <a:path w="948364" h="874319">
                  <a:moveTo>
                    <a:pt x="0" y="0"/>
                  </a:moveTo>
                  <a:lnTo>
                    <a:pt x="948364" y="0"/>
                  </a:lnTo>
                  <a:lnTo>
                    <a:pt x="948364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948364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861682" y="490585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568103" y="6619830"/>
            <a:ext cx="3034833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interior · seat 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speed limit · mileage 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b="1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cluster_0 · 1 · 5 · 10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21919" y="5632159"/>
            <a:ext cx="2527201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자동차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80399" y="5632159"/>
            <a:ext cx="2527201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전자제품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543061" y="4444455"/>
            <a:ext cx="4019016" cy="3705225"/>
            <a:chOff x="0" y="0"/>
            <a:chExt cx="948364" cy="8743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48364" cy="874319"/>
            </a:xfrm>
            <a:custGeom>
              <a:avLst/>
              <a:gdLst/>
              <a:ahLst/>
              <a:cxnLst/>
              <a:rect l="l" t="t" r="r" b="b"/>
              <a:pathLst>
                <a:path w="948364" h="874319">
                  <a:moveTo>
                    <a:pt x="0" y="0"/>
                  </a:moveTo>
                  <a:lnTo>
                    <a:pt x="948364" y="0"/>
                  </a:lnTo>
                  <a:lnTo>
                    <a:pt x="948364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948364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035152" y="6619830"/>
            <a:ext cx="3034833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b="1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room · location · service · staff</a:t>
            </a:r>
          </a:p>
          <a:p>
            <a:pPr marL="0" lvl="0" indent="0" algn="ctr">
              <a:lnSpc>
                <a:spcPts val="2700"/>
              </a:lnSpc>
            </a:pPr>
            <a:endParaRPr lang="en-US" sz="1800" b="1" spc="-90">
              <a:solidFill>
                <a:srgbClr val="2664B4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cluster_6 · 7 · 8 · 9 · 11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88968" y="5632159"/>
            <a:ext cx="2527201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호텔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328731" y="490585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76012" y="6161332"/>
            <a:ext cx="4019016" cy="1988349"/>
            <a:chOff x="0" y="0"/>
            <a:chExt cx="948364" cy="4691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8364" cy="469189"/>
            </a:xfrm>
            <a:custGeom>
              <a:avLst/>
              <a:gdLst/>
              <a:ahLst/>
              <a:cxnLst/>
              <a:rect l="l" t="t" r="r" b="b"/>
              <a:pathLst>
                <a:path w="948364" h="469189">
                  <a:moveTo>
                    <a:pt x="0" y="0"/>
                  </a:moveTo>
                  <a:lnTo>
                    <a:pt x="948364" y="0"/>
                  </a:lnTo>
                  <a:lnTo>
                    <a:pt x="948364" y="469189"/>
                  </a:lnTo>
                  <a:lnTo>
                    <a:pt x="0" y="46918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48364" cy="47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군집별 평균 감성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20473" y="3850870"/>
            <a:ext cx="4258229" cy="169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cluster_8(호텔 입지)이 가장 높고, </a:t>
            </a:r>
          </a:p>
          <a:p>
            <a:pPr algn="l">
              <a:lnSpc>
                <a:spcPts val="3408"/>
              </a:lnSpc>
            </a:pP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cluster_1(좌석·변속기)이 가장 낮습니다.</a:t>
            </a:r>
          </a:p>
          <a:p>
            <a:pPr algn="l">
              <a:lnSpc>
                <a:spcPts val="3408"/>
              </a:lnSpc>
            </a:pPr>
            <a:r>
              <a:rPr lang="en-US" sz="2004" b="1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VADER compound 점수 기준</a:t>
            </a:r>
          </a:p>
          <a:p>
            <a:pPr marL="0" lvl="0" indent="0" algn="l">
              <a:lnSpc>
                <a:spcPts val="3408"/>
              </a:lnSpc>
            </a:pPr>
            <a:r>
              <a:rPr lang="en-US" sz="2004" b="1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12개 군집의 평균 감성을 비교</a:t>
            </a: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하였습니다.</a:t>
            </a:r>
          </a:p>
        </p:txBody>
      </p:sp>
      <p:sp>
        <p:nvSpPr>
          <p:cNvPr id="10" name="Freeform 10"/>
          <p:cNvSpPr/>
          <p:nvPr/>
        </p:nvSpPr>
        <p:spPr>
          <a:xfrm>
            <a:off x="2434795" y="643886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34795" y="7247698"/>
            <a:ext cx="141498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</a:pPr>
            <a:r>
              <a:rPr lang="en-US" sz="3600" b="1" spc="-2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0.68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66177" y="7452486"/>
            <a:ext cx="62054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3045602" y="6502677"/>
            <a:ext cx="1861695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최고 평균감성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688" y="2559431"/>
            <a:ext cx="11044522" cy="67775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76012" y="6161332"/>
            <a:ext cx="4019016" cy="1988349"/>
            <a:chOff x="0" y="0"/>
            <a:chExt cx="948364" cy="4691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8364" cy="469189"/>
            </a:xfrm>
            <a:custGeom>
              <a:avLst/>
              <a:gdLst/>
              <a:ahLst/>
              <a:cxnLst/>
              <a:rect l="l" t="t" r="r" b="b"/>
              <a:pathLst>
                <a:path w="948364" h="469189">
                  <a:moveTo>
                    <a:pt x="0" y="0"/>
                  </a:moveTo>
                  <a:lnTo>
                    <a:pt x="948364" y="0"/>
                  </a:lnTo>
                  <a:lnTo>
                    <a:pt x="948364" y="469189"/>
                  </a:lnTo>
                  <a:lnTo>
                    <a:pt x="0" y="46918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48364" cy="47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감성 영향력(Ridge)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20473" y="3850870"/>
            <a:ext cx="4258229" cy="169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제품·속성을 통제한 상태에서, 군집(주제)이 </a:t>
            </a:r>
          </a:p>
          <a:p>
            <a:pPr algn="l">
              <a:lnSpc>
                <a:spcPts val="3408"/>
              </a:lnSpc>
            </a:pP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감성에 미치는 순수 영향력입니다.</a:t>
            </a:r>
          </a:p>
          <a:p>
            <a:pPr algn="l">
              <a:lnSpc>
                <a:spcPts val="3408"/>
              </a:lnSpc>
            </a:pPr>
            <a:r>
              <a:rPr lang="en-US" sz="2004" b="1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cluster_1(좌석·변속기)의 계수가</a:t>
            </a:r>
          </a:p>
          <a:p>
            <a:pPr marL="0" lvl="0" indent="0" algn="l">
              <a:lnSpc>
                <a:spcPts val="3408"/>
              </a:lnSpc>
            </a:pPr>
            <a:r>
              <a:rPr lang="en-US" sz="2004" b="1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다른 군집보다 2배 이상 큰 음수</a:t>
            </a: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를 보였습니다.</a:t>
            </a:r>
          </a:p>
        </p:txBody>
      </p:sp>
      <p:sp>
        <p:nvSpPr>
          <p:cNvPr id="10" name="Freeform 10"/>
          <p:cNvSpPr/>
          <p:nvPr/>
        </p:nvSpPr>
        <p:spPr>
          <a:xfrm>
            <a:off x="2434795" y="643886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34795" y="7247698"/>
            <a:ext cx="141498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</a:pPr>
            <a:r>
              <a:rPr lang="en-US" sz="3200" b="1" spc="-2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-0.41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66177" y="7452486"/>
            <a:ext cx="62054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3045602" y="6502677"/>
            <a:ext cx="1861695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최저 계수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688" y="2559431"/>
            <a:ext cx="11044522" cy="67775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통계적 검증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59181" y="3096519"/>
            <a:ext cx="11169639" cy="73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Ridge는 p-value가 없어 OLS·VIF·위계적 F검정·재현성 검증으로 </a:t>
            </a:r>
          </a:p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통계적 엄밀성을 확보했습니다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20644" y="4500256"/>
            <a:ext cx="7141432" cy="1709734"/>
            <a:chOff x="0" y="0"/>
            <a:chExt cx="1685158" cy="403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85158" cy="403445"/>
            </a:xfrm>
            <a:custGeom>
              <a:avLst/>
              <a:gdLst/>
              <a:ahLst/>
              <a:cxnLst/>
              <a:rect l="l" t="t" r="r" b="b"/>
              <a:pathLst>
                <a:path w="1685158" h="403445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910915" y="4746475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615765" y="4810293"/>
            <a:ext cx="8563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72115" y="4897454"/>
            <a:ext cx="2094600" cy="26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 다중공선성(VIF)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15765" y="5292258"/>
            <a:ext cx="4411324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정제 후 VIF≥10 변수 0개</a:t>
            </a:r>
          </a:p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(4개 변수 단계적 제거)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20644" y="6443364"/>
            <a:ext cx="7141432" cy="1709734"/>
            <a:chOff x="0" y="0"/>
            <a:chExt cx="1685158" cy="4034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85158" cy="403445"/>
            </a:xfrm>
            <a:custGeom>
              <a:avLst/>
              <a:gdLst/>
              <a:ahLst/>
              <a:cxnLst/>
              <a:rect l="l" t="t" r="r" b="b"/>
              <a:pathLst>
                <a:path w="1685158" h="403445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76012" y="4500256"/>
            <a:ext cx="7141432" cy="1709734"/>
            <a:chOff x="0" y="0"/>
            <a:chExt cx="1685158" cy="4034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85158" cy="403445"/>
            </a:xfrm>
            <a:custGeom>
              <a:avLst/>
              <a:gdLst/>
              <a:ahLst/>
              <a:cxnLst/>
              <a:rect l="l" t="t" r="r" b="b"/>
              <a:pathLst>
                <a:path w="1685158" h="403445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076012" y="6443364"/>
            <a:ext cx="7141432" cy="1709734"/>
            <a:chOff x="0" y="0"/>
            <a:chExt cx="1685158" cy="40344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85158" cy="403445"/>
            </a:xfrm>
            <a:custGeom>
              <a:avLst/>
              <a:gdLst/>
              <a:ahLst/>
              <a:cxnLst/>
              <a:rect l="l" t="t" r="r" b="b"/>
              <a:pathLst>
                <a:path w="1685158" h="403445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2566282" y="668958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271132" y="6753401"/>
            <a:ext cx="8563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유의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27482" y="6840562"/>
            <a:ext cx="2094600" cy="26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 위계적 F검정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71132" y="7235366"/>
            <a:ext cx="4411324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p&lt;0.001, ΔR²=0.024, F=17.8</a:t>
            </a:r>
          </a:p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군집 블록의 추가 설명력이 유의</a:t>
            </a:r>
          </a:p>
        </p:txBody>
      </p:sp>
      <p:sp>
        <p:nvSpPr>
          <p:cNvPr id="27" name="Freeform 27"/>
          <p:cNvSpPr/>
          <p:nvPr/>
        </p:nvSpPr>
        <p:spPr>
          <a:xfrm>
            <a:off x="9910915" y="668958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615765" y="6753401"/>
            <a:ext cx="8563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0.59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72115" y="6840562"/>
            <a:ext cx="2094600" cy="26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 ARI 안정성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15765" y="7235366"/>
            <a:ext cx="4411324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10회 재현 평균, 중간 수준 안정성</a:t>
            </a:r>
          </a:p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(실루엣 0.06은 낮은 편)</a:t>
            </a:r>
          </a:p>
        </p:txBody>
      </p:sp>
      <p:sp>
        <p:nvSpPr>
          <p:cNvPr id="31" name="Freeform 31"/>
          <p:cNvSpPr/>
          <p:nvPr/>
        </p:nvSpPr>
        <p:spPr>
          <a:xfrm>
            <a:off x="2566282" y="4746475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3271132" y="4810293"/>
            <a:ext cx="8563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6개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27482" y="4897454"/>
            <a:ext cx="2094600" cy="26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</a:pP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 OLS 유의성 검정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71132" y="5292258"/>
            <a:ext cx="4411324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12개 중 p&lt;0.05 수준에서 유의</a:t>
            </a:r>
          </a:p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(HC3 강건표준오차)</a:t>
            </a:r>
          </a:p>
        </p:txBody>
      </p:sp>
      <p:sp>
        <p:nvSpPr>
          <p:cNvPr id="950" name="LimitationNote"/>
          <p:cNvSpPr txBox="1"/>
          <p:nvPr/>
        </p:nvSpPr>
        <p:spPr>
          <a:xfrm>
            <a:off x="2076012" y="8330000"/>
            <a:ext cx="14486065" cy="6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800"/>
              </a:lnSpc>
            </a:pPr>
            <a:r>
              <a:rPr lang="en-US" sz="1400" i="1" spc="-50">
                <a:solidFill>
                  <a:srgbClr val="222222">
                    <a:alpha val="55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독립성 가정은 완전히 충족되지 않을 수 있음 — 동일 제품 문장 간 상관으로 표준오차가 과소추정될 가능성이 있어, 후속 분석에서는 제품 단위 군집표준오차 적용이 필요합니다.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76012" y="4444455"/>
            <a:ext cx="14486065" cy="3705225"/>
            <a:chOff x="0" y="0"/>
            <a:chExt cx="3418265" cy="8743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8265" cy="874319"/>
            </a:xfrm>
            <a:custGeom>
              <a:avLst/>
              <a:gdLst/>
              <a:ahLst/>
              <a:cxnLst/>
              <a:rect l="l" t="t" r="r" b="b"/>
              <a:pathLst>
                <a:path w="3418265" h="874319">
                  <a:moveTo>
                    <a:pt x="0" y="0"/>
                  </a:moveTo>
                  <a:lnTo>
                    <a:pt x="3418265" y="0"/>
                  </a:lnTo>
                  <a:lnTo>
                    <a:pt x="341826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341826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18144">
            <a:off x="7051311" y="344251"/>
            <a:ext cx="4184623" cy="181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군집</a:t>
            </a:r>
            <a:r>
              <a:rPr lang="en-US" sz="5000" b="1" spc="-250" dirty="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해석</a:t>
            </a:r>
            <a:r>
              <a:rPr lang="en-US" sz="5000" b="1" spc="-250" dirty="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시 </a:t>
            </a:r>
          </a:p>
          <a:p>
            <a:pPr marL="0" lvl="0" indent="0" algn="ctr">
              <a:lnSpc>
                <a:spcPts val="7500"/>
              </a:lnSpc>
            </a:pP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주의사항</a:t>
            </a:r>
            <a:endParaRPr lang="en-US" sz="5000" b="1" spc="-250" dirty="0">
              <a:solidFill>
                <a:srgbClr val="222222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59181" y="3096519"/>
            <a:ext cx="11169639" cy="73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대표 단어가 비슷해도 실제 문장은 크게 다를 수 있고, </a:t>
            </a:r>
          </a:p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대규모 혼합형 군집은 잔여 범주로 신중히 해석해야 합니다.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782123" y="4722417"/>
            <a:ext cx="3149301" cy="314930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3096088" y="5460160"/>
            <a:ext cx="5254805" cy="845186"/>
            <a:chOff x="0" y="0"/>
            <a:chExt cx="5019643" cy="8073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19643" cy="807362"/>
            </a:xfrm>
            <a:custGeom>
              <a:avLst/>
              <a:gdLst/>
              <a:ahLst/>
              <a:cxnLst/>
              <a:rect l="l" t="t" r="r" b="b"/>
              <a:pathLst>
                <a:path w="5019643" h="807362">
                  <a:moveTo>
                    <a:pt x="23020" y="0"/>
                  </a:moveTo>
                  <a:lnTo>
                    <a:pt x="4996623" y="0"/>
                  </a:lnTo>
                  <a:cubicBezTo>
                    <a:pt x="5009336" y="0"/>
                    <a:pt x="5019643" y="10307"/>
                    <a:pt x="5019643" y="23020"/>
                  </a:cubicBezTo>
                  <a:lnTo>
                    <a:pt x="5019643" y="784342"/>
                  </a:lnTo>
                  <a:cubicBezTo>
                    <a:pt x="5019643" y="797055"/>
                    <a:pt x="5009336" y="807362"/>
                    <a:pt x="4996623" y="807362"/>
                  </a:cubicBezTo>
                  <a:lnTo>
                    <a:pt x="23020" y="807362"/>
                  </a:lnTo>
                  <a:cubicBezTo>
                    <a:pt x="10307" y="807362"/>
                    <a:pt x="0" y="797055"/>
                    <a:pt x="0" y="784342"/>
                  </a:cubicBezTo>
                  <a:lnTo>
                    <a:pt x="0" y="23020"/>
                  </a:lnTo>
                  <a:cubicBezTo>
                    <a:pt x="0" y="10307"/>
                    <a:pt x="10307" y="0"/>
                    <a:pt x="23020" y="0"/>
                  </a:cubicBezTo>
                  <a:close/>
                </a:path>
              </a:pathLst>
            </a:custGeom>
            <a:solidFill>
              <a:srgbClr val="FCFCF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5019643" cy="826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40"/>
                </a:lnSpc>
              </a:pPr>
              <a:r>
                <a:rPr lang="en-US" sz="2000" b="1" spc="-100">
                  <a:solidFill>
                    <a:srgbClr val="222222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cluster_7과 cluster_8은 대표 단어가 거의 동일합니다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650015" y="6486321"/>
            <a:ext cx="349579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2000" b="1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cluster_8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11988" y="6486321"/>
            <a:ext cx="349579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2000" b="1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cluster_7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96088" y="7048578"/>
            <a:ext cx="3927593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627개 문장 · 평균 감성 0.49</a:t>
            </a:r>
          </a:p>
          <a:p>
            <a:pPr marL="388622" lvl="1" indent="-194311" algn="l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입지 · 가격 등이 섞인 길고 복합적 문장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23015" y="7048578"/>
            <a:ext cx="3927593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86개 문장 · 평균 감성 0.68</a:t>
            </a:r>
          </a:p>
          <a:p>
            <a:pPr marL="388622" lvl="1" indent="-194311" algn="l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"great location" 짧고 단정적인 극찬형 문장</a:t>
            </a:r>
          </a:p>
        </p:txBody>
      </p:sp>
      <p:sp>
        <p:nvSpPr>
          <p:cNvPr id="19" name="Freeform 19"/>
          <p:cNvSpPr/>
          <p:nvPr/>
        </p:nvSpPr>
        <p:spPr>
          <a:xfrm>
            <a:off x="2566282" y="4746475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271132" y="4810293"/>
            <a:ext cx="341239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유사 군집의 분리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76012" y="4444455"/>
            <a:ext cx="14486065" cy="3705225"/>
            <a:chOff x="0" y="0"/>
            <a:chExt cx="3418265" cy="8743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8265" cy="874319"/>
            </a:xfrm>
            <a:custGeom>
              <a:avLst/>
              <a:gdLst/>
              <a:ahLst/>
              <a:cxnLst/>
              <a:rect l="l" t="t" r="r" b="b"/>
              <a:pathLst>
                <a:path w="3418265" h="874319">
                  <a:moveTo>
                    <a:pt x="0" y="0"/>
                  </a:moveTo>
                  <a:lnTo>
                    <a:pt x="3418265" y="0"/>
                  </a:lnTo>
                  <a:lnTo>
                    <a:pt x="341826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341826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18144">
            <a:off x="7051311" y="344251"/>
            <a:ext cx="4184623" cy="181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종합</a:t>
            </a:r>
            <a:r>
              <a:rPr lang="en-US" sz="5000" b="1" spc="-250" dirty="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시각화</a:t>
            </a:r>
            <a:r>
              <a:rPr lang="en-US" sz="5000" b="1" spc="-250" dirty="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</a:p>
          <a:p>
            <a:pPr marL="0" lvl="0" indent="0" algn="ctr">
              <a:lnSpc>
                <a:spcPts val="7500"/>
              </a:lnSpc>
            </a:pPr>
            <a:r>
              <a:rPr lang="en-US" sz="5000" b="1" spc="-250" dirty="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체르노프</a:t>
            </a:r>
            <a:r>
              <a:rPr lang="en-US" sz="5000" b="1" spc="-250" dirty="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페이스</a:t>
            </a:r>
            <a:endParaRPr lang="en-US" sz="5000" b="1" spc="-250" dirty="0">
              <a:solidFill>
                <a:srgbClr val="222222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59181" y="3096519"/>
            <a:ext cx="11169639" cy="73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각 군집의 특성을 얼굴 하나로 압축해 한눈에 비교할 수 있습니다.</a:t>
            </a:r>
          </a:p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크기·눈·눈썹·입·색상에 서로 다른 통계량을 매핑했습니다. </a:t>
            </a:r>
          </a:p>
        </p:txBody>
      </p:sp>
      <p:pic>
        <p:nvPicPr>
          <p:cNvPr id="900" name="ChernoffF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4478" y="3881511"/>
            <a:ext cx="5730591" cy="4983123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3096088" y="5460160"/>
            <a:ext cx="5254805" cy="845186"/>
            <a:chOff x="0" y="0"/>
            <a:chExt cx="5019643" cy="8073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19643" cy="807362"/>
            </a:xfrm>
            <a:custGeom>
              <a:avLst/>
              <a:gdLst/>
              <a:ahLst/>
              <a:cxnLst/>
              <a:rect l="l" t="t" r="r" b="b"/>
              <a:pathLst>
                <a:path w="5019643" h="807362">
                  <a:moveTo>
                    <a:pt x="23020" y="0"/>
                  </a:moveTo>
                  <a:lnTo>
                    <a:pt x="4996623" y="0"/>
                  </a:lnTo>
                  <a:cubicBezTo>
                    <a:pt x="5009336" y="0"/>
                    <a:pt x="5019643" y="10307"/>
                    <a:pt x="5019643" y="23020"/>
                  </a:cubicBezTo>
                  <a:lnTo>
                    <a:pt x="5019643" y="784342"/>
                  </a:lnTo>
                  <a:cubicBezTo>
                    <a:pt x="5019643" y="797055"/>
                    <a:pt x="5009336" y="807362"/>
                    <a:pt x="4996623" y="807362"/>
                  </a:cubicBezTo>
                  <a:lnTo>
                    <a:pt x="23020" y="807362"/>
                  </a:lnTo>
                  <a:cubicBezTo>
                    <a:pt x="10307" y="807362"/>
                    <a:pt x="0" y="797055"/>
                    <a:pt x="0" y="784342"/>
                  </a:cubicBezTo>
                  <a:lnTo>
                    <a:pt x="0" y="23020"/>
                  </a:lnTo>
                  <a:cubicBezTo>
                    <a:pt x="0" y="10307"/>
                    <a:pt x="10307" y="0"/>
                    <a:pt x="23020" y="0"/>
                  </a:cubicBezTo>
                  <a:close/>
                </a:path>
              </a:pathLst>
            </a:custGeom>
            <a:solidFill>
              <a:srgbClr val="FCFCF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5019643" cy="826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40"/>
                </a:lnSpc>
              </a:pPr>
              <a:r>
                <a:rPr lang="en-US" sz="2000" b="1" spc="-100">
                  <a:solidFill>
                    <a:srgbClr val="222222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cluster_6만 회색으로 표시됩니다 — 계수 ≈0로 유의하지 않음을 의미합니다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650015" y="6486321"/>
            <a:ext cx="349579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2000" b="1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매핑 규칙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11988" y="6486321"/>
            <a:ext cx="349579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2000" b="1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읽는 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96088" y="7048578"/>
            <a:ext cx="3927593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얼굴 크기 = 문장 수</a:t>
            </a:r>
          </a:p>
          <a:p>
            <a:pPr marL="388622" lvl="1" indent="-194311" algn="l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눈 크기 = 감성 표준편차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23015" y="7048578"/>
            <a:ext cx="3927593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눈썹 각도 = Ridge 회귀계수</a:t>
            </a:r>
          </a:p>
          <a:p>
            <a:pPr marL="388622" lvl="1" indent="-194311" algn="l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색상 = 초록(+) · 빨강(–) · 회색(≈0)</a:t>
            </a:r>
          </a:p>
        </p:txBody>
      </p:sp>
      <p:sp>
        <p:nvSpPr>
          <p:cNvPr id="19" name="Freeform 19"/>
          <p:cNvSpPr/>
          <p:nvPr/>
        </p:nvSpPr>
        <p:spPr>
          <a:xfrm>
            <a:off x="2566282" y="4746475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271132" y="4810293"/>
            <a:ext cx="341239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매핑 범례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종합 결론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59181" y="3096519"/>
            <a:ext cx="11169639" cy="73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6"/>
              </a:lnSpc>
            </a:pP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TF-IDF·SVD·KMeans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기반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군집분석과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회귀·통계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검증을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종합하면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다음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네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가지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결론과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향후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과제를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도출할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수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있습니다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  <a:p>
            <a:pPr marL="0" lvl="0" indent="0" algn="ctr">
              <a:lnSpc>
                <a:spcPts val="2926"/>
              </a:lnSpc>
            </a:pP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특히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호텔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입지·직원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응대·배터리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수명이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감성을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높이는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핵심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주제로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4" spc="-100" dirty="0" err="1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확인되었습니다</a:t>
            </a:r>
            <a:r>
              <a:rPr lang="en-US" sz="2004" spc="-100" dirty="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076012" y="4444455"/>
            <a:ext cx="2585570" cy="4509045"/>
            <a:chOff x="0" y="0"/>
            <a:chExt cx="610115" cy="8743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144959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98170" y="6715080"/>
            <a:ext cx="1741254" cy="204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자동차·전자제품·호텔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3대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주제</a:t>
            </a: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, 12개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군집을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성공적으로</a:t>
            </a: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도출했습니다</a:t>
            </a: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38861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구조화 성공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051136" y="4444455"/>
            <a:ext cx="2585570" cy="4509045"/>
            <a:chOff x="0" y="0"/>
            <a:chExt cx="610115" cy="8743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6120083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473294" y="6715080"/>
            <a:ext cx="1741254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위계적</a:t>
            </a: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회귀</a:t>
            </a: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F검정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(p&lt;0.001)로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군집이</a:t>
            </a: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감성을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유의하게</a:t>
            </a: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설명합니다</a:t>
            </a: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  <a:p>
            <a:pPr marL="0" lvl="0" indent="0" algn="ctr">
              <a:lnSpc>
                <a:spcPts val="2700"/>
              </a:lnSpc>
            </a:pP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13985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통계적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유의성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8026260" y="4444455"/>
            <a:ext cx="2585570" cy="4509045"/>
            <a:chOff x="0" y="0"/>
            <a:chExt cx="610115" cy="8743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9095207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448417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실루엣 점수 0.06은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낮지만, 이는 통계적 설명력과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별개의 지표입니다.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89109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기하학적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한계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1001383" y="4444455"/>
            <a:ext cx="2585570" cy="4509045"/>
            <a:chOff x="0" y="0"/>
            <a:chExt cx="610115" cy="8743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2070331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1423541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cluster_0(전체 37%) 같은 대규모 혼합형 군집은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잔여 범주로 별도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처리할 필요가 있습니다.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64232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구조적 한계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976507" y="4444455"/>
            <a:ext cx="2585570" cy="4509045"/>
            <a:chOff x="0" y="0"/>
            <a:chExt cx="610115" cy="8743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45455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4398665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실루엣 기준 최적 K 비교와잔여 군집 처리 방안을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후속 분석에서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검토할 필요가 있습니다.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339356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향후 과제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70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3" y="5057775"/>
            <a:ext cx="4380035" cy="94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50"/>
              </a:lnSpc>
            </a:pPr>
            <a:r>
              <a:rPr lang="en-US" sz="2500" spc="-125" dirty="0" err="1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TF-IDF·SVD·KMeans</a:t>
            </a:r>
            <a:r>
              <a:rPr lang="en-US" sz="2500" spc="-125" dirty="0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기반</a:t>
            </a:r>
            <a:r>
              <a:rPr lang="en-US" sz="2500" spc="-125" dirty="0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</a:p>
          <a:p>
            <a:pPr marL="0" lvl="0" indent="0" algn="ctr">
              <a:lnSpc>
                <a:spcPts val="3850"/>
              </a:lnSpc>
            </a:pPr>
            <a:r>
              <a:rPr lang="en-US" sz="2500" spc="-125" dirty="0" err="1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토픽</a:t>
            </a:r>
            <a:r>
              <a:rPr lang="en-US" sz="2500" spc="-125" dirty="0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군집화와</a:t>
            </a:r>
            <a:r>
              <a:rPr lang="en-US" sz="2500" spc="-125" dirty="0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감성</a:t>
            </a:r>
            <a:r>
              <a:rPr lang="en-US" sz="2500" spc="-125" dirty="0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영향력</a:t>
            </a:r>
            <a:r>
              <a:rPr lang="en-US" sz="2500" spc="-125" dirty="0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500" spc="-125" dirty="0" err="1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분석</a:t>
            </a:r>
            <a:endParaRPr lang="en-US" sz="2500" spc="-125" dirty="0">
              <a:solidFill>
                <a:srgbClr val="C9DFFF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973222" y="8933815"/>
            <a:ext cx="12341556" cy="30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0"/>
              </a:lnSpc>
            </a:pPr>
            <a:r>
              <a:rPr lang="ko-KR" altLang="en-US" sz="2000" b="1" spc="-100" dirty="0">
                <a:solidFill>
                  <a:srgbClr val="FCFCFC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발표자</a:t>
            </a:r>
            <a:r>
              <a:rPr lang="en-US" sz="2000" b="1" spc="-100" dirty="0">
                <a:solidFill>
                  <a:srgbClr val="FCFCFC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|  </a:t>
            </a:r>
            <a:r>
              <a:rPr lang="ko-KR" altLang="en-US" sz="2000" b="1" spc="-100" dirty="0">
                <a:solidFill>
                  <a:srgbClr val="FCFCFC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이민석</a:t>
            </a:r>
            <a:endParaRPr lang="en-US" sz="2000" b="1" spc="-100" dirty="0">
              <a:solidFill>
                <a:srgbClr val="FCFCFC">
                  <a:alpha val="93725"/>
                </a:srgbClr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218210" y="8695690"/>
            <a:ext cx="15851580" cy="0"/>
          </a:xfrm>
          <a:prstGeom prst="line">
            <a:avLst/>
          </a:prstGeom>
          <a:ln w="19050" cap="flat">
            <a:solidFill>
              <a:srgbClr val="FDFD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691188" y="3319462"/>
            <a:ext cx="6905625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spc="-499">
                <a:solidFill>
                  <a:srgbClr val="FDFDFB"/>
                </a:solidFill>
                <a:latin typeface="JASO Sans"/>
                <a:ea typeface="JASO Sans"/>
                <a:cs typeface="JASO Sans"/>
                <a:sym typeface="JASO Sans"/>
              </a:rPr>
              <a:t>감사합니다</a:t>
            </a:r>
            <a:endParaRPr lang="en-US" sz="9999" spc="-499" dirty="0">
              <a:solidFill>
                <a:srgbClr val="FDFDFB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DFDFB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CLUSTER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29804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60000"/>
                </a:srgbClr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865</Words>
  <Application>Microsoft Office PowerPoint</Application>
  <PresentationFormat>사용자 지정</PresentationFormat>
  <Paragraphs>174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JASO Sans</vt:lpstr>
      <vt:lpstr>Arial</vt:lpstr>
      <vt:lpstr>JASO Sans Bold</vt:lpstr>
      <vt:lpstr>Calibri</vt:lpstr>
      <vt:lpstr>JASO Sans Heavy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흰색 미니멀리스트 비즈니스 회사 사업 소개 프레젠테이션</dc:title>
  <dc:creator>admin</dc:creator>
  <cp:lastModifiedBy>admin</cp:lastModifiedBy>
  <cp:revision>4</cp:revision>
  <dcterms:created xsi:type="dcterms:W3CDTF">2006-08-16T00:00:00Z</dcterms:created>
  <dcterms:modified xsi:type="dcterms:W3CDTF">2026-09-02T06:51:50Z</dcterms:modified>
  <dc:identifier>DAHT7WgIghM</dc:identifier>
</cp:coreProperties>
</file>