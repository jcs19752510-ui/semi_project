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JASO Sans" charset="1" panose="020E0002060000000900"/>
      <p:regular r:id="rId16"/>
    </p:embeddedFont>
    <p:embeddedFont>
      <p:font typeface="JASO Sans Bold" charset="1" panose="020E0002060000000900"/>
      <p:regular r:id="rId17"/>
    </p:embeddedFont>
    <p:embeddedFont>
      <p:font typeface="JASO Sans Heavy" charset="1" panose="020E00020600000009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53983" y="6486525"/>
            <a:ext cx="4380035" cy="46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50"/>
              </a:lnSpc>
            </a:pPr>
            <a:r>
              <a:rPr lang="en-US" sz="2500" spc="-125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비전을 현실로, 혁신을 가치로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8210" y="9101518"/>
            <a:ext cx="4086726" cy="32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0"/>
              </a:lnSpc>
            </a:pPr>
            <a:r>
              <a:rPr lang="en-US" b="true" sz="2000" spc="-100">
                <a:solidFill>
                  <a:srgbClr val="3970CF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영업팀  |  서승준 대리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83064" y="9101518"/>
            <a:ext cx="4086726" cy="32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20"/>
              </a:lnSpc>
            </a:pPr>
            <a:r>
              <a:rPr lang="en-US" b="true" sz="2000" spc="-100">
                <a:solidFill>
                  <a:srgbClr val="3970CF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작성일  |  20230년 6월 7일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91188" y="3267075"/>
            <a:ext cx="6905625" cy="302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spc="-499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심플한</a:t>
            </a:r>
          </a:p>
          <a:p>
            <a:pPr algn="ctr">
              <a:lnSpc>
                <a:spcPts val="11999"/>
              </a:lnSpc>
            </a:pPr>
            <a:r>
              <a:rPr lang="en-US" b="true" sz="9999" spc="-499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사업 계획서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28234" y="2324100"/>
            <a:ext cx="883153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3970CF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BUSINESS PLAN</a:t>
            </a:r>
          </a:p>
        </p:txBody>
      </p:sp>
      <p:sp>
        <p:nvSpPr>
          <p:cNvPr name="AutoShape 7" id="7"/>
          <p:cNvSpPr/>
          <p:nvPr/>
        </p:nvSpPr>
        <p:spPr>
          <a:xfrm>
            <a:off x="1218210" y="8789415"/>
            <a:ext cx="15851580" cy="0"/>
          </a:xfrm>
          <a:prstGeom prst="line">
            <a:avLst/>
          </a:prstGeom>
          <a:ln cap="flat" w="19050">
            <a:solidFill>
              <a:srgbClr val="3970C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759121" y="1437323"/>
            <a:ext cx="769758" cy="190500"/>
            <a:chOff x="0" y="0"/>
            <a:chExt cx="1026344" cy="254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54000" cy="25400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>
                  <a:alpha val="29804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93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86172" y="0"/>
              <a:ext cx="254000" cy="25400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>
                  <a:alpha val="60000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93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772344" y="0"/>
              <a:ext cx="254000" cy="25400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93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397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33361" y="4842594"/>
            <a:ext cx="286872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</a:pPr>
            <a:r>
              <a:rPr lang="en-US" b="true" sz="2499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회사 소개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81511" y="4842594"/>
            <a:ext cx="286872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</a:pPr>
            <a:r>
              <a:rPr lang="en-US" b="true" sz="2499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타깃 고객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33361" y="5585544"/>
            <a:ext cx="286872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</a:pPr>
            <a:r>
              <a:rPr lang="en-US" b="true" sz="2499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문제 정의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81511" y="5585544"/>
            <a:ext cx="286872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</a:pPr>
            <a:r>
              <a:rPr lang="en-US" b="true" sz="2499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SWOT 분석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90261" y="4780682"/>
            <a:ext cx="79227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500"/>
              </a:lnSpc>
            </a:pPr>
            <a:r>
              <a:rPr lang="en-US" b="true" sz="3000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38411" y="4780682"/>
            <a:ext cx="79227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500"/>
              </a:lnSpc>
            </a:pPr>
            <a:r>
              <a:rPr lang="en-US" b="true" sz="3000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90261" y="5523632"/>
            <a:ext cx="79227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500"/>
              </a:lnSpc>
            </a:pPr>
            <a:r>
              <a:rPr lang="en-US" b="true" sz="3000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38411" y="5523632"/>
            <a:ext cx="79227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500"/>
              </a:lnSpc>
            </a:pPr>
            <a:r>
              <a:rPr lang="en-US" b="true" sz="3000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33361" y="6328494"/>
            <a:ext cx="286872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</a:pPr>
            <a:r>
              <a:rPr lang="en-US" b="true" sz="2499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솔루션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81511" y="6328494"/>
            <a:ext cx="286872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</a:pPr>
            <a:r>
              <a:rPr lang="en-US" b="true" sz="2499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성장 전략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90261" y="6266582"/>
            <a:ext cx="79227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500"/>
              </a:lnSpc>
            </a:pPr>
            <a:r>
              <a:rPr lang="en-US" b="true" sz="3000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38411" y="6266582"/>
            <a:ext cx="79227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500"/>
              </a:lnSpc>
            </a:pPr>
            <a:r>
              <a:rPr lang="en-US" b="true" sz="3000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33361" y="7071444"/>
            <a:ext cx="286872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</a:pPr>
            <a:r>
              <a:rPr lang="en-US" b="true" sz="2499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시장 분석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81511" y="7071444"/>
            <a:ext cx="286872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</a:pPr>
            <a:r>
              <a:rPr lang="en-US" b="true" sz="2499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Q&amp;A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90261" y="7009532"/>
            <a:ext cx="79227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500"/>
              </a:lnSpc>
            </a:pPr>
            <a:r>
              <a:rPr lang="en-US" b="true" sz="3000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38411" y="7009532"/>
            <a:ext cx="79227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500"/>
              </a:lnSpc>
            </a:pPr>
            <a:r>
              <a:rPr lang="en-US" b="true" sz="3000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35415" y="1797797"/>
            <a:ext cx="521717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b="true" sz="6999" spc="-349">
                <a:solidFill>
                  <a:srgbClr val="FCFCFC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08101"/>
            <a:ext cx="16580689" cy="6630853"/>
            <a:chOff x="0" y="0"/>
            <a:chExt cx="4366930" cy="17463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6930" cy="1746398"/>
            </a:xfrm>
            <a:custGeom>
              <a:avLst/>
              <a:gdLst/>
              <a:ahLst/>
              <a:cxnLst/>
              <a:rect r="r" b="b" t="t" l="l"/>
              <a:pathLst>
                <a:path h="1746398" w="4366930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76012" y="4444455"/>
            <a:ext cx="14486065" cy="3705225"/>
            <a:chOff x="0" y="0"/>
            <a:chExt cx="3418265" cy="8743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18265" cy="874319"/>
            </a:xfrm>
            <a:custGeom>
              <a:avLst/>
              <a:gdLst/>
              <a:ahLst/>
              <a:cxnLst/>
              <a:rect r="r" b="b" t="t" l="l"/>
              <a:pathLst>
                <a:path h="874319" w="3418265">
                  <a:moveTo>
                    <a:pt x="0" y="0"/>
                  </a:moveTo>
                  <a:lnTo>
                    <a:pt x="3418265" y="0"/>
                  </a:lnTo>
                  <a:lnTo>
                    <a:pt x="341826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418265" cy="88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3429692" y="5535646"/>
            <a:ext cx="11778705" cy="0"/>
          </a:xfrm>
          <a:prstGeom prst="line">
            <a:avLst/>
          </a:prstGeom>
          <a:ln cap="flat" w="28575">
            <a:solidFill>
              <a:srgbClr val="3970C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5228788" y="6431631"/>
            <a:ext cx="2373312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브랜드 런칭</a:t>
            </a:r>
          </a:p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첫 제품 출시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25189" y="6364956"/>
            <a:ext cx="237331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499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회사 설립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32388" y="6431631"/>
            <a:ext cx="2373312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누적 고객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1만명 달성</a:t>
            </a:r>
          </a:p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팝업스토어 진행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91753" y="5806156"/>
            <a:ext cx="124018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499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2000년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95352" y="5806156"/>
            <a:ext cx="124018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499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2002년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98952" y="5806156"/>
            <a:ext cx="124018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499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2010년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02552" y="5806156"/>
            <a:ext cx="124018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499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2020년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347539" y="5371340"/>
            <a:ext cx="328612" cy="32861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70C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3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51138" y="5371340"/>
            <a:ext cx="328612" cy="32861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70C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3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54738" y="5371340"/>
            <a:ext cx="328612" cy="32861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70C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3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58338" y="5371340"/>
            <a:ext cx="328612" cy="32861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70C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3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961937" y="5371340"/>
            <a:ext cx="328612" cy="328612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70C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3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4506151" y="5806156"/>
            <a:ext cx="124018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499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2025년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035988" y="6431631"/>
            <a:ext cx="2373312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협업 프로젝트 진행</a:t>
            </a:r>
          </a:p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해외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판매 시작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939587" y="6431631"/>
            <a:ext cx="2373312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오프라인 입점 확대</a:t>
            </a:r>
          </a:p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신규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서비스 런칭</a:t>
            </a:r>
          </a:p>
        </p:txBody>
      </p:sp>
      <p:sp>
        <p:nvSpPr>
          <p:cNvPr name="TextBox 34" id="34"/>
          <p:cNvSpPr txBox="true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</a:pPr>
            <a:r>
              <a:rPr lang="en-US" b="true" sz="5000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회사 소개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98892" y="3096519"/>
            <a:ext cx="10090216" cy="73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2025년에는 오프라인 입점을 확대하며 신규 서비스를 런칭하였습니다. </a:t>
            </a:r>
          </a:p>
          <a:p>
            <a:pPr algn="ctr" marL="0" indent="0" lvl="0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이러한 연혁을 통해 우리는 끊임없이 성장하고 발전하는 모습을 보여드리고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08101"/>
            <a:ext cx="16580689" cy="6630853"/>
            <a:chOff x="0" y="0"/>
            <a:chExt cx="4366930" cy="17463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6930" cy="1746398"/>
            </a:xfrm>
            <a:custGeom>
              <a:avLst/>
              <a:gdLst/>
              <a:ahLst/>
              <a:cxnLst/>
              <a:rect r="r" b="b" t="t" l="l"/>
              <a:pathLst>
                <a:path h="1746398" w="4366930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</a:pPr>
            <a:r>
              <a:rPr lang="en-US" b="true" sz="5000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문제 정의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74792" y="3096519"/>
            <a:ext cx="14738416" cy="73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고객은</a:t>
            </a: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더 간편하고 효율적인 솔루션을 필요로 합니다.이를 위해 우리는 지속적으로 혁신을 추구하고 있으며, </a:t>
            </a:r>
          </a:p>
          <a:p>
            <a:pPr algn="ctr" marL="0" indent="0" lvl="0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고객의 요구에 맞춘 맞춤형 서비스를 제공하고자 합니다. 고객의 피드백을 적극 반영하여 제품과 서비스를 개선하고 있습니다.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134492" y="4444455"/>
            <a:ext cx="4019016" cy="3705225"/>
            <a:chOff x="0" y="0"/>
            <a:chExt cx="948364" cy="8743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8364" cy="874319"/>
            </a:xfrm>
            <a:custGeom>
              <a:avLst/>
              <a:gdLst/>
              <a:ahLst/>
              <a:cxnLst/>
              <a:rect r="r" b="b" t="t" l="l"/>
              <a:pathLst>
                <a:path h="874319" w="948364">
                  <a:moveTo>
                    <a:pt x="0" y="0"/>
                  </a:moveTo>
                  <a:lnTo>
                    <a:pt x="948364" y="0"/>
                  </a:lnTo>
                  <a:lnTo>
                    <a:pt x="948364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48364" cy="88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920162" y="4905859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6" y="0"/>
                </a:lnTo>
                <a:lnTo>
                  <a:pt x="447676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26583" y="6619830"/>
            <a:ext cx="3034833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중소기업은 더 경제적이고</a:t>
            </a:r>
          </a:p>
          <a:p>
            <a:pPr algn="ctr" marL="0" indent="0" lvl="0">
              <a:lnSpc>
                <a:spcPts val="2700"/>
              </a:lnSpc>
            </a:pPr>
            <a:r>
              <a:rPr lang="en-US" b="true" sz="1800" spc="-90">
                <a:solidFill>
                  <a:srgbClr val="2664B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단순한 대안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을 찾기 위해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고군분투하고 있습니다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076012" y="4444455"/>
            <a:ext cx="4019016" cy="3705225"/>
            <a:chOff x="0" y="0"/>
            <a:chExt cx="948364" cy="8743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8364" cy="874319"/>
            </a:xfrm>
            <a:custGeom>
              <a:avLst/>
              <a:gdLst/>
              <a:ahLst/>
              <a:cxnLst/>
              <a:rect r="r" b="b" t="t" l="l"/>
              <a:pathLst>
                <a:path h="874319" w="948364">
                  <a:moveTo>
                    <a:pt x="0" y="0"/>
                  </a:moveTo>
                  <a:lnTo>
                    <a:pt x="948364" y="0"/>
                  </a:lnTo>
                  <a:lnTo>
                    <a:pt x="948364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948364" cy="88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861682" y="4905859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568103" y="6619830"/>
            <a:ext cx="3034833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기존 솔루션은 복잡하고 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비용이 높아 중소기업의 </a:t>
            </a:r>
          </a:p>
          <a:p>
            <a:pPr algn="ctr" marL="0" indent="0" lvl="0">
              <a:lnSpc>
                <a:spcPts val="2700"/>
              </a:lnSpc>
            </a:pPr>
            <a:r>
              <a:rPr lang="en-US" b="true" sz="1800" spc="-90">
                <a:solidFill>
                  <a:srgbClr val="2664B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접근성이 낮습니다.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21919" y="5632159"/>
            <a:ext cx="2527201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높은 비용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80399" y="5632159"/>
            <a:ext cx="2527201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복잡성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543061" y="4444455"/>
            <a:ext cx="4019016" cy="3705225"/>
            <a:chOff x="0" y="0"/>
            <a:chExt cx="948364" cy="8743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8364" cy="874319"/>
            </a:xfrm>
            <a:custGeom>
              <a:avLst/>
              <a:gdLst/>
              <a:ahLst/>
              <a:cxnLst/>
              <a:rect r="r" b="b" t="t" l="l"/>
              <a:pathLst>
                <a:path h="874319" w="948364">
                  <a:moveTo>
                    <a:pt x="0" y="0"/>
                  </a:moveTo>
                  <a:lnTo>
                    <a:pt x="948364" y="0"/>
                  </a:lnTo>
                  <a:lnTo>
                    <a:pt x="948364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948364" cy="88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035152" y="6619830"/>
            <a:ext cx="3034833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</a:pPr>
            <a:r>
              <a:rPr lang="en-US" b="true" sz="1800" spc="-90">
                <a:solidFill>
                  <a:srgbClr val="2664B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비효율적인</a:t>
            </a:r>
            <a:r>
              <a:rPr lang="en-US" b="true" sz="1800" spc="-90">
                <a:solidFill>
                  <a:srgbClr val="2664B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프로세스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로 인해 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시간과 자원이 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낭비되고 있습니다.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88968" y="5632159"/>
            <a:ext cx="2527201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낮</a:t>
            </a: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은 효율성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328731" y="4905859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08101"/>
            <a:ext cx="16580689" cy="6630853"/>
            <a:chOff x="0" y="0"/>
            <a:chExt cx="4366930" cy="17463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6930" cy="1746398"/>
            </a:xfrm>
            <a:custGeom>
              <a:avLst/>
              <a:gdLst/>
              <a:ahLst/>
              <a:cxnLst/>
              <a:rect r="r" b="b" t="t" l="l"/>
              <a:pathLst>
                <a:path h="1746398" w="4366930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</a:pPr>
            <a:r>
              <a:rPr lang="en-US" b="true" sz="5000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솔루션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74792" y="3096519"/>
            <a:ext cx="14738416" cy="73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기업별</a:t>
            </a: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최적화된 솔루션을 제공합니다.이러한 솔루션은 중소기업의 특정 요구에 맞춰 설계되어, </a:t>
            </a:r>
          </a:p>
          <a:p>
            <a:pPr algn="ctr" marL="0" indent="0" lvl="0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효율성을 극대화하고 비용을 절감할 수 있도록 지원합니다.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076012" y="4444455"/>
            <a:ext cx="14486065" cy="1114574"/>
            <a:chOff x="0" y="0"/>
            <a:chExt cx="3418265" cy="2630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18265" cy="263005"/>
            </a:xfrm>
            <a:custGeom>
              <a:avLst/>
              <a:gdLst/>
              <a:ahLst/>
              <a:cxnLst/>
              <a:rect r="r" b="b" t="t" l="l"/>
              <a:pathLst>
                <a:path h="263005" w="3418265">
                  <a:moveTo>
                    <a:pt x="0" y="0"/>
                  </a:moveTo>
                  <a:lnTo>
                    <a:pt x="3418265" y="0"/>
                  </a:lnTo>
                  <a:lnTo>
                    <a:pt x="3418265" y="263005"/>
                  </a:lnTo>
                  <a:lnTo>
                    <a:pt x="0" y="26300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3418265" cy="27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566282" y="4776476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271132" y="4871726"/>
            <a:ext cx="18596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2499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솔루션 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06555" y="4806004"/>
            <a:ext cx="6221074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AI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기반 자동화 시스템으로 업무 </a:t>
            </a:r>
            <a:r>
              <a:rPr lang="en-US" b="true" sz="1800" spc="-90">
                <a:solidFill>
                  <a:srgbClr val="2664B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효율성을 200% 향상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시킵니다.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5279209" y="4671140"/>
            <a:ext cx="0" cy="661204"/>
          </a:xfrm>
          <a:prstGeom prst="line">
            <a:avLst/>
          </a:prstGeom>
          <a:ln cap="flat" w="28575">
            <a:solidFill>
              <a:srgbClr val="3970C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2076012" y="5739781"/>
            <a:ext cx="14486065" cy="1114574"/>
            <a:chOff x="0" y="0"/>
            <a:chExt cx="3418265" cy="2630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18265" cy="263005"/>
            </a:xfrm>
            <a:custGeom>
              <a:avLst/>
              <a:gdLst/>
              <a:ahLst/>
              <a:cxnLst/>
              <a:rect r="r" b="b" t="t" l="l"/>
              <a:pathLst>
                <a:path h="263005" w="3418265">
                  <a:moveTo>
                    <a:pt x="0" y="0"/>
                  </a:moveTo>
                  <a:lnTo>
                    <a:pt x="3418265" y="0"/>
                  </a:lnTo>
                  <a:lnTo>
                    <a:pt x="3418265" y="263005"/>
                  </a:lnTo>
                  <a:lnTo>
                    <a:pt x="0" y="26300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418265" cy="27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566282" y="6071801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271132" y="6167052"/>
            <a:ext cx="18596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2499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솔루션 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06555" y="6102758"/>
            <a:ext cx="6221074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클라우드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통합 플랫폼으로 </a:t>
            </a:r>
            <a:r>
              <a:rPr lang="en-US" b="true" sz="1800" spc="-90">
                <a:solidFill>
                  <a:srgbClr val="2664B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실시간 데이터 분석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이 가능합니다.</a:t>
            </a:r>
          </a:p>
        </p:txBody>
      </p:sp>
      <p:sp>
        <p:nvSpPr>
          <p:cNvPr name="AutoShape 20" id="20"/>
          <p:cNvSpPr/>
          <p:nvPr/>
        </p:nvSpPr>
        <p:spPr>
          <a:xfrm>
            <a:off x="5279209" y="5966466"/>
            <a:ext cx="0" cy="661204"/>
          </a:xfrm>
          <a:prstGeom prst="line">
            <a:avLst/>
          </a:prstGeom>
          <a:ln cap="flat" w="28575">
            <a:solidFill>
              <a:srgbClr val="3970C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2076012" y="7035106"/>
            <a:ext cx="14486065" cy="1114574"/>
            <a:chOff x="0" y="0"/>
            <a:chExt cx="3418265" cy="26300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18265" cy="263005"/>
            </a:xfrm>
            <a:custGeom>
              <a:avLst/>
              <a:gdLst/>
              <a:ahLst/>
              <a:cxnLst/>
              <a:rect r="r" b="b" t="t" l="l"/>
              <a:pathLst>
                <a:path h="263005" w="3418265">
                  <a:moveTo>
                    <a:pt x="0" y="0"/>
                  </a:moveTo>
                  <a:lnTo>
                    <a:pt x="3418265" y="0"/>
                  </a:lnTo>
                  <a:lnTo>
                    <a:pt x="3418265" y="263005"/>
                  </a:lnTo>
                  <a:lnTo>
                    <a:pt x="0" y="26300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418265" cy="27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2566282" y="7367127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271132" y="7462377"/>
            <a:ext cx="18596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2499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솔루션 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06555" y="7398083"/>
            <a:ext cx="6221074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맞춤형 컨설팅으로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기업별 </a:t>
            </a:r>
            <a:r>
              <a:rPr lang="en-US" b="true" sz="1800" spc="-90">
                <a:solidFill>
                  <a:srgbClr val="2664B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최적화된 솔루션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을 제공합니다.</a:t>
            </a:r>
          </a:p>
        </p:txBody>
      </p:sp>
      <p:sp>
        <p:nvSpPr>
          <p:cNvPr name="AutoShape 27" id="27"/>
          <p:cNvSpPr/>
          <p:nvPr/>
        </p:nvSpPr>
        <p:spPr>
          <a:xfrm>
            <a:off x="5279209" y="7261791"/>
            <a:ext cx="0" cy="661204"/>
          </a:xfrm>
          <a:prstGeom prst="line">
            <a:avLst/>
          </a:prstGeom>
          <a:ln cap="flat" w="28575">
            <a:solidFill>
              <a:srgbClr val="3970C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08101"/>
            <a:ext cx="16580689" cy="6630853"/>
            <a:chOff x="0" y="0"/>
            <a:chExt cx="4366930" cy="17463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6930" cy="1746398"/>
            </a:xfrm>
            <a:custGeom>
              <a:avLst/>
              <a:gdLst/>
              <a:ahLst/>
              <a:cxnLst/>
              <a:rect r="r" b="b" t="t" l="l"/>
              <a:pathLst>
                <a:path h="1746398" w="4366930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76012" y="6161332"/>
            <a:ext cx="4019016" cy="1988349"/>
            <a:chOff x="0" y="0"/>
            <a:chExt cx="948364" cy="4691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8364" cy="469189"/>
            </a:xfrm>
            <a:custGeom>
              <a:avLst/>
              <a:gdLst/>
              <a:ahLst/>
              <a:cxnLst/>
              <a:rect r="r" b="b" t="t" l="l"/>
              <a:pathLst>
                <a:path h="469189" w="948364">
                  <a:moveTo>
                    <a:pt x="0" y="0"/>
                  </a:moveTo>
                  <a:lnTo>
                    <a:pt x="948364" y="0"/>
                  </a:lnTo>
                  <a:lnTo>
                    <a:pt x="948364" y="469189"/>
                  </a:lnTo>
                  <a:lnTo>
                    <a:pt x="0" y="46918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948364" cy="478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</a:pPr>
            <a:r>
              <a:rPr lang="en-US" b="true" sz="5000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시장 분석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20473" y="3850870"/>
            <a:ext cx="4258229" cy="169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004" spc="-10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국내 시장 규모는 연평균 25.7% 성장하여 </a:t>
            </a:r>
          </a:p>
          <a:p>
            <a:pPr algn="l">
              <a:lnSpc>
                <a:spcPts val="3408"/>
              </a:lnSpc>
            </a:pPr>
            <a:r>
              <a:rPr lang="en-US" sz="2004" spc="-10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2025년 5조원 돌파 전망입니다.</a:t>
            </a:r>
          </a:p>
          <a:p>
            <a:pPr algn="l">
              <a:lnSpc>
                <a:spcPts val="3408"/>
              </a:lnSpc>
            </a:pPr>
            <a:r>
              <a:rPr lang="en-US" sz="2004" spc="-100" b="true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디지털 전환 가속화 관련</a:t>
            </a:r>
          </a:p>
          <a:p>
            <a:pPr algn="l" marL="0" indent="0" lvl="0">
              <a:lnSpc>
                <a:spcPts val="3408"/>
              </a:lnSpc>
            </a:pPr>
            <a:r>
              <a:rPr lang="en-US" b="true" sz="2004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솔루션 수요가 급격히 증가</a:t>
            </a:r>
            <a:r>
              <a:rPr lang="en-US" sz="2004" spc="-10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하고 있습니다.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434795" y="6438860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34795" y="7247698"/>
            <a:ext cx="141498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</a:pPr>
            <a:r>
              <a:rPr lang="en-US" b="true" sz="5000" spc="-2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25.7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66177" y="7452486"/>
            <a:ext cx="62054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2499" spc="-124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45602" y="6502677"/>
            <a:ext cx="1861695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솔루션 수요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31688" y="2559431"/>
            <a:ext cx="11044522" cy="67775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08101"/>
            <a:ext cx="16580689" cy="6630853"/>
            <a:chOff x="0" y="0"/>
            <a:chExt cx="4366930" cy="17463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6930" cy="1746398"/>
            </a:xfrm>
            <a:custGeom>
              <a:avLst/>
              <a:gdLst/>
              <a:ahLst/>
              <a:cxnLst/>
              <a:rect r="r" b="b" t="t" l="l"/>
              <a:pathLst>
                <a:path h="1746398" w="4366930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76012" y="4444455"/>
            <a:ext cx="14486065" cy="3705225"/>
            <a:chOff x="0" y="0"/>
            <a:chExt cx="3418265" cy="8743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18265" cy="874319"/>
            </a:xfrm>
            <a:custGeom>
              <a:avLst/>
              <a:gdLst/>
              <a:ahLst/>
              <a:cxnLst/>
              <a:rect r="r" b="b" t="t" l="l"/>
              <a:pathLst>
                <a:path h="874319" w="3418265">
                  <a:moveTo>
                    <a:pt x="0" y="0"/>
                  </a:moveTo>
                  <a:lnTo>
                    <a:pt x="3418265" y="0"/>
                  </a:lnTo>
                  <a:lnTo>
                    <a:pt x="341826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418265" cy="88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</a:pPr>
            <a:r>
              <a:rPr lang="en-US" b="true" sz="5000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타깃 분석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59181" y="3096519"/>
            <a:ext cx="11169639" cy="73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이러한 기업들은 효율적인 업무 프로세스를 필요로 하며, 기술을 통해 업무 효율성을 높이고자 합니다.</a:t>
            </a:r>
          </a:p>
          <a:p>
            <a:pPr algn="ctr" marL="0" indent="0" lvl="0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이를 위해 자동화 솔루션이나 관리 소프트웨어 도입을 고려할 가능성이 높습니다.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782123" y="4722417"/>
            <a:ext cx="3149301" cy="314930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096088" y="5460160"/>
            <a:ext cx="5254805" cy="845186"/>
            <a:chOff x="0" y="0"/>
            <a:chExt cx="5019643" cy="8073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19643" cy="807362"/>
            </a:xfrm>
            <a:custGeom>
              <a:avLst/>
              <a:gdLst/>
              <a:ahLst/>
              <a:cxnLst/>
              <a:rect r="r" b="b" t="t" l="l"/>
              <a:pathLst>
                <a:path h="807362" w="5019643">
                  <a:moveTo>
                    <a:pt x="23020" y="0"/>
                  </a:moveTo>
                  <a:lnTo>
                    <a:pt x="4996623" y="0"/>
                  </a:lnTo>
                  <a:cubicBezTo>
                    <a:pt x="5009336" y="0"/>
                    <a:pt x="5019643" y="10307"/>
                    <a:pt x="5019643" y="23020"/>
                  </a:cubicBezTo>
                  <a:lnTo>
                    <a:pt x="5019643" y="784342"/>
                  </a:lnTo>
                  <a:cubicBezTo>
                    <a:pt x="5019643" y="797055"/>
                    <a:pt x="5009336" y="807362"/>
                    <a:pt x="4996623" y="807362"/>
                  </a:cubicBezTo>
                  <a:lnTo>
                    <a:pt x="23020" y="807362"/>
                  </a:lnTo>
                  <a:cubicBezTo>
                    <a:pt x="10307" y="807362"/>
                    <a:pt x="0" y="797055"/>
                    <a:pt x="0" y="784342"/>
                  </a:cubicBezTo>
                  <a:lnTo>
                    <a:pt x="0" y="23020"/>
                  </a:lnTo>
                  <a:cubicBezTo>
                    <a:pt x="0" y="10307"/>
                    <a:pt x="10307" y="0"/>
                    <a:pt x="23020" y="0"/>
                  </a:cubicBezTo>
                  <a:close/>
                </a:path>
              </a:pathLst>
            </a:custGeom>
            <a:solidFill>
              <a:srgbClr val="FCFCF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019643" cy="826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40"/>
                </a:lnSpc>
              </a:pPr>
              <a:r>
                <a:rPr lang="en-US" b="true" sz="2000" spc="-100">
                  <a:solidFill>
                    <a:srgbClr val="222222"/>
                  </a:solidFill>
                  <a:latin typeface="JASO Sans Bold"/>
                  <a:ea typeface="JASO Sans Bold"/>
                  <a:cs typeface="JASO Sans Bold"/>
                  <a:sym typeface="JASO Sans Bold"/>
                </a:rPr>
                <a:t>적은 인원으로 많은 업무를 처리해야 하는 상황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650015" y="6486321"/>
            <a:ext cx="349579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</a:pPr>
            <a:r>
              <a:rPr lang="en-US" b="true" sz="2000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주요 니즈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11988" y="6486321"/>
            <a:ext cx="349579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</a:pPr>
            <a:r>
              <a:rPr lang="en-US" b="true" sz="2000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현재 상황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96088" y="7048578"/>
            <a:ext cx="3927593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직원 수 5~20명 규모 스타트업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근무</a:t>
            </a:r>
          </a:p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반복적인 작업 및 고객 응대 업무 과다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23015" y="7048578"/>
            <a:ext cx="3927593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업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무 시간 단축</a:t>
            </a:r>
          </a:p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운영 비용 절감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566282" y="4746475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271132" y="4810293"/>
            <a:ext cx="3412392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중소기업 · 스타트업</a:t>
            </a: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</a:pPr>
            <a:r>
              <a:rPr lang="en-US" b="true" sz="5000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SWOT 분석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508101"/>
            <a:ext cx="16580689" cy="6630853"/>
            <a:chOff x="0" y="0"/>
            <a:chExt cx="4366930" cy="17463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66930" cy="1746398"/>
            </a:xfrm>
            <a:custGeom>
              <a:avLst/>
              <a:gdLst/>
              <a:ahLst/>
              <a:cxnLst/>
              <a:rect r="r" b="b" t="t" l="l"/>
              <a:pathLst>
                <a:path h="1746398" w="4366930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59181" y="3096519"/>
            <a:ext cx="11169639" cy="73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서비</a:t>
            </a: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스 경쟁력 및 시장 환경 분석은 매우 중요합니다. </a:t>
            </a:r>
          </a:p>
          <a:p>
            <a:pPr algn="ctr" marL="0" indent="0" lvl="0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스타트업의 성공적인 성장을 위해서는 경쟁사의 전략과 현재 시장 동향을 면밀히 분석해야 합니다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420644" y="4500256"/>
            <a:ext cx="7141432" cy="1709734"/>
            <a:chOff x="0" y="0"/>
            <a:chExt cx="1685158" cy="403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85158" cy="403445"/>
            </a:xfrm>
            <a:custGeom>
              <a:avLst/>
              <a:gdLst/>
              <a:ahLst/>
              <a:cxnLst/>
              <a:rect r="r" b="b" t="t" l="l"/>
              <a:pathLst>
                <a:path h="403445" w="1685158">
                  <a:moveTo>
                    <a:pt x="0" y="0"/>
                  </a:moveTo>
                  <a:lnTo>
                    <a:pt x="1685158" y="0"/>
                  </a:lnTo>
                  <a:lnTo>
                    <a:pt x="1685158" y="403445"/>
                  </a:lnTo>
                  <a:lnTo>
                    <a:pt x="0" y="40344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685158" cy="412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910915" y="4746475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615765" y="4810293"/>
            <a:ext cx="856350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약점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72115" y="4897454"/>
            <a:ext cx="2094600" cy="26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</a:pPr>
            <a:r>
              <a:rPr lang="en-US" b="true" sz="2000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W</a:t>
            </a:r>
            <a:r>
              <a:rPr lang="en-US" sz="2000" spc="-100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EAKNESSES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15765" y="5292258"/>
            <a:ext cx="4411324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기존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업무 방식 변화에 대한 적응 필요</a:t>
            </a:r>
          </a:p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서비스 초기 인지도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부족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가능성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20644" y="6443364"/>
            <a:ext cx="7141432" cy="1709734"/>
            <a:chOff x="0" y="0"/>
            <a:chExt cx="1685158" cy="4034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85158" cy="403445"/>
            </a:xfrm>
            <a:custGeom>
              <a:avLst/>
              <a:gdLst/>
              <a:ahLst/>
              <a:cxnLst/>
              <a:rect r="r" b="b" t="t" l="l"/>
              <a:pathLst>
                <a:path h="403445" w="1685158">
                  <a:moveTo>
                    <a:pt x="0" y="0"/>
                  </a:moveTo>
                  <a:lnTo>
                    <a:pt x="1685158" y="0"/>
                  </a:lnTo>
                  <a:lnTo>
                    <a:pt x="1685158" y="403445"/>
                  </a:lnTo>
                  <a:lnTo>
                    <a:pt x="0" y="40344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685158" cy="412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76012" y="4500256"/>
            <a:ext cx="7141432" cy="1709734"/>
            <a:chOff x="0" y="0"/>
            <a:chExt cx="1685158" cy="4034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85158" cy="403445"/>
            </a:xfrm>
            <a:custGeom>
              <a:avLst/>
              <a:gdLst/>
              <a:ahLst/>
              <a:cxnLst/>
              <a:rect r="r" b="b" t="t" l="l"/>
              <a:pathLst>
                <a:path h="403445" w="1685158">
                  <a:moveTo>
                    <a:pt x="0" y="0"/>
                  </a:moveTo>
                  <a:lnTo>
                    <a:pt x="1685158" y="0"/>
                  </a:lnTo>
                  <a:lnTo>
                    <a:pt x="1685158" y="403445"/>
                  </a:lnTo>
                  <a:lnTo>
                    <a:pt x="0" y="40344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685158" cy="412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76012" y="6443364"/>
            <a:ext cx="7141432" cy="1709734"/>
            <a:chOff x="0" y="0"/>
            <a:chExt cx="1685158" cy="4034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85158" cy="403445"/>
            </a:xfrm>
            <a:custGeom>
              <a:avLst/>
              <a:gdLst/>
              <a:ahLst/>
              <a:cxnLst/>
              <a:rect r="r" b="b" t="t" l="l"/>
              <a:pathLst>
                <a:path h="403445" w="1685158">
                  <a:moveTo>
                    <a:pt x="0" y="0"/>
                  </a:moveTo>
                  <a:lnTo>
                    <a:pt x="1685158" y="0"/>
                  </a:lnTo>
                  <a:lnTo>
                    <a:pt x="1685158" y="403445"/>
                  </a:lnTo>
                  <a:lnTo>
                    <a:pt x="0" y="40344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685158" cy="412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566282" y="6689583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271132" y="6753401"/>
            <a:ext cx="856350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기회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27482" y="6840562"/>
            <a:ext cx="2094600" cy="26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</a:pPr>
            <a:r>
              <a:rPr lang="en-US" b="true" sz="2000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O</a:t>
            </a:r>
            <a:r>
              <a:rPr lang="en-US" sz="2000" spc="-100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PPORTUNITIES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271132" y="7235366"/>
            <a:ext cx="4411324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중소기업 및 1인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사업자 시장 확대</a:t>
            </a:r>
          </a:p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업무 생산성 향상에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대한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관심 증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가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910915" y="6689583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615765" y="6753401"/>
            <a:ext cx="856350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위협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72115" y="6840562"/>
            <a:ext cx="2094600" cy="26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</a:pPr>
            <a:r>
              <a:rPr lang="en-US" b="true" sz="2000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T</a:t>
            </a:r>
            <a:r>
              <a:rPr lang="en-US" sz="2000" spc="-100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HREATS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615765" y="7235366"/>
            <a:ext cx="4411324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글로벌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AI 플랫폼과의 경쟁 심화</a:t>
            </a:r>
          </a:p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빠르게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변화하는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기술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시장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2566282" y="4746475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3271132" y="4810293"/>
            <a:ext cx="856350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강점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127482" y="4897454"/>
            <a:ext cx="2094600" cy="26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</a:pPr>
            <a:r>
              <a:rPr lang="en-US" b="true" sz="2000" spc="-10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</a:t>
            </a:r>
            <a:r>
              <a:rPr lang="en-US" sz="2000" spc="-100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TRENGTHS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271132" y="5292258"/>
            <a:ext cx="4411324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반복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업무 자동화를 통한 높은 업무 효율성</a:t>
            </a:r>
          </a:p>
          <a:p>
            <a:pPr algn="l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운영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비용 절감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가능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18144">
            <a:off x="7051311" y="801614"/>
            <a:ext cx="418462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0"/>
              </a:lnSpc>
            </a:pPr>
            <a:r>
              <a:rPr lang="en-US" b="true" sz="5000" spc="-25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성장 전략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508101"/>
            <a:ext cx="16580689" cy="6630853"/>
            <a:chOff x="0" y="0"/>
            <a:chExt cx="4366930" cy="17463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66930" cy="1746398"/>
            </a:xfrm>
            <a:custGeom>
              <a:avLst/>
              <a:gdLst/>
              <a:ahLst/>
              <a:cxnLst/>
              <a:rect r="r" b="b" t="t" l="l"/>
              <a:pathLst>
                <a:path h="1746398" w="4366930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59181" y="3096519"/>
            <a:ext cx="11169639" cy="73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AI</a:t>
            </a: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자동화를 기반으로 다양한 산업에 확장 가능한 업무 효율 플랫폼 구축을 목표로 하고 있습니다. </a:t>
            </a:r>
          </a:p>
          <a:p>
            <a:pPr algn="ctr" marL="0" indent="0" lvl="0">
              <a:lnSpc>
                <a:spcPts val="2926"/>
              </a:lnSpc>
            </a:pPr>
            <a:r>
              <a:rPr lang="en-US" sz="2004" spc="-100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이러한 플랫폼은 특히 중소기업과 1인 사업자에게 큰 도움이 될 것입니다.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076012" y="4444455"/>
            <a:ext cx="2585570" cy="3705225"/>
            <a:chOff x="0" y="0"/>
            <a:chExt cx="610115" cy="8743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0115" cy="874319"/>
            </a:xfrm>
            <a:custGeom>
              <a:avLst/>
              <a:gdLst/>
              <a:ahLst/>
              <a:cxnLst/>
              <a:rect r="r" b="b" t="t" l="l"/>
              <a:pathLst>
                <a:path h="874319" w="610115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144959" y="5001109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98170" y="6715080"/>
            <a:ext cx="1741254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시장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동향과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기회 요소를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파악합니다.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38861" y="5727409"/>
            <a:ext cx="1859872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시장 분석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051136" y="4444455"/>
            <a:ext cx="2585570" cy="3705225"/>
            <a:chOff x="0" y="0"/>
            <a:chExt cx="610115" cy="8743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0115" cy="874319"/>
            </a:xfrm>
            <a:custGeom>
              <a:avLst/>
              <a:gdLst/>
              <a:ahLst/>
              <a:cxnLst/>
              <a:rect r="r" b="b" t="t" l="l"/>
              <a:pathLst>
                <a:path h="874319" w="610115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120083" y="5001109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473294" y="6715080"/>
            <a:ext cx="1741254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단기·중장기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성장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목표를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수립합니다.</a:t>
            </a:r>
          </a:p>
          <a:p>
            <a:pPr algn="ctr" marL="0" indent="0" lvl="0">
              <a:lnSpc>
                <a:spcPts val="270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413985" y="5727409"/>
            <a:ext cx="1859872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목표 설정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026260" y="4444455"/>
            <a:ext cx="2585570" cy="3705225"/>
            <a:chOff x="0" y="0"/>
            <a:chExt cx="610115" cy="8743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0115" cy="874319"/>
            </a:xfrm>
            <a:custGeom>
              <a:avLst/>
              <a:gdLst/>
              <a:ahLst/>
              <a:cxnLst/>
              <a:rect r="r" b="b" t="t" l="l"/>
              <a:pathLst>
                <a:path h="874319" w="610115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9095207" y="5001109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448417" y="6715080"/>
            <a:ext cx="1741254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구체적인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성장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전략을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설계합니다.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89109" y="5727409"/>
            <a:ext cx="1859872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전략 수립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001383" y="4444455"/>
            <a:ext cx="2585570" cy="3705225"/>
            <a:chOff x="0" y="0"/>
            <a:chExt cx="610115" cy="87431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0115" cy="874319"/>
            </a:xfrm>
            <a:custGeom>
              <a:avLst/>
              <a:gdLst/>
              <a:ahLst/>
              <a:cxnLst/>
              <a:rect r="r" b="b" t="t" l="l"/>
              <a:pathLst>
                <a:path h="874319" w="610115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2070331" y="5001109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423541" y="6715080"/>
            <a:ext cx="1741254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전략을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실행하고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자원을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배분합니다.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364232" y="5727409"/>
            <a:ext cx="1859872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실행 및 투자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976507" y="4444455"/>
            <a:ext cx="2585570" cy="3705225"/>
            <a:chOff x="0" y="0"/>
            <a:chExt cx="610115" cy="8743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0115" cy="874319"/>
            </a:xfrm>
            <a:custGeom>
              <a:avLst/>
              <a:gdLst/>
              <a:ahLst/>
              <a:cxnLst/>
              <a:rect r="r" b="b" t="t" l="l"/>
              <a:pathLst>
                <a:path h="874319" w="610115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4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5045455" y="5001109"/>
            <a:ext cx="447675" cy="447675"/>
          </a:xfrm>
          <a:custGeom>
            <a:avLst/>
            <a:gdLst/>
            <a:ahLst/>
            <a:cxnLst/>
            <a:rect r="r" b="b" t="t" l="l"/>
            <a:pathLst>
              <a:path h="447675" w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4398665" y="6715080"/>
            <a:ext cx="1741254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성</a:t>
            </a: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과를 측정하고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전략을</a:t>
            </a:r>
          </a:p>
          <a:p>
            <a:pPr algn="ctr" marL="0" indent="0" lvl="0">
              <a:lnSpc>
                <a:spcPts val="2700"/>
              </a:lnSpc>
            </a:pPr>
            <a:r>
              <a:rPr lang="en-US" sz="1800" spc="-9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최적화합니다.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339356" y="5727409"/>
            <a:ext cx="1859872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b="true" sz="3000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성과 관리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397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53983" y="5057775"/>
            <a:ext cx="4380035" cy="46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50"/>
              </a:lnSpc>
            </a:pPr>
            <a:r>
              <a:rPr lang="en-US" sz="2500" spc="-125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비전을 현실로, 혁신을 가치로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73222" y="8933815"/>
            <a:ext cx="12341556" cy="32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0"/>
              </a:lnSpc>
            </a:pPr>
            <a:r>
              <a:rPr lang="en-US" b="true" sz="2000" spc="-100">
                <a:solidFill>
                  <a:srgbClr val="FCFCFC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서울특별시 다정구 상상로 77 크리에이티브타워 902호 주식회사 모노브릭랩 홍길동 귀하 0003</a:t>
            </a:r>
          </a:p>
        </p:txBody>
      </p:sp>
      <p:sp>
        <p:nvSpPr>
          <p:cNvPr name="AutoShape 4" id="4"/>
          <p:cNvSpPr/>
          <p:nvPr/>
        </p:nvSpPr>
        <p:spPr>
          <a:xfrm>
            <a:off x="1218210" y="8695690"/>
            <a:ext cx="15851580" cy="0"/>
          </a:xfrm>
          <a:prstGeom prst="line">
            <a:avLst/>
          </a:prstGeom>
          <a:ln cap="flat" w="19050">
            <a:solidFill>
              <a:srgbClr val="FDFDF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691188" y="3319462"/>
            <a:ext cx="6905625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spc="-499">
                <a:solidFill>
                  <a:srgbClr val="FDFDFB"/>
                </a:solidFill>
                <a:latin typeface="JASO Sans"/>
                <a:ea typeface="JASO Sans"/>
                <a:cs typeface="JASO Sans"/>
                <a:sym typeface="JASO Sans"/>
              </a:rPr>
              <a:t>감사합니다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28234" y="2324100"/>
            <a:ext cx="883153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FDFDFB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BUSINESS PLAN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59121" y="1437323"/>
            <a:ext cx="769758" cy="190500"/>
            <a:chOff x="0" y="0"/>
            <a:chExt cx="1026344" cy="254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54000" cy="254000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>
                  <a:alpha val="29804"/>
                </a:srgbClr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93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86172" y="0"/>
              <a:ext cx="254000" cy="254000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>
                  <a:alpha val="60000"/>
                </a:srgbClr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93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772344" y="0"/>
              <a:ext cx="254000" cy="254000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93"/>
                  </a:lnSpc>
                </a:p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DAHT7WgIghM</dc:identifier>
  <dcterms:modified xsi:type="dcterms:W3CDTF">2011-08-01T06:04:30Z</dcterms:modified>
  <cp:revision>1</cp:revision>
  <dc:title>파란색 흰색 미니멀리스트 비즈니스 회사 사업 소개 프레젠테이션</dc:title>
</cp:coreProperties>
</file>